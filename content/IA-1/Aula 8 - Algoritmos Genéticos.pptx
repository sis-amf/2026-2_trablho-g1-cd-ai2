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7556500" cx="10693400"/>
  <p:notesSz cx="10693400" cy="7556500"/>
  <p:embeddedFontLst>
    <p:embeddedFont>
      <p:font typeface="Montserrat"/>
      <p:regular r:id="rId34"/>
      <p:bold r:id="rId35"/>
      <p:italic r:id="rId36"/>
      <p:boldItalic r:id="rId37"/>
    </p:embeddedFont>
    <p:embeddedFont>
      <p:font typeface="Tahoma"/>
      <p:regular r:id="rId38"/>
      <p:bold r:id="rId39"/>
    </p:embeddedFont>
    <p:embeddedFont>
      <p:font typeface="Helvetica Neue"/>
      <p:regular r:id="rId40"/>
      <p:bold r:id="rId41"/>
      <p:italic r:id="rId42"/>
      <p:boldItalic r:id="rId43"/>
    </p:embeddedFont>
    <p:embeddedFont>
      <p:font typeface="Arial Black"/>
      <p:regular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hmEvY/9F1nA0ryy/SLeoJjhJQl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54D457-AFFB-42E9-B695-33D085F5DAB1}">
  <a:tblStyle styleId="{7754D457-AFFB-42E9-B695-33D085F5DAB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80D9462-CF25-44F8-AED0-B78DABE69B5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regular.fntdata"/><Relationship Id="rId20" Type="http://schemas.openxmlformats.org/officeDocument/2006/relationships/slide" Target="slides/slide14.xml"/><Relationship Id="rId42" Type="http://schemas.openxmlformats.org/officeDocument/2006/relationships/font" Target="fonts/HelveticaNeue-italic.fntdata"/><Relationship Id="rId41" Type="http://schemas.openxmlformats.org/officeDocument/2006/relationships/font" Target="fonts/HelveticaNeue-bold.fntdata"/><Relationship Id="rId22" Type="http://schemas.openxmlformats.org/officeDocument/2006/relationships/slide" Target="slides/slide16.xml"/><Relationship Id="rId44" Type="http://schemas.openxmlformats.org/officeDocument/2006/relationships/font" Target="fonts/ArialBlack-regular.fntdata"/><Relationship Id="rId21" Type="http://schemas.openxmlformats.org/officeDocument/2006/relationships/slide" Target="slides/slide15.xml"/><Relationship Id="rId43" Type="http://schemas.openxmlformats.org/officeDocument/2006/relationships/font" Target="fonts/HelveticaNeue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Montserrat-bold.fntdata"/><Relationship Id="rId12" Type="http://schemas.openxmlformats.org/officeDocument/2006/relationships/slide" Target="slides/slide6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39" Type="http://schemas.openxmlformats.org/officeDocument/2006/relationships/font" Target="fonts/Tahoma-bold.fntdata"/><Relationship Id="rId16" Type="http://schemas.openxmlformats.org/officeDocument/2006/relationships/slide" Target="slides/slide10.xml"/><Relationship Id="rId38" Type="http://schemas.openxmlformats.org/officeDocument/2006/relationships/font" Target="fonts/Tahoma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516be3daf_1_16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2d516be3daf_1_16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56461ee89_0_1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2d56461ee89_0_1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55ca98fbc_0_75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2d55ca98fbc_0_75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55ca98fbc_0_74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2d55ca98fbc_0_74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55ca98fbc_0_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2d55ca98fbc_0_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55ca98fbc_0_38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2d55ca98fbc_0_38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55ca98fbc_0_39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2d55ca98fbc_0_39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55ca98fbc_0_40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2d55ca98fbc_0_40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55ca98fbc_0_41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2d55ca98fbc_0_41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d55ca98fbc_0_70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2d55ca98fbc_0_70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d55ca98fbc_0_48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2d55ca98fbc_0_48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d55ca98fbc_0_49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2d55ca98fbc_0_49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55ca98fbc_0_50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2d55ca98fbc_0_50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55ca98fbc_0_50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2d55ca98fbc_0_50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55ca98fbc_0_69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2d55ca98fbc_0_69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d55ca98fbc_0_51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2d55ca98fbc_0_51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d55ca98fbc_0_53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2d55ca98fbc_0_53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d55ca98fbc_0_59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g2d55ca98fbc_0_59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f08fbadba_0_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5f08fbadba_0_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d55ca98fbc_0_65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g2d55ca98fbc_0_65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55ca98fbc_0_67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g2d55ca98fbc_0_67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d55ca98fbc_0_72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g2d55ca98fbc_0_72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5f08fbadba_0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5f08fbadba_0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d55ca98fbc_0_71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g2d55ca98fbc_0_71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d55ca98fbc_0_76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g2d55ca98fbc_0_76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d55ca98fbc_0_77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g2d55ca98fbc_0_77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534987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2" type="body"/>
          </p:nvPr>
        </p:nvSpPr>
        <p:spPr>
          <a:xfrm>
            <a:off x="5510371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0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f174543b14_2_1013"/>
          <p:cNvSpPr txBox="1"/>
          <p:nvPr>
            <p:ph type="title"/>
          </p:nvPr>
        </p:nvSpPr>
        <p:spPr>
          <a:xfrm>
            <a:off x="364516" y="653802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g2f174543b14_2_1013"/>
          <p:cNvSpPr txBox="1"/>
          <p:nvPr>
            <p:ph idx="1" type="body"/>
          </p:nvPr>
        </p:nvSpPr>
        <p:spPr>
          <a:xfrm>
            <a:off x="364516" y="1693142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4" name="Google Shape;34;g2f174543b14_2_1013"/>
          <p:cNvSpPr txBox="1"/>
          <p:nvPr>
            <p:ph idx="12" type="sldNum"/>
          </p:nvPr>
        </p:nvSpPr>
        <p:spPr>
          <a:xfrm>
            <a:off x="9908069" y="6850899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f5594a4f43_0_680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f5594a4f43_0_680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2f5594a4f43_0_680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2f5594a4f43_0_680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2f5594a4f43_0_680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2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204fabc35a_0_2184"/>
          <p:cNvSpPr txBox="1"/>
          <p:nvPr>
            <p:ph type="title"/>
          </p:nvPr>
        </p:nvSpPr>
        <p:spPr>
          <a:xfrm>
            <a:off x="798410" y="547565"/>
            <a:ext cx="9096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204fabc35a_0_2184"/>
          <p:cNvSpPr txBox="1"/>
          <p:nvPr>
            <p:ph idx="1" type="body"/>
          </p:nvPr>
        </p:nvSpPr>
        <p:spPr>
          <a:xfrm>
            <a:off x="625266" y="1660882"/>
            <a:ext cx="9443100" cy="4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2204fabc35a_0_2184"/>
          <p:cNvSpPr txBox="1"/>
          <p:nvPr>
            <p:ph idx="11" type="ftr"/>
          </p:nvPr>
        </p:nvSpPr>
        <p:spPr>
          <a:xfrm>
            <a:off x="3635756" y="7027545"/>
            <a:ext cx="3422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204fabc35a_0_2184"/>
          <p:cNvSpPr txBox="1"/>
          <p:nvPr>
            <p:ph idx="10" type="dt"/>
          </p:nvPr>
        </p:nvSpPr>
        <p:spPr>
          <a:xfrm>
            <a:off x="534670" y="7027545"/>
            <a:ext cx="2459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204fabc35a_0_2184"/>
          <p:cNvSpPr txBox="1"/>
          <p:nvPr>
            <p:ph idx="12" type="sldNum"/>
          </p:nvPr>
        </p:nvSpPr>
        <p:spPr>
          <a:xfrm>
            <a:off x="7699248" y="7027545"/>
            <a:ext cx="245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8"/>
          <p:cNvSpPr/>
          <p:nvPr/>
        </p:nvSpPr>
        <p:spPr>
          <a:xfrm>
            <a:off x="0" y="0"/>
            <a:ext cx="10693400" cy="403225"/>
          </a:xfrm>
          <a:custGeom>
            <a:rect b="b" l="l" r="r" t="t"/>
            <a:pathLst>
              <a:path extrusionOk="0" h="403225" w="10693400">
                <a:moveTo>
                  <a:pt x="10693400" y="0"/>
                </a:moveTo>
                <a:lnTo>
                  <a:pt x="0" y="0"/>
                </a:lnTo>
                <a:lnTo>
                  <a:pt x="0" y="403009"/>
                </a:lnTo>
                <a:lnTo>
                  <a:pt x="10693400" y="403009"/>
                </a:lnTo>
                <a:lnTo>
                  <a:pt x="10693400" y="0"/>
                </a:lnTo>
                <a:close/>
              </a:path>
            </a:pathLst>
          </a:custGeom>
          <a:solidFill>
            <a:srgbClr val="92A1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8"/>
          <p:cNvSpPr/>
          <p:nvPr/>
        </p:nvSpPr>
        <p:spPr>
          <a:xfrm>
            <a:off x="802005" y="3744722"/>
            <a:ext cx="9178925" cy="1905"/>
          </a:xfrm>
          <a:custGeom>
            <a:rect b="b" l="l" r="r" t="t"/>
            <a:pathLst>
              <a:path extrusionOk="0" h="1904" w="9178925">
                <a:moveTo>
                  <a:pt x="0" y="0"/>
                </a:moveTo>
                <a:lnTo>
                  <a:pt x="9178544" y="1650"/>
                </a:lnTo>
              </a:path>
            </a:pathLst>
          </a:custGeom>
          <a:noFill/>
          <a:ln cap="flat" cmpd="sng" w="1905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8"/>
          <p:cNvSpPr txBox="1"/>
          <p:nvPr>
            <p:ph type="ctrTitle"/>
          </p:nvPr>
        </p:nvSpPr>
        <p:spPr>
          <a:xfrm>
            <a:off x="893775" y="2602814"/>
            <a:ext cx="8912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subTitle"/>
          </p:nvPr>
        </p:nvSpPr>
        <p:spPr>
          <a:xfrm>
            <a:off x="1604962" y="4231640"/>
            <a:ext cx="74898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8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5594a4f43_0_312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2f5594a4f43_0_312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2f5594a4f43_0_312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2f5594a4f43_0_312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2f5594a4f43_0_312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OBJECT_4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55ca98fbc_0_75"/>
          <p:cNvSpPr txBox="1"/>
          <p:nvPr>
            <p:ph type="title"/>
          </p:nvPr>
        </p:nvSpPr>
        <p:spPr>
          <a:xfrm>
            <a:off x="-157" y="1865121"/>
            <a:ext cx="10693800" cy="27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2d55ca98fbc_0_75"/>
          <p:cNvSpPr txBox="1"/>
          <p:nvPr>
            <p:ph idx="1" type="body"/>
          </p:nvPr>
        </p:nvSpPr>
        <p:spPr>
          <a:xfrm>
            <a:off x="1053254" y="2144521"/>
            <a:ext cx="9055800" cy="4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2d55ca98fbc_0_75"/>
          <p:cNvSpPr txBox="1"/>
          <p:nvPr>
            <p:ph idx="11" type="ftr"/>
          </p:nvPr>
        </p:nvSpPr>
        <p:spPr>
          <a:xfrm>
            <a:off x="3635756" y="7027545"/>
            <a:ext cx="3422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2d55ca98fbc_0_75"/>
          <p:cNvSpPr txBox="1"/>
          <p:nvPr>
            <p:ph idx="10" type="dt"/>
          </p:nvPr>
        </p:nvSpPr>
        <p:spPr>
          <a:xfrm>
            <a:off x="534670" y="7027545"/>
            <a:ext cx="2459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2d55ca98fbc_0_75"/>
          <p:cNvSpPr txBox="1"/>
          <p:nvPr>
            <p:ph idx="12" type="sldNum"/>
          </p:nvPr>
        </p:nvSpPr>
        <p:spPr>
          <a:xfrm>
            <a:off x="9948632" y="7183500"/>
            <a:ext cx="334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5">
  <p:cSld name="OBJECT_5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55ca98fbc_0_379"/>
          <p:cNvSpPr txBox="1"/>
          <p:nvPr>
            <p:ph type="title"/>
          </p:nvPr>
        </p:nvSpPr>
        <p:spPr>
          <a:xfrm>
            <a:off x="-157" y="1865121"/>
            <a:ext cx="10693800" cy="27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d55ca98fbc_0_379"/>
          <p:cNvSpPr txBox="1"/>
          <p:nvPr>
            <p:ph idx="1" type="body"/>
          </p:nvPr>
        </p:nvSpPr>
        <p:spPr>
          <a:xfrm>
            <a:off x="1053254" y="2144521"/>
            <a:ext cx="9055800" cy="4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2d55ca98fbc_0_379"/>
          <p:cNvSpPr txBox="1"/>
          <p:nvPr>
            <p:ph idx="11" type="ftr"/>
          </p:nvPr>
        </p:nvSpPr>
        <p:spPr>
          <a:xfrm>
            <a:off x="3635756" y="7027545"/>
            <a:ext cx="3422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2d55ca98fbc_0_379"/>
          <p:cNvSpPr txBox="1"/>
          <p:nvPr>
            <p:ph idx="10" type="dt"/>
          </p:nvPr>
        </p:nvSpPr>
        <p:spPr>
          <a:xfrm>
            <a:off x="534670" y="7027545"/>
            <a:ext cx="2459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2d55ca98fbc_0_379"/>
          <p:cNvSpPr txBox="1"/>
          <p:nvPr>
            <p:ph idx="12" type="sldNum"/>
          </p:nvPr>
        </p:nvSpPr>
        <p:spPr>
          <a:xfrm>
            <a:off x="9948632" y="7183500"/>
            <a:ext cx="334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9.png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47"/>
          <p:cNvGrpSpPr/>
          <p:nvPr/>
        </p:nvGrpSpPr>
        <p:grpSpPr>
          <a:xfrm>
            <a:off x="-50" y="-163100"/>
            <a:ext cx="10736274" cy="837200"/>
            <a:chOff x="-50" y="-152609"/>
            <a:chExt cx="10693500" cy="837200"/>
          </a:xfrm>
        </p:grpSpPr>
        <p:pic>
          <p:nvPicPr>
            <p:cNvPr id="7" name="Google Shape;7;p47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50" y="-152609"/>
              <a:ext cx="1506924" cy="8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47"/>
            <p:cNvSpPr/>
            <p:nvPr/>
          </p:nvSpPr>
          <p:spPr>
            <a:xfrm>
              <a:off x="-50" y="0"/>
              <a:ext cx="10693500" cy="543000"/>
            </a:xfrm>
            <a:prstGeom prst="rect">
              <a:avLst/>
            </a:prstGeom>
            <a:solidFill>
              <a:srgbClr val="0E71BA"/>
            </a:solidFill>
            <a:ln cap="flat" cmpd="sng" w="9525">
              <a:solidFill>
                <a:srgbClr val="0E71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9;p47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50" y="-139350"/>
            <a:ext cx="1429351" cy="7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400"/>
          </a:p>
        </p:txBody>
      </p:sp>
      <p:sp>
        <p:nvSpPr>
          <p:cNvPr id="15" name="Google Shape;15;p47"/>
          <p:cNvSpPr txBox="1"/>
          <p:nvPr/>
        </p:nvSpPr>
        <p:spPr>
          <a:xfrm>
            <a:off x="2628039" y="74888"/>
            <a:ext cx="52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Inteligência Artificial I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" name="Google Shape;16;p47"/>
          <p:cNvPicPr preferRelativeResize="0"/>
          <p:nvPr/>
        </p:nvPicPr>
        <p:blipFill rotWithShape="1">
          <a:blip r:embed="rId2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850" y="29376"/>
            <a:ext cx="742650" cy="491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hauani.fazul@amf.edu.b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hub.com/DEAP/deap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/>
          <p:nvPr/>
        </p:nvSpPr>
        <p:spPr>
          <a:xfrm>
            <a:off x="893778" y="2947651"/>
            <a:ext cx="91839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pt-BR" sz="41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Aula 8 - Algoritmos Genéticos</a:t>
            </a:r>
            <a:endParaRPr b="0" i="0" sz="41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893775" y="3893312"/>
            <a:ext cx="2273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5656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Rhauani Fazul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8" name="Google Shape;88;p2"/>
          <p:cNvCxnSpPr/>
          <p:nvPr/>
        </p:nvCxnSpPr>
        <p:spPr>
          <a:xfrm>
            <a:off x="803450" y="3742670"/>
            <a:ext cx="9183900" cy="0"/>
          </a:xfrm>
          <a:prstGeom prst="straightConnector1">
            <a:avLst/>
          </a:prstGeom>
          <a:noFill/>
          <a:ln cap="flat" cmpd="sng" w="28575">
            <a:solidFill>
              <a:srgbClr val="0E71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816216" y="4247302"/>
            <a:ext cx="246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rhauani.fazul@amf.edu.br</a:t>
            </a:r>
            <a:r>
              <a:rPr b="0" i="0" lang="pt-BR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812850" y="147545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Inteligência Artificial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812850" y="126270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Informação | AMF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812850" y="1716182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19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junho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202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2d516be3daf_1_16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d516be3daf_1_16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0" name="Google Shape;100;g2d516be3daf_1_16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1" name="Google Shape;101;g2d516be3daf_1_1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700" y="1888470"/>
            <a:ext cx="80962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2d56461ee89_0_1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d56461ee89_0_1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8" name="Google Shape;108;g2d56461ee89_0_11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g2d56461ee89_0_11"/>
          <p:cNvSpPr txBox="1"/>
          <p:nvPr/>
        </p:nvSpPr>
        <p:spPr>
          <a:xfrm>
            <a:off x="521575" y="1724650"/>
            <a:ext cx="9322500" cy="3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Genetic algorithms</a:t>
            </a: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1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(GA) </a:t>
            </a: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search algorithms that mimic the process of natural evolution, where each individual is a candidate solution: individuals are generally "raw data" (in whatever encoding format has been defined).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2d55ca98fbc_0_75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2d55ca98fbc_0_75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6" name="Google Shape;116;g2d55ca98fbc_0_75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g2d55ca98fbc_0_758"/>
          <p:cNvSpPr txBox="1"/>
          <p:nvPr/>
        </p:nvSpPr>
        <p:spPr>
          <a:xfrm>
            <a:off x="477625" y="1519650"/>
            <a:ext cx="9322500" cy="3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Genetic programming (GP)</a:t>
            </a: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considered a special case of GA, where each individual is a computer program (not just "raw data"). GP explore the algorithmic search space and evolve computer programs to perform a defined task.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d55ca98fbc_0_749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Algoritmos Genéticos (AGs) 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23" name="Google Shape;123;g2d55ca98fbc_0_74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d55ca98fbc_0_7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5" name="Google Shape;125;g2d55ca98fbc_0_74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g2d55ca98fbc_0_749"/>
          <p:cNvSpPr txBox="1"/>
          <p:nvPr/>
        </p:nvSpPr>
        <p:spPr>
          <a:xfrm>
            <a:off x="770525" y="1724675"/>
            <a:ext cx="9322500" cy="58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Algoritmos heurísticos de </a:t>
            </a:r>
            <a:r>
              <a:rPr b="1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busca</a:t>
            </a: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que utilizam regras baseadas em uma metáfora do </a:t>
            </a:r>
            <a:r>
              <a:rPr b="1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processo evolutivo </a:t>
            </a: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proposto por Darwin, operando sobre um espaço de soluções codificado.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Auto-organização e comportamento adaptativo.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Surgimento na década de 70.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55ca98fbc_0_2"/>
          <p:cNvSpPr txBox="1"/>
          <p:nvPr>
            <p:ph type="title"/>
          </p:nvPr>
        </p:nvSpPr>
        <p:spPr>
          <a:xfrm>
            <a:off x="511575" y="691175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Algoritmos Genéticos (AGs) 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32" name="Google Shape;132;g2d55ca98fbc_0_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2d55ca98fbc_0_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" name="Google Shape;134;g2d55ca98fbc_0_2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g2d55ca98fbc_0_2"/>
          <p:cNvSpPr txBox="1"/>
          <p:nvPr/>
        </p:nvSpPr>
        <p:spPr>
          <a:xfrm>
            <a:off x="770525" y="1724675"/>
            <a:ext cx="9322500" cy="3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Simulam o mecanismo evolucionário dos sistemas biológicos naturais, onde os indivíduos mais adaptados têm maior probabilidade de  sobreviver e se reproduzir, gerando descendentes.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55ca98fbc_0_385"/>
          <p:cNvSpPr txBox="1"/>
          <p:nvPr>
            <p:ph type="title"/>
          </p:nvPr>
        </p:nvSpPr>
        <p:spPr>
          <a:xfrm>
            <a:off x="511575" y="691175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Características AGs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41" name="Google Shape;141;g2d55ca98fbc_0_38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2d55ca98fbc_0_38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3" name="Google Shape;143;g2d55ca98fbc_0_385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g2d55ca98fbc_0_385"/>
          <p:cNvSpPr txBox="1"/>
          <p:nvPr/>
        </p:nvSpPr>
        <p:spPr>
          <a:xfrm>
            <a:off x="673750" y="1842175"/>
            <a:ext cx="9345900" cy="5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Operam em um conjunto de pontos, denominado </a:t>
            </a: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população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 não a partir de pontos isolados.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Trabalham com soluções codificadas (</a:t>
            </a: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cromossomos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e não com os próprios parâmetros. Nos cromossomos não está representada informação alguma sobre o problema a resolver.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Possuem como informação, acerca do problema que resolvem, apenas o valor da </a:t>
            </a: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aptidão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(fitness) estimado pela </a:t>
            </a: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função de avaliação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Usam</a:t>
            </a:r>
            <a:r>
              <a:rPr b="1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transições probabilísticas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não determinísticas.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55ca98fbc_0_396"/>
          <p:cNvSpPr txBox="1"/>
          <p:nvPr>
            <p:ph type="title"/>
          </p:nvPr>
        </p:nvSpPr>
        <p:spPr>
          <a:xfrm>
            <a:off x="511575" y="691175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AG clássico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50" name="Google Shape;150;g2d55ca98fbc_0_39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2d55ca98fbc_0_39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2" name="Google Shape;152;g2d55ca98fbc_0_396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2d55ca98fbc_0_396"/>
          <p:cNvSpPr txBox="1"/>
          <p:nvPr/>
        </p:nvSpPr>
        <p:spPr>
          <a:xfrm>
            <a:off x="673750" y="1842175"/>
            <a:ext cx="9345900" cy="6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Inicia com um conjunto de soluções aleatórias codificadas  em cadeias de dígitos binários (</a:t>
            </a: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cromossomos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formando uma </a:t>
            </a: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população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indivíduo da população tem o nome de  cromossomo e representa uma solução candidata  para o problema.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avaliação de cada indivíduo determina sua aptidão (</a:t>
            </a: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fitness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Indivíduos mais aptos têm maior probabilidade de sobreviver e gerar filhos.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cromossomos evoluem através de iterações sucessivas chamadas de </a:t>
            </a: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gerações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55ca98fbc_0_408"/>
          <p:cNvSpPr txBox="1"/>
          <p:nvPr>
            <p:ph type="title"/>
          </p:nvPr>
        </p:nvSpPr>
        <p:spPr>
          <a:xfrm>
            <a:off x="511575" y="691175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AG clássico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59" name="Google Shape;159;g2d55ca98fbc_0_40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2d55ca98fbc_0_40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1" name="Google Shape;161;g2d55ca98fbc_0_40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g2d55ca98fbc_0_408"/>
          <p:cNvSpPr txBox="1"/>
          <p:nvPr/>
        </p:nvSpPr>
        <p:spPr>
          <a:xfrm>
            <a:off x="673750" y="1842175"/>
            <a:ext cx="9345900" cy="6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Após </a:t>
            </a: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várias gerações 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AG pode produzir soluções aceitáveis para o problema.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elemento de ligação entre o AG e o problema a  ser resolvido é a </a:t>
            </a: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função de aptidão: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Toma como entrada um cromossomo e retorna número(s), ou uma lista de números, que representa(m) a medida de performance do cromossomo com relação ao problema a ser  resolvido.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bom desempenho de um AG está condicionado à qualidade da avaliação da aptidão dos indivíduos.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55ca98fbc_0_419"/>
          <p:cNvSpPr txBox="1"/>
          <p:nvPr>
            <p:ph type="title"/>
          </p:nvPr>
        </p:nvSpPr>
        <p:spPr>
          <a:xfrm>
            <a:off x="511575" y="691175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AG clássico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68" name="Google Shape;168;g2d55ca98fbc_0_41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2d55ca98fbc_0_41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0" name="Google Shape;170;g2d55ca98fbc_0_41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1" name="Google Shape;171;g2d55ca98fbc_0_419"/>
          <p:cNvGrpSpPr/>
          <p:nvPr/>
        </p:nvGrpSpPr>
        <p:grpSpPr>
          <a:xfrm>
            <a:off x="1614416" y="1573097"/>
            <a:ext cx="7887730" cy="5864604"/>
            <a:chOff x="1207007" y="1097280"/>
            <a:chExt cx="6370320" cy="5026660"/>
          </a:xfrm>
        </p:grpSpPr>
        <p:pic>
          <p:nvPicPr>
            <p:cNvPr id="172" name="Google Shape;172;g2d55ca98fbc_0_4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5296" y="1115568"/>
              <a:ext cx="6335266" cy="498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g2d55ca98fbc_0_419"/>
            <p:cNvSpPr/>
            <p:nvPr/>
          </p:nvSpPr>
          <p:spPr>
            <a:xfrm>
              <a:off x="1207007" y="1097280"/>
              <a:ext cx="6370320" cy="5026660"/>
            </a:xfrm>
            <a:custGeom>
              <a:rect b="b" l="l" r="r" t="t"/>
              <a:pathLst>
                <a:path extrusionOk="0" h="5026660" w="6370320">
                  <a:moveTo>
                    <a:pt x="0" y="0"/>
                  </a:moveTo>
                  <a:lnTo>
                    <a:pt x="0" y="5026151"/>
                  </a:lnTo>
                  <a:lnTo>
                    <a:pt x="6370319" y="5026151"/>
                  </a:lnTo>
                  <a:lnTo>
                    <a:pt x="637031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5975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55ca98fbc_0_707"/>
          <p:cNvSpPr txBox="1"/>
          <p:nvPr>
            <p:ph type="title"/>
          </p:nvPr>
        </p:nvSpPr>
        <p:spPr>
          <a:xfrm>
            <a:off x="511575" y="691175"/>
            <a:ext cx="101808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AG clássico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79" name="Google Shape;179;g2d55ca98fbc_0_70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2d55ca98fbc_0_70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1" name="Google Shape;181;g2d55ca98fbc_0_70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2" name="Google Shape;182;g2d55ca98fbc_0_7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700" y="2119475"/>
            <a:ext cx="9931799" cy="38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55ca98fbc_0_481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Operadores genéticos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88" name="Google Shape;188;g2d55ca98fbc_0_48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2d55ca98fbc_0_48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0" name="Google Shape;190;g2d55ca98fbc_0_481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g2d55ca98fbc_0_481"/>
          <p:cNvSpPr txBox="1"/>
          <p:nvPr/>
        </p:nvSpPr>
        <p:spPr>
          <a:xfrm>
            <a:off x="673750" y="1842175"/>
            <a:ext cx="93459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Seleção: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escolher os indivíduos da população para  reprodução. O método mais usado é a roleta, pois prioriza a seleção dos indivíduos mais aptos.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2" name="Google Shape;192;g2d55ca98fbc_0_481"/>
          <p:cNvPicPr preferRelativeResize="0"/>
          <p:nvPr/>
        </p:nvPicPr>
        <p:blipFill rotWithShape="1">
          <a:blip r:embed="rId4">
            <a:alphaModFix/>
          </a:blip>
          <a:srcRect b="60839" l="55646" r="0" t="8820"/>
          <a:stretch/>
        </p:blipFill>
        <p:spPr>
          <a:xfrm>
            <a:off x="3518075" y="4340599"/>
            <a:ext cx="3788951" cy="180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55ca98fbc_0_491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Operadores genéticos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98" name="Google Shape;198;g2d55ca98fbc_0_49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2d55ca98fbc_0_49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0" name="Google Shape;200;g2d55ca98fbc_0_491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g2d55ca98fbc_0_491"/>
          <p:cNvSpPr txBox="1"/>
          <p:nvPr/>
        </p:nvSpPr>
        <p:spPr>
          <a:xfrm>
            <a:off x="673750" y="1842175"/>
            <a:ext cx="93459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Cruzamento (crossover): 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combinar as características de dois pais selecionados na população. Realiza a busca  nas imediações (explotação).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2" name="Google Shape;202;g2d55ca98fbc_0_491"/>
          <p:cNvPicPr preferRelativeResize="0"/>
          <p:nvPr/>
        </p:nvPicPr>
        <p:blipFill rotWithShape="1">
          <a:blip r:embed="rId4">
            <a:alphaModFix/>
          </a:blip>
          <a:srcRect b="7672" l="62497" r="3187" t="61565"/>
          <a:stretch/>
        </p:blipFill>
        <p:spPr>
          <a:xfrm>
            <a:off x="3337175" y="4228526"/>
            <a:ext cx="4019049" cy="250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d55ca98fbc_0_500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Operadores genéticos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08" name="Google Shape;208;g2d55ca98fbc_0_50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2d55ca98fbc_0_50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0" name="Google Shape;210;g2d55ca98fbc_0_50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g2d55ca98fbc_0_500"/>
          <p:cNvSpPr txBox="1"/>
          <p:nvPr/>
        </p:nvSpPr>
        <p:spPr>
          <a:xfrm>
            <a:off x="673750" y="1842175"/>
            <a:ext cx="93459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Mutação: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inserir modificações aleatórias nos indivíduos. Contribui na exploração do espaço de  busca, na tentativa de evitar ótimos locais.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2" name="Google Shape;212;g2d55ca98fbc_0_500"/>
          <p:cNvPicPr preferRelativeResize="0"/>
          <p:nvPr/>
        </p:nvPicPr>
        <p:blipFill rotWithShape="1">
          <a:blip r:embed="rId4">
            <a:alphaModFix/>
          </a:blip>
          <a:srcRect b="0" l="0" r="0" t="44030"/>
          <a:stretch/>
        </p:blipFill>
        <p:spPr>
          <a:xfrm>
            <a:off x="2726325" y="5033400"/>
            <a:ext cx="6031500" cy="169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2d55ca98fbc_0_500"/>
          <p:cNvPicPr preferRelativeResize="0"/>
          <p:nvPr/>
        </p:nvPicPr>
        <p:blipFill rotWithShape="1">
          <a:blip r:embed="rId5">
            <a:alphaModFix/>
          </a:blip>
          <a:srcRect b="12191" l="4151" r="63466" t="61564"/>
          <a:stretch/>
        </p:blipFill>
        <p:spPr>
          <a:xfrm>
            <a:off x="1277001" y="4572000"/>
            <a:ext cx="3792900" cy="213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d55ca98fbc_0_509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Operadores genéticos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19" name="Google Shape;219;g2d55ca98fbc_0_50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2d55ca98fbc_0_50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1" name="Google Shape;221;g2d55ca98fbc_0_50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g2d55ca98fbc_0_509"/>
          <p:cNvSpPr txBox="1"/>
          <p:nvPr/>
        </p:nvSpPr>
        <p:spPr>
          <a:xfrm>
            <a:off x="673750" y="1842175"/>
            <a:ext cx="93459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Elitismo (evaluation): 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preservar o(s) melhor(es) indivíduo(s) da  população, evitando sua perda nos processos evolutivos. Acelera a convergência do AG.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3" name="Google Shape;223;g2d55ca98fbc_0_509"/>
          <p:cNvPicPr preferRelativeResize="0"/>
          <p:nvPr/>
        </p:nvPicPr>
        <p:blipFill rotWithShape="1">
          <a:blip r:embed="rId4">
            <a:alphaModFix/>
          </a:blip>
          <a:srcRect b="65422" l="1897" r="64093" t="8672"/>
          <a:stretch/>
        </p:blipFill>
        <p:spPr>
          <a:xfrm>
            <a:off x="2973125" y="3950875"/>
            <a:ext cx="3983250" cy="210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d55ca98fbc_0_697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Operadores genéticos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29" name="Google Shape;229;g2d55ca98fbc_0_69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2d55ca98fbc_0_69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1" name="Google Shape;231;g2d55ca98fbc_0_69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2" name="Google Shape;232;g2d55ca98fbc_0_697"/>
          <p:cNvPicPr preferRelativeResize="0"/>
          <p:nvPr/>
        </p:nvPicPr>
        <p:blipFill rotWithShape="1">
          <a:blip r:embed="rId4">
            <a:alphaModFix/>
          </a:blip>
          <a:srcRect b="0" l="4141" r="-2741" t="-1183"/>
          <a:stretch/>
        </p:blipFill>
        <p:spPr>
          <a:xfrm>
            <a:off x="1348775" y="1748550"/>
            <a:ext cx="7720950" cy="550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d55ca98fbc_0_519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Parâmetros Genéticos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38" name="Google Shape;238;g2d55ca98fbc_0_51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2d55ca98fbc_0_51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0" name="Google Shape;240;g2d55ca98fbc_0_51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g2d55ca98fbc_0_519"/>
          <p:cNvSpPr txBox="1"/>
          <p:nvPr/>
        </p:nvSpPr>
        <p:spPr>
          <a:xfrm>
            <a:off x="673750" y="1622525"/>
            <a:ext cx="9345900" cy="90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Tamanho da população: 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 garantir uma boa cobertura do espaço de busca.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Taxa de cruzamento: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entre 60% e 80% dos pais selecionados devem se recombinar.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Taxa de mutação: 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entre 0,5% e 5%. Taxas maiores  tornam o processo em uma busca aleatória.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Tamanho da elite: 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número de melhores indivíduos a serem preservados. Um a cada 50 indivíduos.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Intervalo de geração:</a:t>
            </a: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número de indivíduos que  serão substituídos a cada geração.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55ca98fbc_0_533"/>
          <p:cNvSpPr txBox="1"/>
          <p:nvPr>
            <p:ph type="title"/>
          </p:nvPr>
        </p:nvSpPr>
        <p:spPr>
          <a:xfrm>
            <a:off x="511575" y="69117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Exemplo AG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47" name="Google Shape;247;g2d55ca98fbc_0_53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2d55ca98fbc_0_53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9" name="Google Shape;249;g2d55ca98fbc_0_533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50" name="Google Shape;250;g2d55ca98fbc_0_533"/>
          <p:cNvGraphicFramePr/>
          <p:nvPr/>
        </p:nvGraphicFramePr>
        <p:xfrm>
          <a:off x="928707" y="3173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{7754D457-AFFB-42E9-B695-33D085F5DAB1}</a:tableStyleId>
              </a:tblPr>
              <a:tblGrid>
                <a:gridCol w="713150"/>
                <a:gridCol w="3387275"/>
                <a:gridCol w="1070125"/>
              </a:tblGrid>
              <a:tr h="40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Ind.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População inicial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Fitness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11001000101000100100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00011000101010000010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11001010101010100101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00001000101000000100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11001110101011101101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10101000101001110110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10111010111000100101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8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11000000000000000001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51" name="Google Shape;251;g2d55ca98fbc_0_533"/>
          <p:cNvGrpSpPr/>
          <p:nvPr/>
        </p:nvGrpSpPr>
        <p:grpSpPr>
          <a:xfrm>
            <a:off x="6744197" y="3152483"/>
            <a:ext cx="3151318" cy="2969345"/>
            <a:chOff x="5446775" y="2702051"/>
            <a:chExt cx="2545080" cy="2545080"/>
          </a:xfrm>
        </p:grpSpPr>
        <p:sp>
          <p:nvSpPr>
            <p:cNvPr id="252" name="Google Shape;252;g2d55ca98fbc_0_533"/>
            <p:cNvSpPr/>
            <p:nvPr/>
          </p:nvSpPr>
          <p:spPr>
            <a:xfrm>
              <a:off x="6719315" y="2702051"/>
              <a:ext cx="798829" cy="1272539"/>
            </a:xfrm>
            <a:custGeom>
              <a:rect b="b" l="l" r="r" t="t"/>
              <a:pathLst>
                <a:path extrusionOk="0" h="1272539" w="798829">
                  <a:moveTo>
                    <a:pt x="798575" y="280415"/>
                  </a:moveTo>
                  <a:lnTo>
                    <a:pt x="783335" y="265175"/>
                  </a:lnTo>
                  <a:lnTo>
                    <a:pt x="761999" y="251459"/>
                  </a:lnTo>
                  <a:lnTo>
                    <a:pt x="748283" y="243839"/>
                  </a:lnTo>
                  <a:lnTo>
                    <a:pt x="726947" y="230123"/>
                  </a:lnTo>
                  <a:lnTo>
                    <a:pt x="711707" y="214883"/>
                  </a:lnTo>
                  <a:lnTo>
                    <a:pt x="690371" y="201167"/>
                  </a:lnTo>
                  <a:lnTo>
                    <a:pt x="676655" y="193547"/>
                  </a:lnTo>
                  <a:lnTo>
                    <a:pt x="655319" y="179831"/>
                  </a:lnTo>
                  <a:lnTo>
                    <a:pt x="632459" y="164591"/>
                  </a:lnTo>
                  <a:lnTo>
                    <a:pt x="618743" y="158495"/>
                  </a:lnTo>
                  <a:lnTo>
                    <a:pt x="597407" y="143255"/>
                  </a:lnTo>
                  <a:lnTo>
                    <a:pt x="576071" y="137159"/>
                  </a:lnTo>
                  <a:lnTo>
                    <a:pt x="554735" y="129539"/>
                  </a:lnTo>
                  <a:lnTo>
                    <a:pt x="539495" y="114299"/>
                  </a:lnTo>
                  <a:lnTo>
                    <a:pt x="518159" y="108203"/>
                  </a:lnTo>
                  <a:lnTo>
                    <a:pt x="475487" y="92963"/>
                  </a:lnTo>
                  <a:lnTo>
                    <a:pt x="452627" y="86867"/>
                  </a:lnTo>
                  <a:lnTo>
                    <a:pt x="431291" y="71627"/>
                  </a:lnTo>
                  <a:lnTo>
                    <a:pt x="409955" y="64007"/>
                  </a:lnTo>
                  <a:lnTo>
                    <a:pt x="388619" y="57911"/>
                  </a:lnTo>
                  <a:lnTo>
                    <a:pt x="367283" y="50291"/>
                  </a:lnTo>
                  <a:lnTo>
                    <a:pt x="352043" y="50291"/>
                  </a:lnTo>
                  <a:lnTo>
                    <a:pt x="330707" y="42671"/>
                  </a:lnTo>
                  <a:lnTo>
                    <a:pt x="309371" y="36575"/>
                  </a:lnTo>
                  <a:lnTo>
                    <a:pt x="288035" y="28955"/>
                  </a:lnTo>
                  <a:lnTo>
                    <a:pt x="266699" y="28955"/>
                  </a:lnTo>
                  <a:lnTo>
                    <a:pt x="245363" y="21335"/>
                  </a:lnTo>
                  <a:lnTo>
                    <a:pt x="216407" y="13715"/>
                  </a:lnTo>
                  <a:lnTo>
                    <a:pt x="195071" y="13715"/>
                  </a:lnTo>
                  <a:lnTo>
                    <a:pt x="172211" y="7619"/>
                  </a:lnTo>
                  <a:lnTo>
                    <a:pt x="129539" y="7619"/>
                  </a:lnTo>
                  <a:lnTo>
                    <a:pt x="108203" y="0"/>
                  </a:lnTo>
                  <a:lnTo>
                    <a:pt x="0" y="0"/>
                  </a:lnTo>
                  <a:lnTo>
                    <a:pt x="0" y="1272539"/>
                  </a:lnTo>
                  <a:lnTo>
                    <a:pt x="798575" y="280415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g2d55ca98fbc_0_533"/>
            <p:cNvSpPr/>
            <p:nvPr/>
          </p:nvSpPr>
          <p:spPr>
            <a:xfrm>
              <a:off x="6719315" y="2702051"/>
              <a:ext cx="798829" cy="1272539"/>
            </a:xfrm>
            <a:custGeom>
              <a:rect b="b" l="l" r="r" t="t"/>
              <a:pathLst>
                <a:path extrusionOk="0" h="1272539" w="798829">
                  <a:moveTo>
                    <a:pt x="0" y="0"/>
                  </a:moveTo>
                  <a:lnTo>
                    <a:pt x="108203" y="0"/>
                  </a:lnTo>
                  <a:lnTo>
                    <a:pt x="129539" y="7619"/>
                  </a:lnTo>
                  <a:lnTo>
                    <a:pt x="172211" y="7619"/>
                  </a:lnTo>
                  <a:lnTo>
                    <a:pt x="195071" y="13715"/>
                  </a:lnTo>
                  <a:lnTo>
                    <a:pt x="216407" y="13715"/>
                  </a:lnTo>
                  <a:lnTo>
                    <a:pt x="245363" y="21335"/>
                  </a:lnTo>
                  <a:lnTo>
                    <a:pt x="266699" y="28955"/>
                  </a:lnTo>
                  <a:lnTo>
                    <a:pt x="288035" y="28955"/>
                  </a:lnTo>
                  <a:lnTo>
                    <a:pt x="309371" y="36575"/>
                  </a:lnTo>
                  <a:lnTo>
                    <a:pt x="330707" y="42671"/>
                  </a:lnTo>
                  <a:lnTo>
                    <a:pt x="352043" y="50291"/>
                  </a:lnTo>
                  <a:lnTo>
                    <a:pt x="367283" y="50291"/>
                  </a:lnTo>
                  <a:lnTo>
                    <a:pt x="388619" y="57911"/>
                  </a:lnTo>
                  <a:lnTo>
                    <a:pt x="409955" y="64007"/>
                  </a:lnTo>
                  <a:lnTo>
                    <a:pt x="431291" y="71627"/>
                  </a:lnTo>
                  <a:lnTo>
                    <a:pt x="452627" y="86867"/>
                  </a:lnTo>
                  <a:lnTo>
                    <a:pt x="475487" y="92963"/>
                  </a:lnTo>
                  <a:lnTo>
                    <a:pt x="496823" y="100583"/>
                  </a:lnTo>
                  <a:lnTo>
                    <a:pt x="518159" y="108203"/>
                  </a:lnTo>
                  <a:lnTo>
                    <a:pt x="539495" y="114299"/>
                  </a:lnTo>
                  <a:lnTo>
                    <a:pt x="554735" y="129539"/>
                  </a:lnTo>
                  <a:lnTo>
                    <a:pt x="576071" y="137159"/>
                  </a:lnTo>
                  <a:lnTo>
                    <a:pt x="597407" y="143255"/>
                  </a:lnTo>
                  <a:lnTo>
                    <a:pt x="618743" y="158495"/>
                  </a:lnTo>
                  <a:lnTo>
                    <a:pt x="632459" y="164591"/>
                  </a:lnTo>
                  <a:lnTo>
                    <a:pt x="655319" y="179831"/>
                  </a:lnTo>
                  <a:lnTo>
                    <a:pt x="676655" y="193547"/>
                  </a:lnTo>
                  <a:lnTo>
                    <a:pt x="690371" y="201167"/>
                  </a:lnTo>
                  <a:lnTo>
                    <a:pt x="711707" y="214883"/>
                  </a:lnTo>
                  <a:lnTo>
                    <a:pt x="726947" y="230123"/>
                  </a:lnTo>
                  <a:lnTo>
                    <a:pt x="748283" y="243839"/>
                  </a:lnTo>
                  <a:lnTo>
                    <a:pt x="761999" y="251459"/>
                  </a:lnTo>
                  <a:lnTo>
                    <a:pt x="783335" y="265175"/>
                  </a:lnTo>
                  <a:lnTo>
                    <a:pt x="798575" y="280415"/>
                  </a:lnTo>
                  <a:lnTo>
                    <a:pt x="0" y="127253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g2d55ca98fbc_0_533"/>
            <p:cNvSpPr/>
            <p:nvPr/>
          </p:nvSpPr>
          <p:spPr>
            <a:xfrm>
              <a:off x="6719316" y="2982468"/>
              <a:ext cx="1216659" cy="992504"/>
            </a:xfrm>
            <a:custGeom>
              <a:rect b="b" l="l" r="r" t="t"/>
              <a:pathLst>
                <a:path extrusionOk="0" h="992504" w="1216659">
                  <a:moveTo>
                    <a:pt x="1216152" y="618744"/>
                  </a:moveTo>
                  <a:lnTo>
                    <a:pt x="1208532" y="597408"/>
                  </a:lnTo>
                  <a:lnTo>
                    <a:pt x="1200912" y="574548"/>
                  </a:lnTo>
                  <a:lnTo>
                    <a:pt x="1193292" y="553212"/>
                  </a:lnTo>
                  <a:lnTo>
                    <a:pt x="1187196" y="531876"/>
                  </a:lnTo>
                  <a:lnTo>
                    <a:pt x="1179576" y="510540"/>
                  </a:lnTo>
                  <a:lnTo>
                    <a:pt x="1171956" y="495300"/>
                  </a:lnTo>
                  <a:lnTo>
                    <a:pt x="1158240" y="473964"/>
                  </a:lnTo>
                  <a:lnTo>
                    <a:pt x="1143000" y="431292"/>
                  </a:lnTo>
                  <a:lnTo>
                    <a:pt x="1129284" y="409956"/>
                  </a:lnTo>
                  <a:lnTo>
                    <a:pt x="1121664" y="394716"/>
                  </a:lnTo>
                  <a:lnTo>
                    <a:pt x="1114044" y="373380"/>
                  </a:lnTo>
                  <a:lnTo>
                    <a:pt x="1100328" y="352044"/>
                  </a:lnTo>
                  <a:lnTo>
                    <a:pt x="1086612" y="338328"/>
                  </a:lnTo>
                  <a:lnTo>
                    <a:pt x="1078992" y="316992"/>
                  </a:lnTo>
                  <a:lnTo>
                    <a:pt x="1063752" y="294132"/>
                  </a:lnTo>
                  <a:lnTo>
                    <a:pt x="1050036" y="280416"/>
                  </a:lnTo>
                  <a:lnTo>
                    <a:pt x="1042416" y="259080"/>
                  </a:lnTo>
                  <a:lnTo>
                    <a:pt x="1028700" y="243840"/>
                  </a:lnTo>
                  <a:lnTo>
                    <a:pt x="1013460" y="222504"/>
                  </a:lnTo>
                  <a:lnTo>
                    <a:pt x="999744" y="208788"/>
                  </a:lnTo>
                  <a:lnTo>
                    <a:pt x="986028" y="187452"/>
                  </a:lnTo>
                  <a:lnTo>
                    <a:pt x="957072" y="158496"/>
                  </a:lnTo>
                  <a:lnTo>
                    <a:pt x="941832" y="137160"/>
                  </a:lnTo>
                  <a:lnTo>
                    <a:pt x="928116" y="121920"/>
                  </a:lnTo>
                  <a:lnTo>
                    <a:pt x="912876" y="108204"/>
                  </a:lnTo>
                  <a:lnTo>
                    <a:pt x="899160" y="92964"/>
                  </a:lnTo>
                  <a:lnTo>
                    <a:pt x="885444" y="71628"/>
                  </a:lnTo>
                  <a:lnTo>
                    <a:pt x="862584" y="57912"/>
                  </a:lnTo>
                  <a:lnTo>
                    <a:pt x="848868" y="42672"/>
                  </a:lnTo>
                  <a:lnTo>
                    <a:pt x="819912" y="13716"/>
                  </a:lnTo>
                  <a:lnTo>
                    <a:pt x="798576" y="0"/>
                  </a:lnTo>
                  <a:lnTo>
                    <a:pt x="0" y="992124"/>
                  </a:lnTo>
                  <a:lnTo>
                    <a:pt x="1216152" y="618744"/>
                  </a:lnTo>
                  <a:close/>
                </a:path>
              </a:pathLst>
            </a:custGeom>
            <a:solidFill>
              <a:srgbClr val="007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2d55ca98fbc_0_533"/>
            <p:cNvSpPr/>
            <p:nvPr/>
          </p:nvSpPr>
          <p:spPr>
            <a:xfrm>
              <a:off x="6719315" y="2982467"/>
              <a:ext cx="1216659" cy="992504"/>
            </a:xfrm>
            <a:custGeom>
              <a:rect b="b" l="l" r="r" t="t"/>
              <a:pathLst>
                <a:path extrusionOk="0" h="992504" w="1216659">
                  <a:moveTo>
                    <a:pt x="798575" y="0"/>
                  </a:moveTo>
                  <a:lnTo>
                    <a:pt x="819911" y="13715"/>
                  </a:lnTo>
                  <a:lnTo>
                    <a:pt x="835151" y="28955"/>
                  </a:lnTo>
                  <a:lnTo>
                    <a:pt x="848867" y="42671"/>
                  </a:lnTo>
                  <a:lnTo>
                    <a:pt x="862583" y="57911"/>
                  </a:lnTo>
                  <a:lnTo>
                    <a:pt x="885443" y="71627"/>
                  </a:lnTo>
                  <a:lnTo>
                    <a:pt x="899159" y="92963"/>
                  </a:lnTo>
                  <a:lnTo>
                    <a:pt x="912875" y="108203"/>
                  </a:lnTo>
                  <a:lnTo>
                    <a:pt x="928115" y="121919"/>
                  </a:lnTo>
                  <a:lnTo>
                    <a:pt x="941831" y="137159"/>
                  </a:lnTo>
                  <a:lnTo>
                    <a:pt x="957071" y="158495"/>
                  </a:lnTo>
                  <a:lnTo>
                    <a:pt x="970787" y="172211"/>
                  </a:lnTo>
                  <a:lnTo>
                    <a:pt x="986027" y="187451"/>
                  </a:lnTo>
                  <a:lnTo>
                    <a:pt x="999743" y="208787"/>
                  </a:lnTo>
                  <a:lnTo>
                    <a:pt x="1013459" y="222503"/>
                  </a:lnTo>
                  <a:lnTo>
                    <a:pt x="1028699" y="243839"/>
                  </a:lnTo>
                  <a:lnTo>
                    <a:pt x="1042415" y="259079"/>
                  </a:lnTo>
                  <a:lnTo>
                    <a:pt x="1050035" y="280415"/>
                  </a:lnTo>
                  <a:lnTo>
                    <a:pt x="1063751" y="294131"/>
                  </a:lnTo>
                  <a:lnTo>
                    <a:pt x="1078991" y="316991"/>
                  </a:lnTo>
                  <a:lnTo>
                    <a:pt x="1086611" y="338327"/>
                  </a:lnTo>
                  <a:lnTo>
                    <a:pt x="1100327" y="352043"/>
                  </a:lnTo>
                  <a:lnTo>
                    <a:pt x="1114043" y="373379"/>
                  </a:lnTo>
                  <a:lnTo>
                    <a:pt x="1121663" y="394715"/>
                  </a:lnTo>
                  <a:lnTo>
                    <a:pt x="1129283" y="409955"/>
                  </a:lnTo>
                  <a:lnTo>
                    <a:pt x="1142999" y="431291"/>
                  </a:lnTo>
                  <a:lnTo>
                    <a:pt x="1150619" y="452627"/>
                  </a:lnTo>
                  <a:lnTo>
                    <a:pt x="1158239" y="473963"/>
                  </a:lnTo>
                  <a:lnTo>
                    <a:pt x="1171955" y="495299"/>
                  </a:lnTo>
                  <a:lnTo>
                    <a:pt x="1179575" y="510539"/>
                  </a:lnTo>
                  <a:lnTo>
                    <a:pt x="1187195" y="531875"/>
                  </a:lnTo>
                  <a:lnTo>
                    <a:pt x="1193291" y="553211"/>
                  </a:lnTo>
                  <a:lnTo>
                    <a:pt x="1200911" y="574547"/>
                  </a:lnTo>
                  <a:lnTo>
                    <a:pt x="1208531" y="597407"/>
                  </a:lnTo>
                  <a:lnTo>
                    <a:pt x="1216151" y="618743"/>
                  </a:lnTo>
                  <a:lnTo>
                    <a:pt x="0" y="992123"/>
                  </a:lnTo>
                  <a:lnTo>
                    <a:pt x="798575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2d55ca98fbc_0_533"/>
            <p:cNvSpPr/>
            <p:nvPr/>
          </p:nvSpPr>
          <p:spPr>
            <a:xfrm>
              <a:off x="6719315" y="3601211"/>
              <a:ext cx="1272540" cy="1172210"/>
            </a:xfrm>
            <a:custGeom>
              <a:rect b="b" l="l" r="r" t="t"/>
              <a:pathLst>
                <a:path extrusionOk="0" h="1172210" w="1272540">
                  <a:moveTo>
                    <a:pt x="1272539" y="437387"/>
                  </a:moveTo>
                  <a:lnTo>
                    <a:pt x="1272539" y="301751"/>
                  </a:lnTo>
                  <a:lnTo>
                    <a:pt x="1266443" y="280415"/>
                  </a:lnTo>
                  <a:lnTo>
                    <a:pt x="1266443" y="236219"/>
                  </a:lnTo>
                  <a:lnTo>
                    <a:pt x="1258823" y="214883"/>
                  </a:lnTo>
                  <a:lnTo>
                    <a:pt x="1258823" y="172211"/>
                  </a:lnTo>
                  <a:lnTo>
                    <a:pt x="1243583" y="129539"/>
                  </a:lnTo>
                  <a:lnTo>
                    <a:pt x="1243583" y="106679"/>
                  </a:lnTo>
                  <a:lnTo>
                    <a:pt x="1237487" y="85343"/>
                  </a:lnTo>
                  <a:lnTo>
                    <a:pt x="1229867" y="64007"/>
                  </a:lnTo>
                  <a:lnTo>
                    <a:pt x="1229867" y="42671"/>
                  </a:lnTo>
                  <a:lnTo>
                    <a:pt x="1222247" y="21335"/>
                  </a:lnTo>
                  <a:lnTo>
                    <a:pt x="1216151" y="0"/>
                  </a:lnTo>
                  <a:lnTo>
                    <a:pt x="0" y="373379"/>
                  </a:lnTo>
                  <a:lnTo>
                    <a:pt x="986027" y="1171955"/>
                  </a:lnTo>
                  <a:lnTo>
                    <a:pt x="999743" y="1156715"/>
                  </a:lnTo>
                  <a:lnTo>
                    <a:pt x="1013459" y="1135379"/>
                  </a:lnTo>
                  <a:lnTo>
                    <a:pt x="1028699" y="1121663"/>
                  </a:lnTo>
                  <a:lnTo>
                    <a:pt x="1042415" y="1098803"/>
                  </a:lnTo>
                  <a:lnTo>
                    <a:pt x="1050035" y="1085087"/>
                  </a:lnTo>
                  <a:lnTo>
                    <a:pt x="1063751" y="1063751"/>
                  </a:lnTo>
                  <a:lnTo>
                    <a:pt x="1078991" y="1048511"/>
                  </a:lnTo>
                  <a:lnTo>
                    <a:pt x="1086611" y="1027175"/>
                  </a:lnTo>
                  <a:lnTo>
                    <a:pt x="1100327" y="1005839"/>
                  </a:lnTo>
                  <a:lnTo>
                    <a:pt x="1114043" y="992123"/>
                  </a:lnTo>
                  <a:lnTo>
                    <a:pt x="1121663" y="970787"/>
                  </a:lnTo>
                  <a:lnTo>
                    <a:pt x="1129283" y="947927"/>
                  </a:lnTo>
                  <a:lnTo>
                    <a:pt x="1142999" y="926591"/>
                  </a:lnTo>
                  <a:lnTo>
                    <a:pt x="1150619" y="912875"/>
                  </a:lnTo>
                  <a:lnTo>
                    <a:pt x="1158239" y="891539"/>
                  </a:lnTo>
                  <a:lnTo>
                    <a:pt x="1171955" y="870203"/>
                  </a:lnTo>
                  <a:lnTo>
                    <a:pt x="1179575" y="847343"/>
                  </a:lnTo>
                  <a:lnTo>
                    <a:pt x="1187195" y="826007"/>
                  </a:lnTo>
                  <a:lnTo>
                    <a:pt x="1193291" y="804671"/>
                  </a:lnTo>
                  <a:lnTo>
                    <a:pt x="1216151" y="740663"/>
                  </a:lnTo>
                  <a:lnTo>
                    <a:pt x="1222247" y="725423"/>
                  </a:lnTo>
                  <a:lnTo>
                    <a:pt x="1229867" y="704087"/>
                  </a:lnTo>
                  <a:lnTo>
                    <a:pt x="1229867" y="682751"/>
                  </a:lnTo>
                  <a:lnTo>
                    <a:pt x="1237487" y="661415"/>
                  </a:lnTo>
                  <a:lnTo>
                    <a:pt x="1243583" y="640079"/>
                  </a:lnTo>
                  <a:lnTo>
                    <a:pt x="1243583" y="617219"/>
                  </a:lnTo>
                  <a:lnTo>
                    <a:pt x="1251203" y="589787"/>
                  </a:lnTo>
                  <a:lnTo>
                    <a:pt x="1258823" y="566927"/>
                  </a:lnTo>
                  <a:lnTo>
                    <a:pt x="1258823" y="524255"/>
                  </a:lnTo>
                  <a:lnTo>
                    <a:pt x="1266443" y="502919"/>
                  </a:lnTo>
                  <a:lnTo>
                    <a:pt x="1266443" y="460247"/>
                  </a:lnTo>
                  <a:lnTo>
                    <a:pt x="1272539" y="43738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2d55ca98fbc_0_533"/>
            <p:cNvSpPr/>
            <p:nvPr/>
          </p:nvSpPr>
          <p:spPr>
            <a:xfrm>
              <a:off x="6719315" y="3601211"/>
              <a:ext cx="1272540" cy="1172210"/>
            </a:xfrm>
            <a:custGeom>
              <a:rect b="b" l="l" r="r" t="t"/>
              <a:pathLst>
                <a:path extrusionOk="0" h="1172210" w="1272540">
                  <a:moveTo>
                    <a:pt x="1216151" y="0"/>
                  </a:moveTo>
                  <a:lnTo>
                    <a:pt x="1222247" y="21335"/>
                  </a:lnTo>
                  <a:lnTo>
                    <a:pt x="1229867" y="42671"/>
                  </a:lnTo>
                  <a:lnTo>
                    <a:pt x="1229867" y="64007"/>
                  </a:lnTo>
                  <a:lnTo>
                    <a:pt x="1237487" y="85343"/>
                  </a:lnTo>
                  <a:lnTo>
                    <a:pt x="1243583" y="106679"/>
                  </a:lnTo>
                  <a:lnTo>
                    <a:pt x="1243583" y="129539"/>
                  </a:lnTo>
                  <a:lnTo>
                    <a:pt x="1251203" y="150875"/>
                  </a:lnTo>
                  <a:lnTo>
                    <a:pt x="1258823" y="172211"/>
                  </a:lnTo>
                  <a:lnTo>
                    <a:pt x="1258823" y="214883"/>
                  </a:lnTo>
                  <a:lnTo>
                    <a:pt x="1266443" y="236219"/>
                  </a:lnTo>
                  <a:lnTo>
                    <a:pt x="1266443" y="280415"/>
                  </a:lnTo>
                  <a:lnTo>
                    <a:pt x="1272539" y="301751"/>
                  </a:lnTo>
                  <a:lnTo>
                    <a:pt x="1272539" y="437387"/>
                  </a:lnTo>
                  <a:lnTo>
                    <a:pt x="1266443" y="460247"/>
                  </a:lnTo>
                  <a:lnTo>
                    <a:pt x="1266443" y="502919"/>
                  </a:lnTo>
                  <a:lnTo>
                    <a:pt x="1258823" y="524255"/>
                  </a:lnTo>
                  <a:lnTo>
                    <a:pt x="1258823" y="566927"/>
                  </a:lnTo>
                  <a:lnTo>
                    <a:pt x="1251203" y="589787"/>
                  </a:lnTo>
                  <a:lnTo>
                    <a:pt x="1243583" y="617219"/>
                  </a:lnTo>
                  <a:lnTo>
                    <a:pt x="1243583" y="640079"/>
                  </a:lnTo>
                  <a:lnTo>
                    <a:pt x="1237487" y="661415"/>
                  </a:lnTo>
                  <a:lnTo>
                    <a:pt x="1229867" y="682751"/>
                  </a:lnTo>
                  <a:lnTo>
                    <a:pt x="1229867" y="704087"/>
                  </a:lnTo>
                  <a:lnTo>
                    <a:pt x="1222247" y="725423"/>
                  </a:lnTo>
                  <a:lnTo>
                    <a:pt x="1216151" y="740663"/>
                  </a:lnTo>
                  <a:lnTo>
                    <a:pt x="1208531" y="761999"/>
                  </a:lnTo>
                  <a:lnTo>
                    <a:pt x="1200911" y="783335"/>
                  </a:lnTo>
                  <a:lnTo>
                    <a:pt x="1193291" y="804671"/>
                  </a:lnTo>
                  <a:lnTo>
                    <a:pt x="1187195" y="826007"/>
                  </a:lnTo>
                  <a:lnTo>
                    <a:pt x="1179575" y="847343"/>
                  </a:lnTo>
                  <a:lnTo>
                    <a:pt x="1171955" y="870203"/>
                  </a:lnTo>
                  <a:lnTo>
                    <a:pt x="1158239" y="891539"/>
                  </a:lnTo>
                  <a:lnTo>
                    <a:pt x="1150619" y="912875"/>
                  </a:lnTo>
                  <a:lnTo>
                    <a:pt x="1142999" y="926591"/>
                  </a:lnTo>
                  <a:lnTo>
                    <a:pt x="1129283" y="947927"/>
                  </a:lnTo>
                  <a:lnTo>
                    <a:pt x="1121663" y="970787"/>
                  </a:lnTo>
                  <a:lnTo>
                    <a:pt x="1114043" y="992123"/>
                  </a:lnTo>
                  <a:lnTo>
                    <a:pt x="1100327" y="1005839"/>
                  </a:lnTo>
                  <a:lnTo>
                    <a:pt x="1086611" y="1027175"/>
                  </a:lnTo>
                  <a:lnTo>
                    <a:pt x="1078991" y="1048511"/>
                  </a:lnTo>
                  <a:lnTo>
                    <a:pt x="1063751" y="1063751"/>
                  </a:lnTo>
                  <a:lnTo>
                    <a:pt x="1050035" y="1085087"/>
                  </a:lnTo>
                  <a:lnTo>
                    <a:pt x="1042415" y="1098803"/>
                  </a:lnTo>
                  <a:lnTo>
                    <a:pt x="1028699" y="1121663"/>
                  </a:lnTo>
                  <a:lnTo>
                    <a:pt x="1013459" y="1135379"/>
                  </a:lnTo>
                  <a:lnTo>
                    <a:pt x="999743" y="1156715"/>
                  </a:lnTo>
                  <a:lnTo>
                    <a:pt x="986027" y="1171955"/>
                  </a:lnTo>
                  <a:lnTo>
                    <a:pt x="0" y="373379"/>
                  </a:lnTo>
                  <a:lnTo>
                    <a:pt x="121615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2d55ca98fbc_0_533"/>
            <p:cNvSpPr/>
            <p:nvPr/>
          </p:nvSpPr>
          <p:spPr>
            <a:xfrm>
              <a:off x="6719316" y="3974592"/>
              <a:ext cx="986154" cy="1122045"/>
            </a:xfrm>
            <a:custGeom>
              <a:rect b="b" l="l" r="r" t="t"/>
              <a:pathLst>
                <a:path extrusionOk="0" h="1122045" w="986154">
                  <a:moveTo>
                    <a:pt x="986028" y="798576"/>
                  </a:moveTo>
                  <a:lnTo>
                    <a:pt x="0" y="0"/>
                  </a:lnTo>
                  <a:lnTo>
                    <a:pt x="597408" y="1121664"/>
                  </a:lnTo>
                  <a:lnTo>
                    <a:pt x="618744" y="1114044"/>
                  </a:lnTo>
                  <a:lnTo>
                    <a:pt x="632460" y="1100328"/>
                  </a:lnTo>
                  <a:lnTo>
                    <a:pt x="655320" y="1085088"/>
                  </a:lnTo>
                  <a:lnTo>
                    <a:pt x="676656" y="1078992"/>
                  </a:lnTo>
                  <a:lnTo>
                    <a:pt x="690372" y="1063752"/>
                  </a:lnTo>
                  <a:lnTo>
                    <a:pt x="711708" y="1050036"/>
                  </a:lnTo>
                  <a:lnTo>
                    <a:pt x="726948" y="1042416"/>
                  </a:lnTo>
                  <a:lnTo>
                    <a:pt x="748284" y="1028700"/>
                  </a:lnTo>
                  <a:lnTo>
                    <a:pt x="762000" y="1013460"/>
                  </a:lnTo>
                  <a:lnTo>
                    <a:pt x="783336" y="999744"/>
                  </a:lnTo>
                  <a:lnTo>
                    <a:pt x="798576" y="984504"/>
                  </a:lnTo>
                  <a:lnTo>
                    <a:pt x="819912" y="970788"/>
                  </a:lnTo>
                  <a:lnTo>
                    <a:pt x="862584" y="928116"/>
                  </a:lnTo>
                  <a:lnTo>
                    <a:pt x="885444" y="912876"/>
                  </a:lnTo>
                  <a:lnTo>
                    <a:pt x="899160" y="899160"/>
                  </a:lnTo>
                  <a:lnTo>
                    <a:pt x="912876" y="883920"/>
                  </a:lnTo>
                  <a:lnTo>
                    <a:pt x="928116" y="862584"/>
                  </a:lnTo>
                  <a:lnTo>
                    <a:pt x="970788" y="819912"/>
                  </a:lnTo>
                  <a:lnTo>
                    <a:pt x="986028" y="798576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2d55ca98fbc_0_533"/>
            <p:cNvSpPr/>
            <p:nvPr/>
          </p:nvSpPr>
          <p:spPr>
            <a:xfrm>
              <a:off x="6719315" y="3974591"/>
              <a:ext cx="986154" cy="1122045"/>
            </a:xfrm>
            <a:custGeom>
              <a:rect b="b" l="l" r="r" t="t"/>
              <a:pathLst>
                <a:path extrusionOk="0" h="1122045" w="986154">
                  <a:moveTo>
                    <a:pt x="986027" y="798575"/>
                  </a:moveTo>
                  <a:lnTo>
                    <a:pt x="970787" y="819911"/>
                  </a:lnTo>
                  <a:lnTo>
                    <a:pt x="957071" y="833627"/>
                  </a:lnTo>
                  <a:lnTo>
                    <a:pt x="941831" y="848867"/>
                  </a:lnTo>
                  <a:lnTo>
                    <a:pt x="928115" y="862583"/>
                  </a:lnTo>
                  <a:lnTo>
                    <a:pt x="912875" y="883919"/>
                  </a:lnTo>
                  <a:lnTo>
                    <a:pt x="899159" y="899159"/>
                  </a:lnTo>
                  <a:lnTo>
                    <a:pt x="885443" y="912875"/>
                  </a:lnTo>
                  <a:lnTo>
                    <a:pt x="862583" y="928115"/>
                  </a:lnTo>
                  <a:lnTo>
                    <a:pt x="848867" y="941831"/>
                  </a:lnTo>
                  <a:lnTo>
                    <a:pt x="835151" y="955547"/>
                  </a:lnTo>
                  <a:lnTo>
                    <a:pt x="819911" y="970787"/>
                  </a:lnTo>
                  <a:lnTo>
                    <a:pt x="798575" y="984503"/>
                  </a:lnTo>
                  <a:lnTo>
                    <a:pt x="783335" y="999743"/>
                  </a:lnTo>
                  <a:lnTo>
                    <a:pt x="761999" y="1013459"/>
                  </a:lnTo>
                  <a:lnTo>
                    <a:pt x="748283" y="1028699"/>
                  </a:lnTo>
                  <a:lnTo>
                    <a:pt x="726947" y="1042415"/>
                  </a:lnTo>
                  <a:lnTo>
                    <a:pt x="711707" y="1050035"/>
                  </a:lnTo>
                  <a:lnTo>
                    <a:pt x="690371" y="1063751"/>
                  </a:lnTo>
                  <a:lnTo>
                    <a:pt x="676655" y="1078991"/>
                  </a:lnTo>
                  <a:lnTo>
                    <a:pt x="655319" y="1085087"/>
                  </a:lnTo>
                  <a:lnTo>
                    <a:pt x="632459" y="1100327"/>
                  </a:lnTo>
                  <a:lnTo>
                    <a:pt x="618743" y="1114043"/>
                  </a:lnTo>
                  <a:lnTo>
                    <a:pt x="597407" y="1121663"/>
                  </a:lnTo>
                  <a:lnTo>
                    <a:pt x="0" y="0"/>
                  </a:lnTo>
                  <a:lnTo>
                    <a:pt x="986027" y="798575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2d55ca98fbc_0_533"/>
            <p:cNvSpPr/>
            <p:nvPr/>
          </p:nvSpPr>
          <p:spPr>
            <a:xfrm>
              <a:off x="5820156" y="3974592"/>
              <a:ext cx="1496695" cy="1272539"/>
            </a:xfrm>
            <a:custGeom>
              <a:rect b="b" l="l" r="r" t="t"/>
              <a:pathLst>
                <a:path extrusionOk="0" h="1272539" w="1496695">
                  <a:moveTo>
                    <a:pt x="1496568" y="1121664"/>
                  </a:moveTo>
                  <a:lnTo>
                    <a:pt x="899160" y="0"/>
                  </a:lnTo>
                  <a:lnTo>
                    <a:pt x="0" y="899160"/>
                  </a:lnTo>
                  <a:lnTo>
                    <a:pt x="15240" y="912876"/>
                  </a:lnTo>
                  <a:lnTo>
                    <a:pt x="28956" y="928116"/>
                  </a:lnTo>
                  <a:lnTo>
                    <a:pt x="44196" y="941832"/>
                  </a:lnTo>
                  <a:lnTo>
                    <a:pt x="65532" y="955548"/>
                  </a:lnTo>
                  <a:lnTo>
                    <a:pt x="79248" y="970788"/>
                  </a:lnTo>
                  <a:lnTo>
                    <a:pt x="94488" y="984504"/>
                  </a:lnTo>
                  <a:lnTo>
                    <a:pt x="115824" y="999744"/>
                  </a:lnTo>
                  <a:lnTo>
                    <a:pt x="129540" y="1013460"/>
                  </a:lnTo>
                  <a:lnTo>
                    <a:pt x="152400" y="1028700"/>
                  </a:lnTo>
                  <a:lnTo>
                    <a:pt x="166116" y="1042416"/>
                  </a:lnTo>
                  <a:lnTo>
                    <a:pt x="187452" y="1050036"/>
                  </a:lnTo>
                  <a:lnTo>
                    <a:pt x="202692" y="1063752"/>
                  </a:lnTo>
                  <a:lnTo>
                    <a:pt x="224028" y="1078992"/>
                  </a:lnTo>
                  <a:lnTo>
                    <a:pt x="245364" y="1085088"/>
                  </a:lnTo>
                  <a:lnTo>
                    <a:pt x="259080" y="1100328"/>
                  </a:lnTo>
                  <a:lnTo>
                    <a:pt x="280416" y="1114044"/>
                  </a:lnTo>
                  <a:lnTo>
                    <a:pt x="303276" y="1121664"/>
                  </a:lnTo>
                  <a:lnTo>
                    <a:pt x="316992" y="1129284"/>
                  </a:lnTo>
                  <a:lnTo>
                    <a:pt x="338328" y="1143000"/>
                  </a:lnTo>
                  <a:lnTo>
                    <a:pt x="359664" y="1150620"/>
                  </a:lnTo>
                  <a:lnTo>
                    <a:pt x="382524" y="1158240"/>
                  </a:lnTo>
                  <a:lnTo>
                    <a:pt x="403860" y="1171956"/>
                  </a:lnTo>
                  <a:lnTo>
                    <a:pt x="417576" y="1179576"/>
                  </a:lnTo>
                  <a:lnTo>
                    <a:pt x="438912" y="1185672"/>
                  </a:lnTo>
                  <a:lnTo>
                    <a:pt x="460248" y="1193292"/>
                  </a:lnTo>
                  <a:lnTo>
                    <a:pt x="483108" y="1200912"/>
                  </a:lnTo>
                  <a:lnTo>
                    <a:pt x="504444" y="1208532"/>
                  </a:lnTo>
                  <a:lnTo>
                    <a:pt x="525780" y="1214628"/>
                  </a:lnTo>
                  <a:lnTo>
                    <a:pt x="568452" y="1229868"/>
                  </a:lnTo>
                  <a:lnTo>
                    <a:pt x="589788" y="1229868"/>
                  </a:lnTo>
                  <a:lnTo>
                    <a:pt x="612648" y="1235964"/>
                  </a:lnTo>
                  <a:lnTo>
                    <a:pt x="633984" y="1243584"/>
                  </a:lnTo>
                  <a:lnTo>
                    <a:pt x="655320" y="1243584"/>
                  </a:lnTo>
                  <a:lnTo>
                    <a:pt x="697992" y="1258824"/>
                  </a:lnTo>
                  <a:lnTo>
                    <a:pt x="740664" y="1258824"/>
                  </a:lnTo>
                  <a:lnTo>
                    <a:pt x="763524" y="1264920"/>
                  </a:lnTo>
                  <a:lnTo>
                    <a:pt x="806196" y="1264920"/>
                  </a:lnTo>
                  <a:lnTo>
                    <a:pt x="827532" y="1272540"/>
                  </a:lnTo>
                  <a:lnTo>
                    <a:pt x="964692" y="1272540"/>
                  </a:lnTo>
                  <a:lnTo>
                    <a:pt x="986028" y="1264920"/>
                  </a:lnTo>
                  <a:lnTo>
                    <a:pt x="1028700" y="1264920"/>
                  </a:lnTo>
                  <a:lnTo>
                    <a:pt x="1050036" y="1258824"/>
                  </a:lnTo>
                  <a:lnTo>
                    <a:pt x="1094232" y="1258824"/>
                  </a:lnTo>
                  <a:lnTo>
                    <a:pt x="1115568" y="1251204"/>
                  </a:lnTo>
                  <a:lnTo>
                    <a:pt x="1144524" y="1243584"/>
                  </a:lnTo>
                  <a:lnTo>
                    <a:pt x="1165860" y="1243584"/>
                  </a:lnTo>
                  <a:lnTo>
                    <a:pt x="1187196" y="1235964"/>
                  </a:lnTo>
                  <a:lnTo>
                    <a:pt x="1208532" y="1229868"/>
                  </a:lnTo>
                  <a:lnTo>
                    <a:pt x="1229868" y="1229868"/>
                  </a:lnTo>
                  <a:lnTo>
                    <a:pt x="1251204" y="1222248"/>
                  </a:lnTo>
                  <a:lnTo>
                    <a:pt x="1266444" y="1214628"/>
                  </a:lnTo>
                  <a:lnTo>
                    <a:pt x="1287780" y="1208532"/>
                  </a:lnTo>
                  <a:lnTo>
                    <a:pt x="1351788" y="1185672"/>
                  </a:lnTo>
                  <a:lnTo>
                    <a:pt x="1374648" y="1179576"/>
                  </a:lnTo>
                  <a:lnTo>
                    <a:pt x="1395984" y="1171956"/>
                  </a:lnTo>
                  <a:lnTo>
                    <a:pt x="1417320" y="1158240"/>
                  </a:lnTo>
                  <a:lnTo>
                    <a:pt x="1438656" y="1150620"/>
                  </a:lnTo>
                  <a:lnTo>
                    <a:pt x="1453896" y="1143000"/>
                  </a:lnTo>
                  <a:lnTo>
                    <a:pt x="1475232" y="1129284"/>
                  </a:lnTo>
                  <a:lnTo>
                    <a:pt x="1496568" y="1121664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2d55ca98fbc_0_533"/>
            <p:cNvSpPr/>
            <p:nvPr/>
          </p:nvSpPr>
          <p:spPr>
            <a:xfrm>
              <a:off x="5820155" y="3974591"/>
              <a:ext cx="1496695" cy="1272539"/>
            </a:xfrm>
            <a:custGeom>
              <a:rect b="b" l="l" r="r" t="t"/>
              <a:pathLst>
                <a:path extrusionOk="0" h="1272539" w="1496695">
                  <a:moveTo>
                    <a:pt x="1496567" y="1121663"/>
                  </a:moveTo>
                  <a:lnTo>
                    <a:pt x="1475231" y="1129283"/>
                  </a:lnTo>
                  <a:lnTo>
                    <a:pt x="1453895" y="1142999"/>
                  </a:lnTo>
                  <a:lnTo>
                    <a:pt x="1438655" y="1150619"/>
                  </a:lnTo>
                  <a:lnTo>
                    <a:pt x="1417319" y="1158239"/>
                  </a:lnTo>
                  <a:lnTo>
                    <a:pt x="1395983" y="1171955"/>
                  </a:lnTo>
                  <a:lnTo>
                    <a:pt x="1374647" y="1179575"/>
                  </a:lnTo>
                  <a:lnTo>
                    <a:pt x="1351787" y="1185671"/>
                  </a:lnTo>
                  <a:lnTo>
                    <a:pt x="1330451" y="1193291"/>
                  </a:lnTo>
                  <a:lnTo>
                    <a:pt x="1309115" y="1200911"/>
                  </a:lnTo>
                  <a:lnTo>
                    <a:pt x="1287779" y="1208531"/>
                  </a:lnTo>
                  <a:lnTo>
                    <a:pt x="1266443" y="1214627"/>
                  </a:lnTo>
                  <a:lnTo>
                    <a:pt x="1251203" y="1222247"/>
                  </a:lnTo>
                  <a:lnTo>
                    <a:pt x="1229867" y="1229867"/>
                  </a:lnTo>
                  <a:lnTo>
                    <a:pt x="1208531" y="1229867"/>
                  </a:lnTo>
                  <a:lnTo>
                    <a:pt x="1187195" y="1235963"/>
                  </a:lnTo>
                  <a:lnTo>
                    <a:pt x="1165859" y="1243583"/>
                  </a:lnTo>
                  <a:lnTo>
                    <a:pt x="1144523" y="1243583"/>
                  </a:lnTo>
                  <a:lnTo>
                    <a:pt x="1115567" y="1251203"/>
                  </a:lnTo>
                  <a:lnTo>
                    <a:pt x="1094231" y="1258823"/>
                  </a:lnTo>
                  <a:lnTo>
                    <a:pt x="1050035" y="1258823"/>
                  </a:lnTo>
                  <a:lnTo>
                    <a:pt x="1028699" y="1264919"/>
                  </a:lnTo>
                  <a:lnTo>
                    <a:pt x="986027" y="1264919"/>
                  </a:lnTo>
                  <a:lnTo>
                    <a:pt x="964691" y="1272539"/>
                  </a:lnTo>
                  <a:lnTo>
                    <a:pt x="827531" y="1272539"/>
                  </a:lnTo>
                  <a:lnTo>
                    <a:pt x="806195" y="1264919"/>
                  </a:lnTo>
                  <a:lnTo>
                    <a:pt x="763523" y="1264919"/>
                  </a:lnTo>
                  <a:lnTo>
                    <a:pt x="740663" y="1258823"/>
                  </a:lnTo>
                  <a:lnTo>
                    <a:pt x="697991" y="1258823"/>
                  </a:lnTo>
                  <a:lnTo>
                    <a:pt x="676655" y="1251203"/>
                  </a:lnTo>
                  <a:lnTo>
                    <a:pt x="655319" y="1243583"/>
                  </a:lnTo>
                  <a:lnTo>
                    <a:pt x="633983" y="1243583"/>
                  </a:lnTo>
                  <a:lnTo>
                    <a:pt x="612647" y="1235963"/>
                  </a:lnTo>
                  <a:lnTo>
                    <a:pt x="589787" y="1229867"/>
                  </a:lnTo>
                  <a:lnTo>
                    <a:pt x="568451" y="1229867"/>
                  </a:lnTo>
                  <a:lnTo>
                    <a:pt x="547115" y="1222247"/>
                  </a:lnTo>
                  <a:lnTo>
                    <a:pt x="525779" y="1214627"/>
                  </a:lnTo>
                  <a:lnTo>
                    <a:pt x="504443" y="1208531"/>
                  </a:lnTo>
                  <a:lnTo>
                    <a:pt x="483107" y="1200911"/>
                  </a:lnTo>
                  <a:lnTo>
                    <a:pt x="460247" y="1193291"/>
                  </a:lnTo>
                  <a:lnTo>
                    <a:pt x="438911" y="1185671"/>
                  </a:lnTo>
                  <a:lnTo>
                    <a:pt x="417575" y="1179575"/>
                  </a:lnTo>
                  <a:lnTo>
                    <a:pt x="403859" y="1171955"/>
                  </a:lnTo>
                  <a:lnTo>
                    <a:pt x="382523" y="1158239"/>
                  </a:lnTo>
                  <a:lnTo>
                    <a:pt x="359663" y="1150619"/>
                  </a:lnTo>
                  <a:lnTo>
                    <a:pt x="338327" y="1142999"/>
                  </a:lnTo>
                  <a:lnTo>
                    <a:pt x="316991" y="1129283"/>
                  </a:lnTo>
                  <a:lnTo>
                    <a:pt x="303275" y="1121663"/>
                  </a:lnTo>
                  <a:lnTo>
                    <a:pt x="280415" y="1114043"/>
                  </a:lnTo>
                  <a:lnTo>
                    <a:pt x="259079" y="1100327"/>
                  </a:lnTo>
                  <a:lnTo>
                    <a:pt x="245363" y="1085087"/>
                  </a:lnTo>
                  <a:lnTo>
                    <a:pt x="224027" y="1078991"/>
                  </a:lnTo>
                  <a:lnTo>
                    <a:pt x="202691" y="1063751"/>
                  </a:lnTo>
                  <a:lnTo>
                    <a:pt x="187451" y="1050035"/>
                  </a:lnTo>
                  <a:lnTo>
                    <a:pt x="166115" y="1042415"/>
                  </a:lnTo>
                  <a:lnTo>
                    <a:pt x="152399" y="1028699"/>
                  </a:lnTo>
                  <a:lnTo>
                    <a:pt x="129539" y="1013459"/>
                  </a:lnTo>
                  <a:lnTo>
                    <a:pt x="115823" y="999743"/>
                  </a:lnTo>
                  <a:lnTo>
                    <a:pt x="94487" y="984503"/>
                  </a:lnTo>
                  <a:lnTo>
                    <a:pt x="79247" y="970787"/>
                  </a:lnTo>
                  <a:lnTo>
                    <a:pt x="65531" y="955547"/>
                  </a:lnTo>
                  <a:lnTo>
                    <a:pt x="44195" y="941831"/>
                  </a:lnTo>
                  <a:lnTo>
                    <a:pt x="28955" y="928115"/>
                  </a:lnTo>
                  <a:lnTo>
                    <a:pt x="15239" y="912875"/>
                  </a:lnTo>
                  <a:lnTo>
                    <a:pt x="0" y="899159"/>
                  </a:lnTo>
                  <a:lnTo>
                    <a:pt x="899159" y="0"/>
                  </a:lnTo>
                  <a:lnTo>
                    <a:pt x="1496567" y="1121663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g2d55ca98fbc_0_533"/>
            <p:cNvSpPr/>
            <p:nvPr/>
          </p:nvSpPr>
          <p:spPr>
            <a:xfrm>
              <a:off x="5446775" y="3730751"/>
              <a:ext cx="1272540" cy="1143000"/>
            </a:xfrm>
            <a:custGeom>
              <a:rect b="b" l="l" r="r" t="t"/>
              <a:pathLst>
                <a:path extrusionOk="0" h="1143000" w="1272540">
                  <a:moveTo>
                    <a:pt x="1272539" y="243839"/>
                  </a:moveTo>
                  <a:lnTo>
                    <a:pt x="21335" y="0"/>
                  </a:lnTo>
                  <a:lnTo>
                    <a:pt x="15239" y="21335"/>
                  </a:lnTo>
                  <a:lnTo>
                    <a:pt x="15239" y="42671"/>
                  </a:lnTo>
                  <a:lnTo>
                    <a:pt x="7619" y="64007"/>
                  </a:lnTo>
                  <a:lnTo>
                    <a:pt x="7619" y="106679"/>
                  </a:lnTo>
                  <a:lnTo>
                    <a:pt x="0" y="129539"/>
                  </a:lnTo>
                  <a:lnTo>
                    <a:pt x="0" y="352043"/>
                  </a:lnTo>
                  <a:lnTo>
                    <a:pt x="7619" y="373379"/>
                  </a:lnTo>
                  <a:lnTo>
                    <a:pt x="7619" y="416051"/>
                  </a:lnTo>
                  <a:lnTo>
                    <a:pt x="15239" y="437387"/>
                  </a:lnTo>
                  <a:lnTo>
                    <a:pt x="15239" y="460247"/>
                  </a:lnTo>
                  <a:lnTo>
                    <a:pt x="21335" y="487679"/>
                  </a:lnTo>
                  <a:lnTo>
                    <a:pt x="28955" y="510539"/>
                  </a:lnTo>
                  <a:lnTo>
                    <a:pt x="28955" y="531875"/>
                  </a:lnTo>
                  <a:lnTo>
                    <a:pt x="36575" y="553211"/>
                  </a:lnTo>
                  <a:lnTo>
                    <a:pt x="42671" y="574547"/>
                  </a:lnTo>
                  <a:lnTo>
                    <a:pt x="50291" y="595883"/>
                  </a:lnTo>
                  <a:lnTo>
                    <a:pt x="50291" y="611123"/>
                  </a:lnTo>
                  <a:lnTo>
                    <a:pt x="65531" y="653795"/>
                  </a:lnTo>
                  <a:lnTo>
                    <a:pt x="71627" y="675131"/>
                  </a:lnTo>
                  <a:lnTo>
                    <a:pt x="86867" y="696467"/>
                  </a:lnTo>
                  <a:lnTo>
                    <a:pt x="92963" y="717803"/>
                  </a:lnTo>
                  <a:lnTo>
                    <a:pt x="100583" y="740663"/>
                  </a:lnTo>
                  <a:lnTo>
                    <a:pt x="115823" y="783335"/>
                  </a:lnTo>
                  <a:lnTo>
                    <a:pt x="129539" y="797051"/>
                  </a:lnTo>
                  <a:lnTo>
                    <a:pt x="137159" y="818387"/>
                  </a:lnTo>
                  <a:lnTo>
                    <a:pt x="144779" y="841247"/>
                  </a:lnTo>
                  <a:lnTo>
                    <a:pt x="158495" y="862583"/>
                  </a:lnTo>
                  <a:lnTo>
                    <a:pt x="166115" y="876299"/>
                  </a:lnTo>
                  <a:lnTo>
                    <a:pt x="179831" y="897635"/>
                  </a:lnTo>
                  <a:lnTo>
                    <a:pt x="195071" y="918971"/>
                  </a:lnTo>
                  <a:lnTo>
                    <a:pt x="201167" y="934211"/>
                  </a:lnTo>
                  <a:lnTo>
                    <a:pt x="216407" y="955547"/>
                  </a:lnTo>
                  <a:lnTo>
                    <a:pt x="230123" y="969263"/>
                  </a:lnTo>
                  <a:lnTo>
                    <a:pt x="245363" y="992123"/>
                  </a:lnTo>
                  <a:lnTo>
                    <a:pt x="251459" y="1005839"/>
                  </a:lnTo>
                  <a:lnTo>
                    <a:pt x="266699" y="1027175"/>
                  </a:lnTo>
                  <a:lnTo>
                    <a:pt x="280415" y="1042415"/>
                  </a:lnTo>
                  <a:lnTo>
                    <a:pt x="295655" y="1063751"/>
                  </a:lnTo>
                  <a:lnTo>
                    <a:pt x="309371" y="1077467"/>
                  </a:lnTo>
                  <a:lnTo>
                    <a:pt x="323087" y="1092707"/>
                  </a:lnTo>
                  <a:lnTo>
                    <a:pt x="338327" y="1106423"/>
                  </a:lnTo>
                  <a:lnTo>
                    <a:pt x="352043" y="1127759"/>
                  </a:lnTo>
                  <a:lnTo>
                    <a:pt x="373379" y="1142999"/>
                  </a:lnTo>
                  <a:lnTo>
                    <a:pt x="1272539" y="243839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g2d55ca98fbc_0_533"/>
            <p:cNvSpPr/>
            <p:nvPr/>
          </p:nvSpPr>
          <p:spPr>
            <a:xfrm>
              <a:off x="5446775" y="3730751"/>
              <a:ext cx="1272540" cy="1143000"/>
            </a:xfrm>
            <a:custGeom>
              <a:rect b="b" l="l" r="r" t="t"/>
              <a:pathLst>
                <a:path extrusionOk="0" h="1143000" w="1272540">
                  <a:moveTo>
                    <a:pt x="373379" y="1142999"/>
                  </a:moveTo>
                  <a:lnTo>
                    <a:pt x="352043" y="1127759"/>
                  </a:lnTo>
                  <a:lnTo>
                    <a:pt x="338327" y="1106423"/>
                  </a:lnTo>
                  <a:lnTo>
                    <a:pt x="323087" y="1092707"/>
                  </a:lnTo>
                  <a:lnTo>
                    <a:pt x="309371" y="1077467"/>
                  </a:lnTo>
                  <a:lnTo>
                    <a:pt x="295655" y="1063751"/>
                  </a:lnTo>
                  <a:lnTo>
                    <a:pt x="280415" y="1042415"/>
                  </a:lnTo>
                  <a:lnTo>
                    <a:pt x="266699" y="1027175"/>
                  </a:lnTo>
                  <a:lnTo>
                    <a:pt x="251459" y="1005839"/>
                  </a:lnTo>
                  <a:lnTo>
                    <a:pt x="245363" y="992123"/>
                  </a:lnTo>
                  <a:lnTo>
                    <a:pt x="230123" y="969263"/>
                  </a:lnTo>
                  <a:lnTo>
                    <a:pt x="216407" y="955547"/>
                  </a:lnTo>
                  <a:lnTo>
                    <a:pt x="201167" y="934211"/>
                  </a:lnTo>
                  <a:lnTo>
                    <a:pt x="195071" y="918971"/>
                  </a:lnTo>
                  <a:lnTo>
                    <a:pt x="179831" y="897635"/>
                  </a:lnTo>
                  <a:lnTo>
                    <a:pt x="166115" y="876299"/>
                  </a:lnTo>
                  <a:lnTo>
                    <a:pt x="158495" y="862583"/>
                  </a:lnTo>
                  <a:lnTo>
                    <a:pt x="144779" y="841247"/>
                  </a:lnTo>
                  <a:lnTo>
                    <a:pt x="137159" y="818387"/>
                  </a:lnTo>
                  <a:lnTo>
                    <a:pt x="129539" y="797051"/>
                  </a:lnTo>
                  <a:lnTo>
                    <a:pt x="115823" y="783335"/>
                  </a:lnTo>
                  <a:lnTo>
                    <a:pt x="108203" y="761999"/>
                  </a:lnTo>
                  <a:lnTo>
                    <a:pt x="100583" y="740663"/>
                  </a:lnTo>
                  <a:lnTo>
                    <a:pt x="92963" y="717803"/>
                  </a:lnTo>
                  <a:lnTo>
                    <a:pt x="86867" y="696467"/>
                  </a:lnTo>
                  <a:lnTo>
                    <a:pt x="71627" y="675131"/>
                  </a:lnTo>
                  <a:lnTo>
                    <a:pt x="65531" y="653795"/>
                  </a:lnTo>
                  <a:lnTo>
                    <a:pt x="57911" y="632459"/>
                  </a:lnTo>
                  <a:lnTo>
                    <a:pt x="50291" y="611123"/>
                  </a:lnTo>
                  <a:lnTo>
                    <a:pt x="50291" y="595883"/>
                  </a:lnTo>
                  <a:lnTo>
                    <a:pt x="42671" y="574547"/>
                  </a:lnTo>
                  <a:lnTo>
                    <a:pt x="36575" y="553211"/>
                  </a:lnTo>
                  <a:lnTo>
                    <a:pt x="28955" y="531875"/>
                  </a:lnTo>
                  <a:lnTo>
                    <a:pt x="28955" y="510539"/>
                  </a:lnTo>
                  <a:lnTo>
                    <a:pt x="21335" y="487679"/>
                  </a:lnTo>
                  <a:lnTo>
                    <a:pt x="15239" y="460247"/>
                  </a:lnTo>
                  <a:lnTo>
                    <a:pt x="15239" y="437387"/>
                  </a:lnTo>
                  <a:lnTo>
                    <a:pt x="7619" y="416051"/>
                  </a:lnTo>
                  <a:lnTo>
                    <a:pt x="7619" y="373379"/>
                  </a:lnTo>
                  <a:lnTo>
                    <a:pt x="0" y="352043"/>
                  </a:lnTo>
                  <a:lnTo>
                    <a:pt x="0" y="129539"/>
                  </a:lnTo>
                  <a:lnTo>
                    <a:pt x="7619" y="106679"/>
                  </a:lnTo>
                  <a:lnTo>
                    <a:pt x="7619" y="64007"/>
                  </a:lnTo>
                  <a:lnTo>
                    <a:pt x="15239" y="42671"/>
                  </a:lnTo>
                  <a:lnTo>
                    <a:pt x="15239" y="21335"/>
                  </a:lnTo>
                  <a:lnTo>
                    <a:pt x="21335" y="0"/>
                  </a:lnTo>
                  <a:lnTo>
                    <a:pt x="1272539" y="243839"/>
                  </a:lnTo>
                  <a:lnTo>
                    <a:pt x="373379" y="114299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g2d55ca98fbc_0_533"/>
            <p:cNvSpPr/>
            <p:nvPr/>
          </p:nvSpPr>
          <p:spPr>
            <a:xfrm>
              <a:off x="5468111" y="2752344"/>
              <a:ext cx="1251584" cy="1222375"/>
            </a:xfrm>
            <a:custGeom>
              <a:rect b="b" l="l" r="r" t="t"/>
              <a:pathLst>
                <a:path extrusionOk="0" h="1222375" w="1251584">
                  <a:moveTo>
                    <a:pt x="1251204" y="1222248"/>
                  </a:moveTo>
                  <a:lnTo>
                    <a:pt x="877824" y="0"/>
                  </a:lnTo>
                  <a:lnTo>
                    <a:pt x="856488" y="7620"/>
                  </a:lnTo>
                  <a:lnTo>
                    <a:pt x="835152" y="13716"/>
                  </a:lnTo>
                  <a:lnTo>
                    <a:pt x="812292" y="21336"/>
                  </a:lnTo>
                  <a:lnTo>
                    <a:pt x="790956" y="36576"/>
                  </a:lnTo>
                  <a:lnTo>
                    <a:pt x="769620" y="42672"/>
                  </a:lnTo>
                  <a:lnTo>
                    <a:pt x="755904" y="50292"/>
                  </a:lnTo>
                  <a:lnTo>
                    <a:pt x="734568" y="57912"/>
                  </a:lnTo>
                  <a:lnTo>
                    <a:pt x="711708" y="64008"/>
                  </a:lnTo>
                  <a:lnTo>
                    <a:pt x="690372" y="79248"/>
                  </a:lnTo>
                  <a:lnTo>
                    <a:pt x="669036" y="86868"/>
                  </a:lnTo>
                  <a:lnTo>
                    <a:pt x="655320" y="92964"/>
                  </a:lnTo>
                  <a:lnTo>
                    <a:pt x="632460" y="108204"/>
                  </a:lnTo>
                  <a:lnTo>
                    <a:pt x="611124" y="114300"/>
                  </a:lnTo>
                  <a:lnTo>
                    <a:pt x="597408" y="129540"/>
                  </a:lnTo>
                  <a:lnTo>
                    <a:pt x="576072" y="143256"/>
                  </a:lnTo>
                  <a:lnTo>
                    <a:pt x="554736" y="150876"/>
                  </a:lnTo>
                  <a:lnTo>
                    <a:pt x="539496" y="164592"/>
                  </a:lnTo>
                  <a:lnTo>
                    <a:pt x="518160" y="179832"/>
                  </a:lnTo>
                  <a:lnTo>
                    <a:pt x="504444" y="193548"/>
                  </a:lnTo>
                  <a:lnTo>
                    <a:pt x="481584" y="201168"/>
                  </a:lnTo>
                  <a:lnTo>
                    <a:pt x="467868" y="214884"/>
                  </a:lnTo>
                  <a:lnTo>
                    <a:pt x="446532" y="230124"/>
                  </a:lnTo>
                  <a:lnTo>
                    <a:pt x="431292" y="243840"/>
                  </a:lnTo>
                  <a:lnTo>
                    <a:pt x="417576" y="259080"/>
                  </a:lnTo>
                  <a:lnTo>
                    <a:pt x="396240" y="272796"/>
                  </a:lnTo>
                  <a:lnTo>
                    <a:pt x="367284" y="301752"/>
                  </a:lnTo>
                  <a:lnTo>
                    <a:pt x="352044" y="323088"/>
                  </a:lnTo>
                  <a:lnTo>
                    <a:pt x="330708" y="338328"/>
                  </a:lnTo>
                  <a:lnTo>
                    <a:pt x="301752" y="367284"/>
                  </a:lnTo>
                  <a:lnTo>
                    <a:pt x="288036" y="388620"/>
                  </a:lnTo>
                  <a:lnTo>
                    <a:pt x="259080" y="417576"/>
                  </a:lnTo>
                  <a:lnTo>
                    <a:pt x="245364" y="438912"/>
                  </a:lnTo>
                  <a:lnTo>
                    <a:pt x="230124" y="452628"/>
                  </a:lnTo>
                  <a:lnTo>
                    <a:pt x="224028" y="473964"/>
                  </a:lnTo>
                  <a:lnTo>
                    <a:pt x="208788" y="489204"/>
                  </a:lnTo>
                  <a:lnTo>
                    <a:pt x="195072" y="510540"/>
                  </a:lnTo>
                  <a:lnTo>
                    <a:pt x="179832" y="524256"/>
                  </a:lnTo>
                  <a:lnTo>
                    <a:pt x="173736" y="547116"/>
                  </a:lnTo>
                  <a:lnTo>
                    <a:pt x="158496" y="568452"/>
                  </a:lnTo>
                  <a:lnTo>
                    <a:pt x="144780" y="582168"/>
                  </a:lnTo>
                  <a:lnTo>
                    <a:pt x="137160" y="603504"/>
                  </a:lnTo>
                  <a:lnTo>
                    <a:pt x="123444" y="624840"/>
                  </a:lnTo>
                  <a:lnTo>
                    <a:pt x="115824" y="640080"/>
                  </a:lnTo>
                  <a:lnTo>
                    <a:pt x="108204" y="661416"/>
                  </a:lnTo>
                  <a:lnTo>
                    <a:pt x="94488" y="682752"/>
                  </a:lnTo>
                  <a:lnTo>
                    <a:pt x="79248" y="725424"/>
                  </a:lnTo>
                  <a:lnTo>
                    <a:pt x="71628" y="740664"/>
                  </a:lnTo>
                  <a:lnTo>
                    <a:pt x="65532" y="762000"/>
                  </a:lnTo>
                  <a:lnTo>
                    <a:pt x="50292" y="783336"/>
                  </a:lnTo>
                  <a:lnTo>
                    <a:pt x="44196" y="804672"/>
                  </a:lnTo>
                  <a:lnTo>
                    <a:pt x="36576" y="827532"/>
                  </a:lnTo>
                  <a:lnTo>
                    <a:pt x="28956" y="848868"/>
                  </a:lnTo>
                  <a:lnTo>
                    <a:pt x="28956" y="870204"/>
                  </a:lnTo>
                  <a:lnTo>
                    <a:pt x="21336" y="891540"/>
                  </a:lnTo>
                  <a:lnTo>
                    <a:pt x="15240" y="912876"/>
                  </a:lnTo>
                  <a:lnTo>
                    <a:pt x="7620" y="934212"/>
                  </a:lnTo>
                  <a:lnTo>
                    <a:pt x="7620" y="955548"/>
                  </a:lnTo>
                  <a:lnTo>
                    <a:pt x="0" y="978408"/>
                  </a:lnTo>
                  <a:lnTo>
                    <a:pt x="1251204" y="1222248"/>
                  </a:ln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g2d55ca98fbc_0_533"/>
            <p:cNvSpPr/>
            <p:nvPr/>
          </p:nvSpPr>
          <p:spPr>
            <a:xfrm>
              <a:off x="5468111" y="2752343"/>
              <a:ext cx="1251584" cy="1222375"/>
            </a:xfrm>
            <a:custGeom>
              <a:rect b="b" l="l" r="r" t="t"/>
              <a:pathLst>
                <a:path extrusionOk="0" h="1222375" w="1251584">
                  <a:moveTo>
                    <a:pt x="0" y="978407"/>
                  </a:moveTo>
                  <a:lnTo>
                    <a:pt x="7619" y="955547"/>
                  </a:lnTo>
                  <a:lnTo>
                    <a:pt x="7619" y="934211"/>
                  </a:lnTo>
                  <a:lnTo>
                    <a:pt x="15239" y="912875"/>
                  </a:lnTo>
                  <a:lnTo>
                    <a:pt x="21335" y="891539"/>
                  </a:lnTo>
                  <a:lnTo>
                    <a:pt x="28955" y="870203"/>
                  </a:lnTo>
                  <a:lnTo>
                    <a:pt x="28955" y="848867"/>
                  </a:lnTo>
                  <a:lnTo>
                    <a:pt x="36575" y="827531"/>
                  </a:lnTo>
                  <a:lnTo>
                    <a:pt x="44195" y="804671"/>
                  </a:lnTo>
                  <a:lnTo>
                    <a:pt x="50291" y="783335"/>
                  </a:lnTo>
                  <a:lnTo>
                    <a:pt x="65531" y="761999"/>
                  </a:lnTo>
                  <a:lnTo>
                    <a:pt x="71627" y="740663"/>
                  </a:lnTo>
                  <a:lnTo>
                    <a:pt x="79247" y="725423"/>
                  </a:lnTo>
                  <a:lnTo>
                    <a:pt x="86867" y="704087"/>
                  </a:lnTo>
                  <a:lnTo>
                    <a:pt x="94487" y="682751"/>
                  </a:lnTo>
                  <a:lnTo>
                    <a:pt x="108203" y="661415"/>
                  </a:lnTo>
                  <a:lnTo>
                    <a:pt x="115823" y="640079"/>
                  </a:lnTo>
                  <a:lnTo>
                    <a:pt x="123443" y="624839"/>
                  </a:lnTo>
                  <a:lnTo>
                    <a:pt x="137159" y="603503"/>
                  </a:lnTo>
                  <a:lnTo>
                    <a:pt x="144779" y="582167"/>
                  </a:lnTo>
                  <a:lnTo>
                    <a:pt x="158495" y="568451"/>
                  </a:lnTo>
                  <a:lnTo>
                    <a:pt x="173735" y="547115"/>
                  </a:lnTo>
                  <a:lnTo>
                    <a:pt x="179831" y="524255"/>
                  </a:lnTo>
                  <a:lnTo>
                    <a:pt x="195071" y="510539"/>
                  </a:lnTo>
                  <a:lnTo>
                    <a:pt x="208787" y="489203"/>
                  </a:lnTo>
                  <a:lnTo>
                    <a:pt x="224027" y="473963"/>
                  </a:lnTo>
                  <a:lnTo>
                    <a:pt x="230123" y="452627"/>
                  </a:lnTo>
                  <a:lnTo>
                    <a:pt x="245363" y="438911"/>
                  </a:lnTo>
                  <a:lnTo>
                    <a:pt x="259079" y="417575"/>
                  </a:lnTo>
                  <a:lnTo>
                    <a:pt x="274319" y="402335"/>
                  </a:lnTo>
                  <a:lnTo>
                    <a:pt x="288035" y="388619"/>
                  </a:lnTo>
                  <a:lnTo>
                    <a:pt x="301751" y="367283"/>
                  </a:lnTo>
                  <a:lnTo>
                    <a:pt x="316991" y="352043"/>
                  </a:lnTo>
                  <a:lnTo>
                    <a:pt x="330707" y="338327"/>
                  </a:lnTo>
                  <a:lnTo>
                    <a:pt x="352043" y="323087"/>
                  </a:lnTo>
                  <a:lnTo>
                    <a:pt x="367283" y="301751"/>
                  </a:lnTo>
                  <a:lnTo>
                    <a:pt x="380999" y="288035"/>
                  </a:lnTo>
                  <a:lnTo>
                    <a:pt x="396239" y="272795"/>
                  </a:lnTo>
                  <a:lnTo>
                    <a:pt x="417575" y="259079"/>
                  </a:lnTo>
                  <a:lnTo>
                    <a:pt x="431291" y="243839"/>
                  </a:lnTo>
                  <a:lnTo>
                    <a:pt x="446531" y="230123"/>
                  </a:lnTo>
                  <a:lnTo>
                    <a:pt x="467867" y="214883"/>
                  </a:lnTo>
                  <a:lnTo>
                    <a:pt x="481583" y="201167"/>
                  </a:lnTo>
                  <a:lnTo>
                    <a:pt x="504443" y="193547"/>
                  </a:lnTo>
                  <a:lnTo>
                    <a:pt x="518159" y="179831"/>
                  </a:lnTo>
                  <a:lnTo>
                    <a:pt x="539495" y="164591"/>
                  </a:lnTo>
                  <a:lnTo>
                    <a:pt x="554735" y="150875"/>
                  </a:lnTo>
                  <a:lnTo>
                    <a:pt x="576071" y="143255"/>
                  </a:lnTo>
                  <a:lnTo>
                    <a:pt x="597407" y="129539"/>
                  </a:lnTo>
                  <a:lnTo>
                    <a:pt x="611123" y="114299"/>
                  </a:lnTo>
                  <a:lnTo>
                    <a:pt x="632459" y="108203"/>
                  </a:lnTo>
                  <a:lnTo>
                    <a:pt x="655319" y="92963"/>
                  </a:lnTo>
                  <a:lnTo>
                    <a:pt x="669035" y="86867"/>
                  </a:lnTo>
                  <a:lnTo>
                    <a:pt x="690371" y="79247"/>
                  </a:lnTo>
                  <a:lnTo>
                    <a:pt x="711707" y="64007"/>
                  </a:lnTo>
                  <a:lnTo>
                    <a:pt x="734567" y="57911"/>
                  </a:lnTo>
                  <a:lnTo>
                    <a:pt x="755903" y="50291"/>
                  </a:lnTo>
                  <a:lnTo>
                    <a:pt x="769619" y="42671"/>
                  </a:lnTo>
                  <a:lnTo>
                    <a:pt x="790955" y="36575"/>
                  </a:lnTo>
                  <a:lnTo>
                    <a:pt x="812291" y="21335"/>
                  </a:lnTo>
                  <a:lnTo>
                    <a:pt x="835151" y="13715"/>
                  </a:lnTo>
                  <a:lnTo>
                    <a:pt x="856487" y="7619"/>
                  </a:lnTo>
                  <a:lnTo>
                    <a:pt x="877823" y="0"/>
                  </a:lnTo>
                  <a:lnTo>
                    <a:pt x="1251203" y="1222247"/>
                  </a:lnTo>
                  <a:lnTo>
                    <a:pt x="0" y="978407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g2d55ca98fbc_0_533"/>
            <p:cNvSpPr/>
            <p:nvPr/>
          </p:nvSpPr>
          <p:spPr>
            <a:xfrm>
              <a:off x="6345935" y="2702051"/>
              <a:ext cx="373379" cy="1272539"/>
            </a:xfrm>
            <a:custGeom>
              <a:rect b="b" l="l" r="r" t="t"/>
              <a:pathLst>
                <a:path extrusionOk="0" h="1272539" w="373379">
                  <a:moveTo>
                    <a:pt x="373379" y="1272539"/>
                  </a:moveTo>
                  <a:lnTo>
                    <a:pt x="373379" y="0"/>
                  </a:lnTo>
                  <a:lnTo>
                    <a:pt x="259079" y="0"/>
                  </a:lnTo>
                  <a:lnTo>
                    <a:pt x="237743" y="7619"/>
                  </a:lnTo>
                  <a:lnTo>
                    <a:pt x="193547" y="7619"/>
                  </a:lnTo>
                  <a:lnTo>
                    <a:pt x="172211" y="13715"/>
                  </a:lnTo>
                  <a:lnTo>
                    <a:pt x="150875" y="13715"/>
                  </a:lnTo>
                  <a:lnTo>
                    <a:pt x="108203" y="28955"/>
                  </a:lnTo>
                  <a:lnTo>
                    <a:pt x="86867" y="28955"/>
                  </a:lnTo>
                  <a:lnTo>
                    <a:pt x="64007" y="36575"/>
                  </a:lnTo>
                  <a:lnTo>
                    <a:pt x="42671" y="42671"/>
                  </a:lnTo>
                  <a:lnTo>
                    <a:pt x="21335" y="50291"/>
                  </a:lnTo>
                  <a:lnTo>
                    <a:pt x="0" y="50291"/>
                  </a:lnTo>
                  <a:lnTo>
                    <a:pt x="373379" y="1272539"/>
                  </a:lnTo>
                  <a:close/>
                </a:path>
              </a:pathLst>
            </a:custGeom>
            <a:solidFill>
              <a:srgbClr val="FF65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g2d55ca98fbc_0_533"/>
            <p:cNvSpPr/>
            <p:nvPr/>
          </p:nvSpPr>
          <p:spPr>
            <a:xfrm>
              <a:off x="6345935" y="2702051"/>
              <a:ext cx="373379" cy="1272539"/>
            </a:xfrm>
            <a:custGeom>
              <a:rect b="b" l="l" r="r" t="t"/>
              <a:pathLst>
                <a:path extrusionOk="0" h="1272539" w="373379">
                  <a:moveTo>
                    <a:pt x="0" y="50291"/>
                  </a:moveTo>
                  <a:lnTo>
                    <a:pt x="21335" y="50291"/>
                  </a:lnTo>
                  <a:lnTo>
                    <a:pt x="42671" y="42671"/>
                  </a:lnTo>
                  <a:lnTo>
                    <a:pt x="64007" y="36575"/>
                  </a:lnTo>
                  <a:lnTo>
                    <a:pt x="86867" y="28955"/>
                  </a:lnTo>
                  <a:lnTo>
                    <a:pt x="108203" y="28955"/>
                  </a:lnTo>
                  <a:lnTo>
                    <a:pt x="129539" y="21335"/>
                  </a:lnTo>
                  <a:lnTo>
                    <a:pt x="150875" y="13715"/>
                  </a:lnTo>
                  <a:lnTo>
                    <a:pt x="172211" y="13715"/>
                  </a:lnTo>
                  <a:lnTo>
                    <a:pt x="193547" y="7619"/>
                  </a:lnTo>
                  <a:lnTo>
                    <a:pt x="237743" y="7619"/>
                  </a:lnTo>
                  <a:lnTo>
                    <a:pt x="259079" y="0"/>
                  </a:lnTo>
                  <a:lnTo>
                    <a:pt x="373379" y="0"/>
                  </a:lnTo>
                  <a:lnTo>
                    <a:pt x="373379" y="1272539"/>
                  </a:lnTo>
                  <a:lnTo>
                    <a:pt x="0" y="5029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" name="Google Shape;268;g2d55ca98fbc_0_533"/>
          <p:cNvSpPr txBox="1"/>
          <p:nvPr/>
        </p:nvSpPr>
        <p:spPr>
          <a:xfrm>
            <a:off x="8866712" y="2922313"/>
            <a:ext cx="5718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10,9%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2d55ca98fbc_0_533"/>
          <p:cNvSpPr txBox="1"/>
          <p:nvPr/>
        </p:nvSpPr>
        <p:spPr>
          <a:xfrm>
            <a:off x="9676264" y="3560614"/>
            <a:ext cx="4662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9,4%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2d55ca98fbc_0_533"/>
          <p:cNvSpPr txBox="1"/>
          <p:nvPr/>
        </p:nvSpPr>
        <p:spPr>
          <a:xfrm>
            <a:off x="9925357" y="4844330"/>
            <a:ext cx="403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15,6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2d55ca98fbc_0_533"/>
          <p:cNvSpPr txBox="1"/>
          <p:nvPr/>
        </p:nvSpPr>
        <p:spPr>
          <a:xfrm>
            <a:off x="9374333" y="5841788"/>
            <a:ext cx="4641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6,3%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2d55ca98fbc_0_533"/>
          <p:cNvSpPr txBox="1"/>
          <p:nvPr/>
        </p:nvSpPr>
        <p:spPr>
          <a:xfrm>
            <a:off x="7691063" y="6177830"/>
            <a:ext cx="5718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20,3%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2d55ca98fbc_0_533"/>
          <p:cNvSpPr txBox="1"/>
          <p:nvPr/>
        </p:nvSpPr>
        <p:spPr>
          <a:xfrm>
            <a:off x="6213487" y="5002572"/>
            <a:ext cx="5718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15,6%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2d55ca98fbc_0_533"/>
          <p:cNvSpPr txBox="1"/>
          <p:nvPr/>
        </p:nvSpPr>
        <p:spPr>
          <a:xfrm>
            <a:off x="6551273" y="3366813"/>
            <a:ext cx="5718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17,2%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2d55ca98fbc_0_533"/>
          <p:cNvSpPr txBox="1"/>
          <p:nvPr/>
        </p:nvSpPr>
        <p:spPr>
          <a:xfrm>
            <a:off x="7726918" y="2854749"/>
            <a:ext cx="4662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" name="Google Shape;276;g2d55ca98fbc_0_533"/>
          <p:cNvGrpSpPr/>
          <p:nvPr/>
        </p:nvGrpSpPr>
        <p:grpSpPr>
          <a:xfrm>
            <a:off x="6638524" y="6406316"/>
            <a:ext cx="3365180" cy="512671"/>
            <a:chOff x="5361431" y="5490971"/>
            <a:chExt cx="2717800" cy="439420"/>
          </a:xfrm>
        </p:grpSpPr>
        <p:sp>
          <p:nvSpPr>
            <p:cNvPr id="277" name="Google Shape;277;g2d55ca98fbc_0_533"/>
            <p:cNvSpPr/>
            <p:nvPr/>
          </p:nvSpPr>
          <p:spPr>
            <a:xfrm>
              <a:off x="5361431" y="5490971"/>
              <a:ext cx="2717800" cy="439420"/>
            </a:xfrm>
            <a:custGeom>
              <a:rect b="b" l="l" r="r" t="t"/>
              <a:pathLst>
                <a:path extrusionOk="0" h="439420" w="2717800">
                  <a:moveTo>
                    <a:pt x="0" y="0"/>
                  </a:moveTo>
                  <a:lnTo>
                    <a:pt x="0" y="438911"/>
                  </a:lnTo>
                  <a:lnTo>
                    <a:pt x="2717291" y="438911"/>
                  </a:lnTo>
                  <a:lnTo>
                    <a:pt x="271729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2d55ca98fbc_0_533"/>
            <p:cNvSpPr/>
            <p:nvPr/>
          </p:nvSpPr>
          <p:spPr>
            <a:xfrm>
              <a:off x="5489447" y="5570219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79247" y="79247"/>
                  </a:moveTo>
                  <a:lnTo>
                    <a:pt x="79247" y="0"/>
                  </a:lnTo>
                  <a:lnTo>
                    <a:pt x="0" y="0"/>
                  </a:lnTo>
                  <a:lnTo>
                    <a:pt x="0" y="79247"/>
                  </a:lnTo>
                  <a:lnTo>
                    <a:pt x="79247" y="79247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2d55ca98fbc_0_533"/>
            <p:cNvSpPr/>
            <p:nvPr/>
          </p:nvSpPr>
          <p:spPr>
            <a:xfrm>
              <a:off x="5489447" y="5570219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0" y="0"/>
                  </a:moveTo>
                  <a:lnTo>
                    <a:pt x="0" y="79247"/>
                  </a:lnTo>
                  <a:lnTo>
                    <a:pt x="79247" y="79247"/>
                  </a:lnTo>
                  <a:lnTo>
                    <a:pt x="7924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2d55ca98fbc_0_533"/>
            <p:cNvSpPr/>
            <p:nvPr/>
          </p:nvSpPr>
          <p:spPr>
            <a:xfrm>
              <a:off x="6173723" y="5570219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79247" y="79247"/>
                  </a:moveTo>
                  <a:lnTo>
                    <a:pt x="79247" y="0"/>
                  </a:lnTo>
                  <a:lnTo>
                    <a:pt x="0" y="0"/>
                  </a:lnTo>
                  <a:lnTo>
                    <a:pt x="0" y="79247"/>
                  </a:lnTo>
                  <a:lnTo>
                    <a:pt x="79247" y="79247"/>
                  </a:lnTo>
                  <a:close/>
                </a:path>
              </a:pathLst>
            </a:custGeom>
            <a:solidFill>
              <a:srgbClr val="007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2d55ca98fbc_0_533"/>
            <p:cNvSpPr/>
            <p:nvPr/>
          </p:nvSpPr>
          <p:spPr>
            <a:xfrm>
              <a:off x="6173723" y="5570219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0" y="0"/>
                  </a:moveTo>
                  <a:lnTo>
                    <a:pt x="0" y="79247"/>
                  </a:lnTo>
                  <a:lnTo>
                    <a:pt x="79247" y="79247"/>
                  </a:lnTo>
                  <a:lnTo>
                    <a:pt x="7924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2d55ca98fbc_0_533"/>
            <p:cNvSpPr/>
            <p:nvPr/>
          </p:nvSpPr>
          <p:spPr>
            <a:xfrm>
              <a:off x="6856475" y="5570219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79247" y="79247"/>
                  </a:moveTo>
                  <a:lnTo>
                    <a:pt x="79247" y="0"/>
                  </a:lnTo>
                  <a:lnTo>
                    <a:pt x="0" y="0"/>
                  </a:lnTo>
                  <a:lnTo>
                    <a:pt x="0" y="79247"/>
                  </a:lnTo>
                  <a:lnTo>
                    <a:pt x="79247" y="7924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2d55ca98fbc_0_533"/>
            <p:cNvSpPr/>
            <p:nvPr/>
          </p:nvSpPr>
          <p:spPr>
            <a:xfrm>
              <a:off x="6856475" y="5570219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0" y="0"/>
                  </a:moveTo>
                  <a:lnTo>
                    <a:pt x="0" y="79247"/>
                  </a:lnTo>
                  <a:lnTo>
                    <a:pt x="79247" y="79247"/>
                  </a:lnTo>
                  <a:lnTo>
                    <a:pt x="7924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2d55ca98fbc_0_533"/>
            <p:cNvSpPr/>
            <p:nvPr/>
          </p:nvSpPr>
          <p:spPr>
            <a:xfrm>
              <a:off x="7531607" y="5570219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79247" y="79247"/>
                  </a:moveTo>
                  <a:lnTo>
                    <a:pt x="79247" y="0"/>
                  </a:lnTo>
                  <a:lnTo>
                    <a:pt x="0" y="0"/>
                  </a:lnTo>
                  <a:lnTo>
                    <a:pt x="0" y="79247"/>
                  </a:lnTo>
                  <a:lnTo>
                    <a:pt x="79247" y="79247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2d55ca98fbc_0_533"/>
            <p:cNvSpPr/>
            <p:nvPr/>
          </p:nvSpPr>
          <p:spPr>
            <a:xfrm>
              <a:off x="7531607" y="5570219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0" y="0"/>
                  </a:moveTo>
                  <a:lnTo>
                    <a:pt x="0" y="79247"/>
                  </a:lnTo>
                  <a:lnTo>
                    <a:pt x="79247" y="79247"/>
                  </a:lnTo>
                  <a:lnTo>
                    <a:pt x="7924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2d55ca98fbc_0_533"/>
            <p:cNvSpPr/>
            <p:nvPr/>
          </p:nvSpPr>
          <p:spPr>
            <a:xfrm>
              <a:off x="5489447" y="5786627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79247" y="79247"/>
                  </a:moveTo>
                  <a:lnTo>
                    <a:pt x="79247" y="0"/>
                  </a:lnTo>
                  <a:lnTo>
                    <a:pt x="0" y="0"/>
                  </a:lnTo>
                  <a:lnTo>
                    <a:pt x="0" y="79247"/>
                  </a:lnTo>
                  <a:lnTo>
                    <a:pt x="79247" y="79247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2d55ca98fbc_0_533"/>
            <p:cNvSpPr/>
            <p:nvPr/>
          </p:nvSpPr>
          <p:spPr>
            <a:xfrm>
              <a:off x="5489447" y="5786627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0" y="0"/>
                  </a:moveTo>
                  <a:lnTo>
                    <a:pt x="0" y="79247"/>
                  </a:lnTo>
                  <a:lnTo>
                    <a:pt x="79247" y="79247"/>
                  </a:lnTo>
                  <a:lnTo>
                    <a:pt x="7924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" name="Google Shape;288;g2d55ca98fbc_0_533"/>
          <p:cNvSpPr txBox="1"/>
          <p:nvPr/>
        </p:nvSpPr>
        <p:spPr>
          <a:xfrm>
            <a:off x="6950077" y="6364514"/>
            <a:ext cx="3948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</a:t>
            </a:r>
            <a:r>
              <a:rPr b="0" i="0" lang="pt-BR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</a:t>
            </a:r>
            <a:r>
              <a:rPr b="0" i="0" lang="pt-BR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89" name="Google Shape;289;g2d55ca98fbc_0_533"/>
          <p:cNvGrpSpPr/>
          <p:nvPr/>
        </p:nvGrpSpPr>
        <p:grpSpPr>
          <a:xfrm>
            <a:off x="7644304" y="6751258"/>
            <a:ext cx="1779614" cy="92607"/>
            <a:chOff x="6173723" y="5786627"/>
            <a:chExt cx="1437259" cy="79375"/>
          </a:xfrm>
        </p:grpSpPr>
        <p:sp>
          <p:nvSpPr>
            <p:cNvPr id="290" name="Google Shape;290;g2d55ca98fbc_0_533"/>
            <p:cNvSpPr/>
            <p:nvPr/>
          </p:nvSpPr>
          <p:spPr>
            <a:xfrm>
              <a:off x="6173723" y="5786627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79247" y="79247"/>
                  </a:moveTo>
                  <a:lnTo>
                    <a:pt x="79247" y="0"/>
                  </a:lnTo>
                  <a:lnTo>
                    <a:pt x="0" y="0"/>
                  </a:lnTo>
                  <a:lnTo>
                    <a:pt x="0" y="79247"/>
                  </a:lnTo>
                  <a:lnTo>
                    <a:pt x="79247" y="79247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2d55ca98fbc_0_533"/>
            <p:cNvSpPr/>
            <p:nvPr/>
          </p:nvSpPr>
          <p:spPr>
            <a:xfrm>
              <a:off x="6173723" y="5786627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0" y="0"/>
                  </a:moveTo>
                  <a:lnTo>
                    <a:pt x="0" y="79247"/>
                  </a:lnTo>
                  <a:lnTo>
                    <a:pt x="79247" y="79247"/>
                  </a:lnTo>
                  <a:lnTo>
                    <a:pt x="7924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2d55ca98fbc_0_533"/>
            <p:cNvSpPr/>
            <p:nvPr/>
          </p:nvSpPr>
          <p:spPr>
            <a:xfrm>
              <a:off x="6856475" y="5786627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79247" y="79247"/>
                  </a:moveTo>
                  <a:lnTo>
                    <a:pt x="79247" y="0"/>
                  </a:lnTo>
                  <a:lnTo>
                    <a:pt x="0" y="0"/>
                  </a:lnTo>
                  <a:lnTo>
                    <a:pt x="0" y="79247"/>
                  </a:lnTo>
                  <a:lnTo>
                    <a:pt x="79247" y="79247"/>
                  </a:ln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2d55ca98fbc_0_533"/>
            <p:cNvSpPr/>
            <p:nvPr/>
          </p:nvSpPr>
          <p:spPr>
            <a:xfrm>
              <a:off x="6856475" y="5786627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0" y="0"/>
                  </a:moveTo>
                  <a:lnTo>
                    <a:pt x="0" y="79247"/>
                  </a:lnTo>
                  <a:lnTo>
                    <a:pt x="79247" y="79247"/>
                  </a:lnTo>
                  <a:lnTo>
                    <a:pt x="7924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2d55ca98fbc_0_533"/>
            <p:cNvSpPr/>
            <p:nvPr/>
          </p:nvSpPr>
          <p:spPr>
            <a:xfrm>
              <a:off x="7531607" y="5786627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79247" y="79247"/>
                  </a:moveTo>
                  <a:lnTo>
                    <a:pt x="79247" y="0"/>
                  </a:lnTo>
                  <a:lnTo>
                    <a:pt x="0" y="0"/>
                  </a:lnTo>
                  <a:lnTo>
                    <a:pt x="0" y="79247"/>
                  </a:lnTo>
                  <a:lnTo>
                    <a:pt x="79247" y="79247"/>
                  </a:lnTo>
                  <a:close/>
                </a:path>
              </a:pathLst>
            </a:custGeom>
            <a:solidFill>
              <a:srgbClr val="FF65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2d55ca98fbc_0_533"/>
            <p:cNvSpPr/>
            <p:nvPr/>
          </p:nvSpPr>
          <p:spPr>
            <a:xfrm>
              <a:off x="7531607" y="5786627"/>
              <a:ext cx="79375" cy="79375"/>
            </a:xfrm>
            <a:custGeom>
              <a:rect b="b" l="l" r="r" t="t"/>
              <a:pathLst>
                <a:path extrusionOk="0" h="79375" w="79375">
                  <a:moveTo>
                    <a:pt x="0" y="0"/>
                  </a:moveTo>
                  <a:lnTo>
                    <a:pt x="0" y="79247"/>
                  </a:lnTo>
                  <a:lnTo>
                    <a:pt x="79247" y="79247"/>
                  </a:lnTo>
                  <a:lnTo>
                    <a:pt x="7924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" name="Google Shape;296;g2d55ca98fbc_0_533"/>
          <p:cNvSpPr txBox="1"/>
          <p:nvPr/>
        </p:nvSpPr>
        <p:spPr>
          <a:xfrm>
            <a:off x="7795485" y="6364514"/>
            <a:ext cx="3948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</a:t>
            </a:r>
            <a:r>
              <a:rPr b="0" i="0" lang="pt-BR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</a:t>
            </a:r>
            <a:r>
              <a:rPr b="0" i="0" lang="pt-BR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" name="Google Shape;297;g2d55ca98fbc_0_533"/>
          <p:cNvSpPr txBox="1"/>
          <p:nvPr/>
        </p:nvSpPr>
        <p:spPr>
          <a:xfrm>
            <a:off x="8642780" y="6364514"/>
            <a:ext cx="3948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</a:t>
            </a:r>
            <a:r>
              <a:rPr b="0" i="0" lang="pt-BR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</a:t>
            </a:r>
            <a:r>
              <a:rPr b="0" i="0" lang="pt-BR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g2d55ca98fbc_0_533"/>
          <p:cNvSpPr txBox="1"/>
          <p:nvPr/>
        </p:nvSpPr>
        <p:spPr>
          <a:xfrm>
            <a:off x="9478752" y="6364514"/>
            <a:ext cx="3948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</a:t>
            </a:r>
            <a:r>
              <a:rPr b="0" i="0" lang="pt-BR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</a:t>
            </a:r>
            <a:r>
              <a:rPr b="0" i="0" lang="pt-BR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pt-BR" sz="1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g2d55ca98fbc_0_533"/>
          <p:cNvSpPr txBox="1"/>
          <p:nvPr/>
        </p:nvSpPr>
        <p:spPr>
          <a:xfrm>
            <a:off x="794475" y="1737200"/>
            <a:ext cx="88134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Encontrar	a cadeia de 20 bits com o maior número de bits 1.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População inicial: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8 indivíduos aleatórios.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d55ca98fbc_0_597"/>
          <p:cNvSpPr txBox="1"/>
          <p:nvPr>
            <p:ph type="title"/>
          </p:nvPr>
        </p:nvSpPr>
        <p:spPr>
          <a:xfrm>
            <a:off x="512600" y="7808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Exemplo AG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305" name="Google Shape;305;g2d55ca98fbc_0_59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6" name="Google Shape;306;g2d55ca98fbc_0_59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7" name="Google Shape;307;g2d55ca98fbc_0_597"/>
          <p:cNvSpPr txBox="1"/>
          <p:nvPr/>
        </p:nvSpPr>
        <p:spPr>
          <a:xfrm>
            <a:off x="674825" y="1740525"/>
            <a:ext cx="95343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Seleção: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método da roleta (</a:t>
            </a:r>
            <a:r>
              <a:rPr b="0" i="1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roulette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Sorteiam-se tantos números (0 a ΣFitness) quantos forem os indivíduos na população. Através do Fitness acumulado localizam-se os indivíduos selecionados.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08" name="Google Shape;308;g2d55ca98fbc_0_597"/>
          <p:cNvGraphicFramePr/>
          <p:nvPr/>
        </p:nvGraphicFramePr>
        <p:xfrm>
          <a:off x="820129" y="38265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{7754D457-AFFB-42E9-B695-33D085F5DAB1}</a:tableStyleId>
              </a:tblPr>
              <a:tblGrid>
                <a:gridCol w="1347700"/>
                <a:gridCol w="1506500"/>
              </a:tblGrid>
              <a:tr h="40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Indivíduo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Fitness ac.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61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8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64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9" name="Google Shape;309;g2d55ca98fbc_0_597"/>
          <p:cNvGraphicFramePr/>
          <p:nvPr/>
        </p:nvGraphicFramePr>
        <p:xfrm>
          <a:off x="4014569" y="38265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{7754D457-AFFB-42E9-B695-33D085F5DAB1}</a:tableStyleId>
              </a:tblPr>
              <a:tblGrid>
                <a:gridCol w="1107100"/>
                <a:gridCol w="1363175"/>
                <a:gridCol w="3151450"/>
              </a:tblGrid>
              <a:tr h="40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Sorteio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Indivíduo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Cromossomo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11001010101010100101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48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10101000101001110110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59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10111010111000100101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11001000101000100100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35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11001110101011101101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42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10101000101001110110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11001110101011101101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11001010101010100101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f08fbadba_0_8"/>
          <p:cNvSpPr txBox="1"/>
          <p:nvPr>
            <p:ph type="title"/>
          </p:nvPr>
        </p:nvSpPr>
        <p:spPr>
          <a:xfrm>
            <a:off x="512600" y="7808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Exemplo AG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315" name="Google Shape;315;g35f08fbadba_0_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6" name="Google Shape;316;g35f08fbadba_0_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g35f08fbadba_0_8"/>
          <p:cNvSpPr txBox="1"/>
          <p:nvPr/>
        </p:nvSpPr>
        <p:spPr>
          <a:xfrm>
            <a:off x="674825" y="1740525"/>
            <a:ext cx="95343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Seleção: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método do torneio (</a:t>
            </a:r>
            <a:r>
              <a:rPr b="0" i="1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tournament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8" name="Google Shape;318;g35f08fbadba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8800" y="2430325"/>
            <a:ext cx="5606325" cy="48843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g35f08fbadba_0_8"/>
          <p:cNvCxnSpPr/>
          <p:nvPr/>
        </p:nvCxnSpPr>
        <p:spPr>
          <a:xfrm rot="10800000">
            <a:off x="7934425" y="4783975"/>
            <a:ext cx="1027800" cy="37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" name="Google Shape;320;g35f08fbadba_0_8"/>
          <p:cNvSpPr txBox="1"/>
          <p:nvPr/>
        </p:nvSpPr>
        <p:spPr>
          <a:xfrm>
            <a:off x="8753700" y="5158975"/>
            <a:ext cx="17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</a:t>
            </a:r>
            <a:endParaRPr b="0" i="0" sz="1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d55ca98fbc_0_657"/>
          <p:cNvSpPr txBox="1"/>
          <p:nvPr>
            <p:ph type="title"/>
          </p:nvPr>
        </p:nvSpPr>
        <p:spPr>
          <a:xfrm>
            <a:off x="512600" y="7808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Exemplo AG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326" name="Google Shape;326;g2d55ca98fbc_0_65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7" name="Google Shape;327;g2d55ca98fbc_0_65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8" name="Google Shape;328;g2d55ca98fbc_0_657"/>
          <p:cNvSpPr txBox="1"/>
          <p:nvPr/>
        </p:nvSpPr>
        <p:spPr>
          <a:xfrm>
            <a:off x="674825" y="1740525"/>
            <a:ext cx="95343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Cruzamento: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ponto aleatório (pode ser de dois pontos).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Taxa de cruzamento varia de 60 a 80%;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Adotada = 80%.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29" name="Google Shape;329;g2d55ca98fbc_0_657"/>
          <p:cNvGraphicFramePr/>
          <p:nvPr/>
        </p:nvGraphicFramePr>
        <p:xfrm>
          <a:off x="512603" y="33199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{7754D457-AFFB-42E9-B695-33D085F5DAB1}</a:tableStyleId>
              </a:tblPr>
              <a:tblGrid>
                <a:gridCol w="1159000"/>
                <a:gridCol w="1427100"/>
                <a:gridCol w="3299225"/>
                <a:gridCol w="3297675"/>
              </a:tblGrid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Sorteio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Indivíduo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Cromossomos pais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Cromossomos filhos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11001010101010</a:t>
                      </a:r>
                      <a:r>
                        <a:rPr lang="pt-BR" sz="2000" u="none" cap="none" strike="noStrike">
                          <a:solidFill>
                            <a:srgbClr val="FF99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11001010101010</a:t>
                      </a:r>
                      <a:r>
                        <a:rPr lang="pt-BR" sz="2000" u="none" cap="none" strike="noStrike">
                          <a:solidFill>
                            <a:srgbClr val="0099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10101000101001</a:t>
                      </a:r>
                      <a:r>
                        <a:rPr lang="pt-BR" sz="2000" u="none" cap="none" strike="noStrike">
                          <a:solidFill>
                            <a:srgbClr val="0099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10101000101001</a:t>
                      </a:r>
                      <a:r>
                        <a:rPr lang="pt-BR" sz="2000" u="none" cap="none" strike="noStrike">
                          <a:solidFill>
                            <a:srgbClr val="FF99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101110</a:t>
                      </a:r>
                      <a:r>
                        <a:rPr lang="pt-BR" sz="2000" u="none" cap="none" strike="noStrike">
                          <a:solidFill>
                            <a:srgbClr val="FF99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10111000100101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101110</a:t>
                      </a:r>
                      <a:r>
                        <a:rPr lang="pt-BR" sz="2000" u="none" cap="none" strike="noStrike">
                          <a:solidFill>
                            <a:srgbClr val="0099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00101000100100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</a:t>
                      </a:r>
                      <a:r>
                        <a:rPr lang="pt-BR" sz="2000" u="none" cap="none" strike="noStrike">
                          <a:solidFill>
                            <a:srgbClr val="0099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00101000100100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</a:t>
                      </a:r>
                      <a:r>
                        <a:rPr lang="pt-BR" sz="2000" u="none" cap="none" strike="noStrike">
                          <a:solidFill>
                            <a:srgbClr val="FF99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10111000100101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</a:t>
                      </a:r>
                      <a:r>
                        <a:rPr lang="pt-BR" sz="2000" u="none" cap="none" strike="noStrike">
                          <a:solidFill>
                            <a:srgbClr val="FF99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11101101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</a:t>
                      </a:r>
                      <a:r>
                        <a:rPr lang="pt-BR" sz="2000" u="none" cap="none" strike="noStrike">
                          <a:solidFill>
                            <a:srgbClr val="0099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01110110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</a:t>
                      </a:r>
                      <a:r>
                        <a:rPr lang="pt-BR" sz="2000" u="none" cap="none" strike="noStrike">
                          <a:solidFill>
                            <a:srgbClr val="0099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01110110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</a:t>
                      </a:r>
                      <a:r>
                        <a:rPr lang="pt-BR" sz="2000" u="none" cap="none" strike="noStrike">
                          <a:solidFill>
                            <a:srgbClr val="FF99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11101101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81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11001110101011101101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11001110101011101101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11001010101010100101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11001010101010100101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55ca98fbc_0_670"/>
          <p:cNvSpPr txBox="1"/>
          <p:nvPr>
            <p:ph type="title"/>
          </p:nvPr>
        </p:nvSpPr>
        <p:spPr>
          <a:xfrm>
            <a:off x="512600" y="7808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Exemplo AG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335" name="Google Shape;335;g2d55ca98fbc_0_67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6" name="Google Shape;336;g2d55ca98fbc_0_67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7" name="Google Shape;337;g2d55ca98fbc_0_670"/>
          <p:cNvSpPr txBox="1"/>
          <p:nvPr/>
        </p:nvSpPr>
        <p:spPr>
          <a:xfrm>
            <a:off x="674825" y="1740525"/>
            <a:ext cx="95343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Mutação:</a:t>
            </a:r>
            <a:endParaRPr b="1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Taxa de mutação varia de 0,5% a 5%;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Adotada = 2%.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38" name="Google Shape;338;g2d55ca98fbc_0_670"/>
          <p:cNvGraphicFramePr/>
          <p:nvPr/>
        </p:nvGraphicFramePr>
        <p:xfrm>
          <a:off x="1386727" y="33199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{7754D457-AFFB-42E9-B695-33D085F5DAB1}</a:tableStyleId>
              </a:tblPr>
              <a:tblGrid>
                <a:gridCol w="1424750"/>
                <a:gridCol w="3387275"/>
                <a:gridCol w="3298450"/>
              </a:tblGrid>
              <a:tr h="3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Indivíduo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Cromossomos filhos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Cromossomos (mutação)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11001010101010110110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</a:t>
                      </a:r>
                      <a:r>
                        <a:rPr lang="pt-BR" sz="20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01010101010</a:t>
                      </a:r>
                      <a:r>
                        <a:rPr lang="pt-BR" sz="20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10101000101001100101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10101000101001110110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2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10111000101000100100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111010111000100101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11001010111000100101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</a:t>
                      </a:r>
                      <a:r>
                        <a:rPr lang="pt-BR" sz="20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00101000100100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11001110101001110110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11001110101001110110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10101000101011101101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101010001010111011</a:t>
                      </a:r>
                      <a:r>
                        <a:rPr lang="pt-BR" sz="20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11001110101011101101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11001110101011101101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8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11001010101010100101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</a:t>
                      </a:r>
                      <a:r>
                        <a:rPr lang="pt-BR" sz="20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10101010100101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d55ca98fbc_0_728"/>
          <p:cNvSpPr txBox="1"/>
          <p:nvPr>
            <p:ph type="title"/>
          </p:nvPr>
        </p:nvSpPr>
        <p:spPr>
          <a:xfrm>
            <a:off x="512600" y="7808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Exemplo AG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344" name="Google Shape;344;g2d55ca98fbc_0_72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5" name="Google Shape;345;g2d55ca98fbc_0_72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6" name="Google Shape;346;g2d55ca98fbc_0_728"/>
          <p:cNvSpPr txBox="1"/>
          <p:nvPr/>
        </p:nvSpPr>
        <p:spPr>
          <a:xfrm>
            <a:off x="674825" y="1740525"/>
            <a:ext cx="95343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Após a 1a geração: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7" name="Google Shape;347;g2d55ca98fbc_0_728"/>
          <p:cNvSpPr txBox="1"/>
          <p:nvPr/>
        </p:nvSpPr>
        <p:spPr>
          <a:xfrm>
            <a:off x="776150" y="6817600"/>
            <a:ext cx="596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Repetir até alcançar a condição de parada.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48" name="Google Shape;348;g2d55ca98fbc_0_728"/>
          <p:cNvGraphicFramePr/>
          <p:nvPr/>
        </p:nvGraphicFramePr>
        <p:xfrm>
          <a:off x="1099179" y="25441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{7754D457-AFFB-42E9-B695-33D085F5DAB1}</a:tableStyleId>
              </a:tblPr>
              <a:tblGrid>
                <a:gridCol w="536250"/>
                <a:gridCol w="3299225"/>
                <a:gridCol w="979700"/>
                <a:gridCol w="3210375"/>
                <a:gridCol w="982075"/>
              </a:tblGrid>
              <a:tr h="40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Ind.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09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População inicial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Fitness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92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População 1</a:t>
                      </a:r>
                      <a:r>
                        <a:rPr baseline="30000" lang="pt-BR" sz="1900" u="sng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baseline="30000" lang="pt-BR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geração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Fitness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11001000101000100100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11101010101010000101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00011000101010000010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10101000101001110110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11001010101010100101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11111010111000100101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12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00001000101000000100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11001100101000100100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8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11001110101011101101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11001110101001110110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12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10101000101001110110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10101000101011101111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12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1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10111010111000100101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11001110101011101101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8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11000000000000000001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11001110101010100101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27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Média =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8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27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Média =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11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2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5f08fbadba_0_0"/>
          <p:cNvSpPr txBox="1"/>
          <p:nvPr>
            <p:ph type="title"/>
          </p:nvPr>
        </p:nvSpPr>
        <p:spPr>
          <a:xfrm>
            <a:off x="512600" y="7808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Prática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354" name="Google Shape;354;g35f08fbadba_0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5" name="Google Shape;355;g35f08fbadba_0_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6" name="Google Shape;356;g35f08fbadba_0_0"/>
          <p:cNvSpPr txBox="1"/>
          <p:nvPr/>
        </p:nvSpPr>
        <p:spPr>
          <a:xfrm>
            <a:off x="674825" y="1740525"/>
            <a:ext cx="953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AutoNum type="arabicPeriod"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Desenvolver um AG para ganhar a corrida!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7" name="Google Shape;357;g35f08fbadba_0_0"/>
          <p:cNvPicPr preferRelativeResize="0"/>
          <p:nvPr/>
        </p:nvPicPr>
        <p:blipFill rotWithShape="1">
          <a:blip r:embed="rId3">
            <a:alphaModFix/>
          </a:blip>
          <a:srcRect b="0" l="0" r="0" t="1931"/>
          <a:stretch/>
        </p:blipFill>
        <p:spPr>
          <a:xfrm>
            <a:off x="1849750" y="2468700"/>
            <a:ext cx="6712425" cy="497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d55ca98fbc_0_718"/>
          <p:cNvSpPr txBox="1"/>
          <p:nvPr>
            <p:ph type="title"/>
          </p:nvPr>
        </p:nvSpPr>
        <p:spPr>
          <a:xfrm>
            <a:off x="512600" y="7808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Prática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363" name="Google Shape;363;g2d55ca98fbc_0_71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4" name="Google Shape;364;g2d55ca98fbc_0_71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5" name="Google Shape;365;g2d55ca98fbc_0_718"/>
          <p:cNvSpPr txBox="1"/>
          <p:nvPr/>
        </p:nvSpPr>
        <p:spPr>
          <a:xfrm>
            <a:off x="674825" y="1740525"/>
            <a:ext cx="95343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Biblioteca </a:t>
            </a:r>
            <a:r>
              <a:rPr b="0" i="0" lang="pt-BR" sz="28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DEAP</a:t>
            </a: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(Distributed Evolutionary Algorithms in Python), que oferece ferramentas para algoritmos evolutivos e programação genética.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 Adaptar código da corrida para usar abstrações da biblioteca DEAP.</a:t>
            </a:r>
            <a:endParaRPr b="0" i="0" sz="2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66" name="Google Shape;366;g2d55ca98fbc_0_718"/>
          <p:cNvGraphicFramePr/>
          <p:nvPr/>
        </p:nvGraphicFramePr>
        <p:xfrm>
          <a:off x="2579688" y="484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{E80D9462-CF25-44F8-AED0-B78DABE69B54}</a:tableStyleId>
              </a:tblPr>
              <a:tblGrid>
                <a:gridCol w="2818750"/>
                <a:gridCol w="25625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pt-BR" sz="13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Genetic Concept</a:t>
                      </a:r>
                      <a:endParaRPr b="1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pt-BR" sz="13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DEAP Function</a:t>
                      </a:r>
                      <a:endParaRPr b="1" sz="13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Selection</a:t>
                      </a:r>
                      <a:endParaRPr sz="16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pt-BR" sz="1300" u="none" cap="none" strike="noStrike">
                          <a:solidFill>
                            <a:srgbClr val="188038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select</a:t>
                      </a:r>
                      <a:endParaRPr sz="1300" u="none" cap="none" strike="noStrike">
                        <a:solidFill>
                          <a:srgbClr val="188038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Crossover</a:t>
                      </a:r>
                      <a:endParaRPr sz="16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pt-BR" sz="1300" u="none" cap="none" strike="noStrike">
                          <a:solidFill>
                            <a:srgbClr val="188038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mate</a:t>
                      </a:r>
                      <a:endParaRPr sz="1300" u="none" cap="none" strike="noStrike">
                        <a:solidFill>
                          <a:srgbClr val="188038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Mutation</a:t>
                      </a:r>
                      <a:endParaRPr sz="16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pt-BR" sz="1300" u="none" cap="none" strike="noStrike">
                          <a:solidFill>
                            <a:srgbClr val="188038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mutate</a:t>
                      </a:r>
                      <a:endParaRPr sz="1300" u="none" cap="none" strike="noStrike">
                        <a:solidFill>
                          <a:srgbClr val="188038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Fitness Evaluation</a:t>
                      </a:r>
                      <a:endParaRPr sz="16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pt-BR" sz="1300" u="none" cap="none" strike="noStrike">
                          <a:solidFill>
                            <a:srgbClr val="188038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evaluate</a:t>
                      </a:r>
                      <a:endParaRPr sz="1300" u="none" cap="none" strike="noStrike">
                        <a:solidFill>
                          <a:srgbClr val="188038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d55ca98fbc_0_766"/>
          <p:cNvSpPr txBox="1"/>
          <p:nvPr>
            <p:ph type="title"/>
          </p:nvPr>
        </p:nvSpPr>
        <p:spPr>
          <a:xfrm>
            <a:off x="512600" y="7808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Prática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372" name="Google Shape;372;g2d55ca98fbc_0_76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3" name="Google Shape;373;g2d55ca98fbc_0_766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4" name="Google Shape;374;g2d55ca98fbc_0_766"/>
          <p:cNvSpPr txBox="1"/>
          <p:nvPr/>
        </p:nvSpPr>
        <p:spPr>
          <a:xfrm>
            <a:off x="674825" y="1740525"/>
            <a:ext cx="9534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 Vamos tentar usar programação genética para encontrar uma expressão matemática que se aproxime de uma função oculta. 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ideia é que, usando programação genética, o algoritmo evolua até encontrar uma expressão que seja semelhante a essa função.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d55ca98fbc_0_776"/>
          <p:cNvSpPr txBox="1"/>
          <p:nvPr>
            <p:ph type="title"/>
          </p:nvPr>
        </p:nvSpPr>
        <p:spPr>
          <a:xfrm>
            <a:off x="512600" y="7808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Prática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sp>
        <p:nvSpPr>
          <p:cNvPr id="380" name="Google Shape;380;g2d55ca98fbc_0_77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1" name="Google Shape;381;g2d55ca98fbc_0_776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2" name="Google Shape;382;g2d55ca98fbc_0_776"/>
          <p:cNvSpPr txBox="1"/>
          <p:nvPr/>
        </p:nvSpPr>
        <p:spPr>
          <a:xfrm>
            <a:off x="674825" y="1740525"/>
            <a:ext cx="9534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Suponha que temos alguns valores de entrada x e queremos aproximar a função que gera y como saída. Nossa função oculta (que o algoritmo tentará descobrir) é: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Esse será o "alvo" da nossa programação genética.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3" name="Google Shape;383;g2d55ca98fbc_0_776"/>
          <p:cNvSpPr txBox="1"/>
          <p:nvPr/>
        </p:nvSpPr>
        <p:spPr>
          <a:xfrm>
            <a:off x="2697475" y="3769475"/>
            <a:ext cx="49059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pt-BR" sz="3100" u="none" cap="none" strike="noStrike">
                <a:solidFill>
                  <a:srgbClr val="292934"/>
                </a:solidFill>
                <a:latin typeface="Consolas"/>
                <a:ea typeface="Consolas"/>
                <a:cs typeface="Consolas"/>
                <a:sym typeface="Consolas"/>
              </a:rPr>
              <a:t>y = x² + 1</a:t>
            </a:r>
            <a:endParaRPr b="0" i="0" sz="3100" u="none" cap="none" strike="noStrike">
              <a:solidFill>
                <a:srgbClr val="29293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2023-07-02T21:27:13Z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2023-07-02T00:00:00Z</vt:filetime>
  </property>
</Properties>
</file>