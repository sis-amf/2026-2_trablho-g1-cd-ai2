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7556500" cx="10693400"/>
  <p:notesSz cx="10693400" cy="7556500"/>
  <p:embeddedFontLst>
    <p:embeddedFont>
      <p:font typeface="Montserrat"/>
      <p:regular r:id="rId31"/>
      <p:bold r:id="rId32"/>
      <p:italic r:id="rId33"/>
      <p:boldItalic r:id="rId34"/>
    </p:embeddedFont>
    <p:embeddedFont>
      <p:font typeface="Helvetica Neue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39" roundtripDataSignature="AMtx7mgj8RVnnGslkdgzYSno8lcoBJGi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45E25F-A934-4A20-977D-182F70841C4C}">
  <a:tblStyle styleId="{8C45E25F-A934-4A20-977D-182F70841C4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Montserrat-italic.fntdata"/><Relationship Id="rId10" Type="http://schemas.openxmlformats.org/officeDocument/2006/relationships/slide" Target="slides/slide4.xml"/><Relationship Id="rId32" Type="http://schemas.openxmlformats.org/officeDocument/2006/relationships/font" Target="fonts/Montserrat-bold.fntdata"/><Relationship Id="rId13" Type="http://schemas.openxmlformats.org/officeDocument/2006/relationships/slide" Target="slides/slide7.xml"/><Relationship Id="rId35" Type="http://schemas.openxmlformats.org/officeDocument/2006/relationships/font" Target="fonts/HelveticaNeue-regular.fntdata"/><Relationship Id="rId12" Type="http://schemas.openxmlformats.org/officeDocument/2006/relationships/slide" Target="slides/slide6.xml"/><Relationship Id="rId34" Type="http://schemas.openxmlformats.org/officeDocument/2006/relationships/font" Target="fonts/Montserrat-boldItalic.fntdata"/><Relationship Id="rId15" Type="http://schemas.openxmlformats.org/officeDocument/2006/relationships/slide" Target="slides/slide9.xml"/><Relationship Id="rId37" Type="http://schemas.openxmlformats.org/officeDocument/2006/relationships/font" Target="fonts/HelveticaNeue-italic.fntdata"/><Relationship Id="rId14" Type="http://schemas.openxmlformats.org/officeDocument/2006/relationships/slide" Target="slides/slide8.xml"/><Relationship Id="rId36" Type="http://schemas.openxmlformats.org/officeDocument/2006/relationships/font" Target="fonts/HelveticaNeue-bold.fntdata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font" Target="fonts/HelveticaNeue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p2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405ede3f4_0_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g39405ede3f4_0_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405ede3f4_0_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39405ede3f4_0_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405ede3f4_0_81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9405ede3f4_0_81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248ba07e93_0_19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g2248ba07e93_0_19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405ede3f4_0_151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9405ede3f4_0_151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249415d7d8_0_2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2249415d7d8_0_2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249415d7d8_0_3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2249415d7d8_0_3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249415d7d8_0_1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2249415d7d8_0_1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248ba07e93_0_171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2248ba07e93_0_171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248ba07e93_0_18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2248ba07e93_0_18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248ba07e93_0_253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g2248ba07e93_0_253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248ba07e93_0_266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g2248ba07e93_0_266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248ba07e93_0_21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2248ba07e93_0_21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248ba07e93_0_225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2248ba07e93_0_225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248ba07e93_0_28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g2248ba07e93_0_28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248ba07e93_0_239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g2248ba07e93_0_239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248ba07e93_0_29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g2248ba07e93_0_29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248ba07e93_0_301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g2248ba07e93_0_301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249415d7d8_0_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g2249415d7d8_0_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5f3584e39e_3_15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g25f3584e39e_3_15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9405ede3f4_0_38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g39405ede3f4_0_38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405ede3f4_0_395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g39405ede3f4_0_395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d51712bcc6_0_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g2d51712bcc6_0_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9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9"/>
          <p:cNvSpPr txBox="1"/>
          <p:nvPr>
            <p:ph idx="1" type="body"/>
          </p:nvPr>
        </p:nvSpPr>
        <p:spPr>
          <a:xfrm>
            <a:off x="626465" y="1711867"/>
            <a:ext cx="9218930" cy="171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9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9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0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0"/>
          <p:cNvSpPr txBox="1"/>
          <p:nvPr>
            <p:ph idx="1" type="body"/>
          </p:nvPr>
        </p:nvSpPr>
        <p:spPr>
          <a:xfrm>
            <a:off x="534987" y="1737995"/>
            <a:ext cx="4654391" cy="4987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0"/>
          <p:cNvSpPr txBox="1"/>
          <p:nvPr>
            <p:ph idx="2" type="body"/>
          </p:nvPr>
        </p:nvSpPr>
        <p:spPr>
          <a:xfrm>
            <a:off x="5510371" y="1737995"/>
            <a:ext cx="4654391" cy="4987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0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0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0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2f174543b14_2_1013"/>
          <p:cNvSpPr txBox="1"/>
          <p:nvPr>
            <p:ph type="title"/>
          </p:nvPr>
        </p:nvSpPr>
        <p:spPr>
          <a:xfrm>
            <a:off x="364516" y="653802"/>
            <a:ext cx="99645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3" name="Google Shape;33;g2f174543b14_2_1013"/>
          <p:cNvSpPr txBox="1"/>
          <p:nvPr>
            <p:ph idx="1" type="body"/>
          </p:nvPr>
        </p:nvSpPr>
        <p:spPr>
          <a:xfrm>
            <a:off x="364516" y="1693142"/>
            <a:ext cx="9964500" cy="5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4" name="Google Shape;34;g2f174543b14_2_1013"/>
          <p:cNvSpPr txBox="1"/>
          <p:nvPr>
            <p:ph idx="12" type="sldNum"/>
          </p:nvPr>
        </p:nvSpPr>
        <p:spPr>
          <a:xfrm>
            <a:off x="9908069" y="6850899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OBJECT_3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2f5594a4f43_0_680"/>
          <p:cNvSpPr txBox="1"/>
          <p:nvPr>
            <p:ph type="title"/>
          </p:nvPr>
        </p:nvSpPr>
        <p:spPr>
          <a:xfrm>
            <a:off x="376873" y="5705772"/>
            <a:ext cx="99399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2f5594a4f43_0_680"/>
          <p:cNvSpPr txBox="1"/>
          <p:nvPr>
            <p:ph idx="1" type="body"/>
          </p:nvPr>
        </p:nvSpPr>
        <p:spPr>
          <a:xfrm>
            <a:off x="2647215" y="1645530"/>
            <a:ext cx="49773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2f5594a4f43_0_680"/>
          <p:cNvSpPr txBox="1"/>
          <p:nvPr>
            <p:ph idx="11" type="ftr"/>
          </p:nvPr>
        </p:nvSpPr>
        <p:spPr>
          <a:xfrm>
            <a:off x="3635756" y="7027545"/>
            <a:ext cx="3421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g2f5594a4f43_0_680"/>
          <p:cNvSpPr txBox="1"/>
          <p:nvPr>
            <p:ph idx="10" type="dt"/>
          </p:nvPr>
        </p:nvSpPr>
        <p:spPr>
          <a:xfrm>
            <a:off x="534670" y="7027545"/>
            <a:ext cx="24597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g2f5594a4f43_0_680"/>
          <p:cNvSpPr txBox="1"/>
          <p:nvPr>
            <p:ph idx="12" type="sldNum"/>
          </p:nvPr>
        </p:nvSpPr>
        <p:spPr>
          <a:xfrm>
            <a:off x="7699248" y="7027545"/>
            <a:ext cx="245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2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2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2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204fabc35a_0_2184"/>
          <p:cNvSpPr txBox="1"/>
          <p:nvPr>
            <p:ph type="title"/>
          </p:nvPr>
        </p:nvSpPr>
        <p:spPr>
          <a:xfrm>
            <a:off x="798410" y="547565"/>
            <a:ext cx="90963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2204fabc35a_0_2184"/>
          <p:cNvSpPr txBox="1"/>
          <p:nvPr>
            <p:ph idx="1" type="body"/>
          </p:nvPr>
        </p:nvSpPr>
        <p:spPr>
          <a:xfrm>
            <a:off x="625266" y="1660882"/>
            <a:ext cx="9443100" cy="42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2204fabc35a_0_2184"/>
          <p:cNvSpPr txBox="1"/>
          <p:nvPr>
            <p:ph idx="11" type="ftr"/>
          </p:nvPr>
        </p:nvSpPr>
        <p:spPr>
          <a:xfrm>
            <a:off x="3635756" y="7027545"/>
            <a:ext cx="34221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2204fabc35a_0_2184"/>
          <p:cNvSpPr txBox="1"/>
          <p:nvPr>
            <p:ph idx="10" type="dt"/>
          </p:nvPr>
        </p:nvSpPr>
        <p:spPr>
          <a:xfrm>
            <a:off x="534670" y="7027545"/>
            <a:ext cx="24594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2204fabc35a_0_2184"/>
          <p:cNvSpPr txBox="1"/>
          <p:nvPr>
            <p:ph idx="12" type="sldNum"/>
          </p:nvPr>
        </p:nvSpPr>
        <p:spPr>
          <a:xfrm>
            <a:off x="7699248" y="7027545"/>
            <a:ext cx="245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1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1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1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1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8"/>
          <p:cNvSpPr/>
          <p:nvPr/>
        </p:nvSpPr>
        <p:spPr>
          <a:xfrm>
            <a:off x="0" y="0"/>
            <a:ext cx="10693400" cy="403225"/>
          </a:xfrm>
          <a:custGeom>
            <a:rect b="b" l="l" r="r" t="t"/>
            <a:pathLst>
              <a:path extrusionOk="0" h="403225" w="10693400">
                <a:moveTo>
                  <a:pt x="10693400" y="0"/>
                </a:moveTo>
                <a:lnTo>
                  <a:pt x="0" y="0"/>
                </a:lnTo>
                <a:lnTo>
                  <a:pt x="0" y="403009"/>
                </a:lnTo>
                <a:lnTo>
                  <a:pt x="10693400" y="403009"/>
                </a:lnTo>
                <a:lnTo>
                  <a:pt x="10693400" y="0"/>
                </a:lnTo>
                <a:close/>
              </a:path>
            </a:pathLst>
          </a:custGeom>
          <a:solidFill>
            <a:srgbClr val="92A1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8"/>
          <p:cNvSpPr/>
          <p:nvPr/>
        </p:nvSpPr>
        <p:spPr>
          <a:xfrm>
            <a:off x="802005" y="3744722"/>
            <a:ext cx="9178925" cy="1905"/>
          </a:xfrm>
          <a:custGeom>
            <a:rect b="b" l="l" r="r" t="t"/>
            <a:pathLst>
              <a:path extrusionOk="0" h="1904" w="9178925">
                <a:moveTo>
                  <a:pt x="0" y="0"/>
                </a:moveTo>
                <a:lnTo>
                  <a:pt x="9178544" y="1650"/>
                </a:lnTo>
              </a:path>
            </a:pathLst>
          </a:custGeom>
          <a:noFill/>
          <a:ln cap="flat" cmpd="sng" w="19050">
            <a:solidFill>
              <a:srgbClr val="D25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8"/>
          <p:cNvSpPr txBox="1"/>
          <p:nvPr>
            <p:ph type="ctrTitle"/>
          </p:nvPr>
        </p:nvSpPr>
        <p:spPr>
          <a:xfrm>
            <a:off x="893775" y="2602814"/>
            <a:ext cx="8912199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8"/>
          <p:cNvSpPr txBox="1"/>
          <p:nvPr>
            <p:ph idx="1" type="subTitle"/>
          </p:nvPr>
        </p:nvSpPr>
        <p:spPr>
          <a:xfrm>
            <a:off x="1604962" y="4231640"/>
            <a:ext cx="7489825" cy="188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8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8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8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f5594a4f43_0_312"/>
          <p:cNvSpPr txBox="1"/>
          <p:nvPr>
            <p:ph type="title"/>
          </p:nvPr>
        </p:nvSpPr>
        <p:spPr>
          <a:xfrm>
            <a:off x="376873" y="5705772"/>
            <a:ext cx="99399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2f5594a4f43_0_312"/>
          <p:cNvSpPr txBox="1"/>
          <p:nvPr>
            <p:ph idx="1" type="body"/>
          </p:nvPr>
        </p:nvSpPr>
        <p:spPr>
          <a:xfrm>
            <a:off x="2647215" y="1645530"/>
            <a:ext cx="49773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2f5594a4f43_0_312"/>
          <p:cNvSpPr txBox="1"/>
          <p:nvPr>
            <p:ph idx="11" type="ftr"/>
          </p:nvPr>
        </p:nvSpPr>
        <p:spPr>
          <a:xfrm>
            <a:off x="3635756" y="7027545"/>
            <a:ext cx="3421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2f5594a4f43_0_312"/>
          <p:cNvSpPr txBox="1"/>
          <p:nvPr>
            <p:ph idx="10" type="dt"/>
          </p:nvPr>
        </p:nvSpPr>
        <p:spPr>
          <a:xfrm>
            <a:off x="534670" y="7027545"/>
            <a:ext cx="24597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2f5594a4f43_0_312"/>
          <p:cNvSpPr txBox="1"/>
          <p:nvPr>
            <p:ph idx="12" type="sldNum"/>
          </p:nvPr>
        </p:nvSpPr>
        <p:spPr>
          <a:xfrm>
            <a:off x="7699248" y="7027545"/>
            <a:ext cx="245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2.png"/><Relationship Id="rId2" Type="http://schemas.openxmlformats.org/officeDocument/2006/relationships/image" Target="../media/image4.jp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47"/>
          <p:cNvGrpSpPr/>
          <p:nvPr/>
        </p:nvGrpSpPr>
        <p:grpSpPr>
          <a:xfrm>
            <a:off x="-50" y="-163100"/>
            <a:ext cx="10736274" cy="837200"/>
            <a:chOff x="-50" y="-152609"/>
            <a:chExt cx="10693500" cy="837200"/>
          </a:xfrm>
        </p:grpSpPr>
        <p:pic>
          <p:nvPicPr>
            <p:cNvPr id="7" name="Google Shape;7;p47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-50" y="-152609"/>
              <a:ext cx="1506924" cy="83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47"/>
            <p:cNvSpPr/>
            <p:nvPr/>
          </p:nvSpPr>
          <p:spPr>
            <a:xfrm>
              <a:off x="-50" y="0"/>
              <a:ext cx="10693500" cy="543000"/>
            </a:xfrm>
            <a:prstGeom prst="rect">
              <a:avLst/>
            </a:prstGeom>
            <a:solidFill>
              <a:srgbClr val="0E71BA"/>
            </a:solidFill>
            <a:ln cap="flat" cmpd="sng" w="9525">
              <a:solidFill>
                <a:srgbClr val="0E71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Google Shape;9;p47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100" u="none" cap="none" strike="noStrike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7"/>
          <p:cNvSpPr txBox="1"/>
          <p:nvPr>
            <p:ph idx="1" type="body"/>
          </p:nvPr>
        </p:nvSpPr>
        <p:spPr>
          <a:xfrm>
            <a:off x="626465" y="1711867"/>
            <a:ext cx="9218930" cy="171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47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7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3" name="Google Shape;13;p4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50" y="-139350"/>
            <a:ext cx="1429351" cy="79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47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1400"/>
          </a:p>
        </p:txBody>
      </p:sp>
      <p:sp>
        <p:nvSpPr>
          <p:cNvPr id="15" name="Google Shape;15;p47"/>
          <p:cNvSpPr txBox="1"/>
          <p:nvPr/>
        </p:nvSpPr>
        <p:spPr>
          <a:xfrm>
            <a:off x="2628039" y="74888"/>
            <a:ext cx="521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Inteligência Artificial I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" name="Google Shape;16;p47"/>
          <p:cNvPicPr preferRelativeResize="0"/>
          <p:nvPr/>
        </p:nvPicPr>
        <p:blipFill rotWithShape="1">
          <a:blip r:embed="rId2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3850" y="29376"/>
            <a:ext cx="742650" cy="4912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rhauani.fazul@amf.edu.br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12.gif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hyperlink" Target="https://simonwillison.net/2023/Jun/8/gpt-tokenizers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1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Relationship Id="rId4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Relationship Id="rId4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Relationship Id="rId4" Type="http://schemas.openxmlformats.org/officeDocument/2006/relationships/image" Target="../media/image22.jpg"/><Relationship Id="rId5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Relationship Id="rId4" Type="http://schemas.openxmlformats.org/officeDocument/2006/relationships/image" Target="../media/image1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"/>
          <p:cNvSpPr txBox="1"/>
          <p:nvPr/>
        </p:nvSpPr>
        <p:spPr>
          <a:xfrm>
            <a:off x="754739" y="2978260"/>
            <a:ext cx="91839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0"/>
              <a:buFont typeface="Arial"/>
              <a:buNone/>
            </a:pPr>
            <a:r>
              <a:rPr b="0" i="0" lang="pt-BR" sz="3900" u="none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Aula 4 - Introdução às Redes Neurais</a:t>
            </a:r>
            <a:endParaRPr b="0" i="0" sz="3900" u="none" cap="none" strike="noStrike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893775" y="3893312"/>
            <a:ext cx="22734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56566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Rhauani Fazul</a:t>
            </a:r>
            <a:endParaRPr b="0" i="0" sz="2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6" name="Google Shape;76;p2"/>
          <p:cNvCxnSpPr/>
          <p:nvPr/>
        </p:nvCxnSpPr>
        <p:spPr>
          <a:xfrm>
            <a:off x="803450" y="3742670"/>
            <a:ext cx="9183900" cy="0"/>
          </a:xfrm>
          <a:prstGeom prst="straightConnector1">
            <a:avLst/>
          </a:prstGeom>
          <a:noFill/>
          <a:ln cap="flat" cmpd="sng" w="28575">
            <a:solidFill>
              <a:srgbClr val="0E71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8" name="Google Shape;78;p2"/>
          <p:cNvSpPr txBox="1"/>
          <p:nvPr/>
        </p:nvSpPr>
        <p:spPr>
          <a:xfrm>
            <a:off x="816216" y="4247302"/>
            <a:ext cx="246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uFill>
                  <a:noFill/>
                </a:u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rhauani.fazul@amf.edu.br</a:t>
            </a:r>
            <a:r>
              <a:rPr b="0" i="0" lang="pt-BR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b="0" i="0" sz="1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812850" y="1475450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Inteligência Artificial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812850" y="1262700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Sistemas de Informação | AMF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812850" y="1716182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março de 202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405ede3f4_0_0"/>
          <p:cNvSpPr txBox="1"/>
          <p:nvPr>
            <p:ph type="title"/>
          </p:nvPr>
        </p:nvSpPr>
        <p:spPr>
          <a:xfrm>
            <a:off x="626474" y="755100"/>
            <a:ext cx="99891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4600">
                <a:solidFill>
                  <a:srgbClr val="0E71BA"/>
                </a:solidFill>
              </a:rPr>
              <a:t>Redes neurais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87" name="Google Shape;87;g39405ede3f4_0_0"/>
          <p:cNvPicPr preferRelativeResize="0"/>
          <p:nvPr/>
        </p:nvPicPr>
        <p:blipFill rotWithShape="1">
          <a:blip r:embed="rId3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39405ede3f4_0_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9" name="Google Shape;89;g39405ede3f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7425" y="1651146"/>
            <a:ext cx="7798526" cy="5451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405ede3f4_0_7"/>
          <p:cNvSpPr txBox="1"/>
          <p:nvPr>
            <p:ph type="title"/>
          </p:nvPr>
        </p:nvSpPr>
        <p:spPr>
          <a:xfrm>
            <a:off x="626474" y="755100"/>
            <a:ext cx="99891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4600">
                <a:solidFill>
                  <a:srgbClr val="0E71BA"/>
                </a:solidFill>
              </a:rPr>
              <a:t>Conceitos base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95" name="Google Shape;95;g39405ede3f4_0_7"/>
          <p:cNvPicPr preferRelativeResize="0"/>
          <p:nvPr/>
        </p:nvPicPr>
        <p:blipFill rotWithShape="1">
          <a:blip r:embed="rId3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39405ede3f4_0_7"/>
          <p:cNvSpPr txBox="1"/>
          <p:nvPr/>
        </p:nvSpPr>
        <p:spPr>
          <a:xfrm>
            <a:off x="626475" y="2040750"/>
            <a:ext cx="9989100" cy="16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sz="2400">
              <a:solidFill>
                <a:srgbClr val="29293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29293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29293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" name="Google Shape;97;g39405ede3f4_0_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aphicFrame>
        <p:nvGraphicFramePr>
          <p:cNvPr id="98" name="Google Shape;98;g39405ede3f4_0_7"/>
          <p:cNvGraphicFramePr/>
          <p:nvPr/>
        </p:nvGraphicFramePr>
        <p:xfrm>
          <a:off x="1790500" y="479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{8C45E25F-A934-4A20-977D-182F70841C4C}</a:tableStyleId>
              </a:tblPr>
              <a:tblGrid>
                <a:gridCol w="1637600"/>
                <a:gridCol w="2428200"/>
                <a:gridCol w="35952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Etapa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Analogia biológica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Papel matemático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Entradas</a:t>
                      </a:r>
                      <a:r>
                        <a:rPr lang="pt-BR" sz="1700"/>
                        <a:t> x</a:t>
                      </a:r>
                      <a:r>
                        <a:rPr baseline="-25000" lang="pt-BR" sz="1700"/>
                        <a:t>i</a:t>
                      </a:r>
                      <a:endParaRPr baseline="-25000" sz="1700"/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Dendritos</a:t>
                      </a:r>
                      <a:endParaRPr sz="17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Recebem sinais</a:t>
                      </a:r>
                      <a:endParaRPr sz="17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Pesos</a:t>
                      </a:r>
                      <a:r>
                        <a:rPr lang="pt-BR" sz="1700"/>
                        <a:t> w</a:t>
                      </a:r>
                      <a:r>
                        <a:rPr baseline="-25000" lang="pt-BR" sz="1700"/>
                        <a:t>i</a:t>
                      </a:r>
                      <a:r>
                        <a:rPr lang="pt-BR" sz="1700"/>
                        <a:t>​</a:t>
                      </a:r>
                      <a:endParaRPr sz="1700"/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Força da sinapse</a:t>
                      </a:r>
                      <a:endParaRPr sz="17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Ajustam importância do sinal</a:t>
                      </a:r>
                      <a:endParaRPr sz="17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Soma + bias</a:t>
                      </a:r>
                      <a:endParaRPr sz="17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Soma dos sinais</a:t>
                      </a:r>
                      <a:endParaRPr sz="17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Combina informações</a:t>
                      </a:r>
                      <a:endParaRPr sz="17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Ativação</a:t>
                      </a:r>
                      <a:r>
                        <a:rPr lang="pt-BR" sz="1700"/>
                        <a:t> </a:t>
                      </a:r>
                      <a:r>
                        <a:rPr lang="pt-BR" sz="17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sz="17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Potencial de ação</a:t>
                      </a:r>
                      <a:endParaRPr sz="17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Decide se o neurônio dispara</a:t>
                      </a:r>
                      <a:endParaRPr sz="17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Saída</a:t>
                      </a:r>
                      <a:r>
                        <a:rPr lang="pt-BR" sz="1700"/>
                        <a:t> </a:t>
                      </a:r>
                      <a:r>
                        <a:rPr lang="pt-BR" sz="17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</a:t>
                      </a:r>
                      <a:endParaRPr sz="17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Axônio</a:t>
                      </a:r>
                      <a:endParaRPr sz="17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Envia o resultado</a:t>
                      </a:r>
                      <a:endParaRPr sz="17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pic>
        <p:nvPicPr>
          <p:cNvPr id="99" name="Google Shape;99;g39405ede3f4_0_7"/>
          <p:cNvPicPr preferRelativeResize="0"/>
          <p:nvPr/>
        </p:nvPicPr>
        <p:blipFill rotWithShape="1">
          <a:blip r:embed="rId4">
            <a:alphaModFix/>
          </a:blip>
          <a:srcRect b="46418" l="0" r="0" t="0"/>
          <a:stretch/>
        </p:blipFill>
        <p:spPr>
          <a:xfrm>
            <a:off x="1790525" y="1725486"/>
            <a:ext cx="7798526" cy="292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405ede3f4_0_81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5" name="Google Shape;105;g39405ede3f4_0_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7625" y="1870851"/>
            <a:ext cx="7834949" cy="314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248ba07e93_0_197"/>
          <p:cNvSpPr txBox="1"/>
          <p:nvPr>
            <p:ph type="title"/>
          </p:nvPr>
        </p:nvSpPr>
        <p:spPr>
          <a:xfrm>
            <a:off x="626475" y="7551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600">
                <a:solidFill>
                  <a:srgbClr val="0E71BA"/>
                </a:solidFill>
              </a:rPr>
              <a:t>Redes neurais artificiais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11" name="Google Shape;111;g2248ba07e93_0_197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2248ba07e93_0_197"/>
          <p:cNvSpPr txBox="1"/>
          <p:nvPr/>
        </p:nvSpPr>
        <p:spPr>
          <a:xfrm>
            <a:off x="474475" y="1769775"/>
            <a:ext cx="9192300" cy="23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830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Método de IA que ensina computadores a processar dados de forma semelhante ao cérebro humano. 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redes neurais podem ter apenas uma camada de neurônios, ou várias camadas ocultas, sendo estas últimas chamadas de redes neurais profundas. 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g2248ba07e93_0_19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4" name="Google Shape;114;g2248ba07e93_0_1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950" y="4287525"/>
            <a:ext cx="5650758" cy="320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2248ba07e93_0_1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84700" y="3772925"/>
            <a:ext cx="4786849" cy="252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405ede3f4_0_151"/>
          <p:cNvSpPr txBox="1"/>
          <p:nvPr>
            <p:ph type="title"/>
          </p:nvPr>
        </p:nvSpPr>
        <p:spPr>
          <a:xfrm>
            <a:off x="626474" y="755100"/>
            <a:ext cx="99891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4600">
                <a:solidFill>
                  <a:srgbClr val="0E71BA"/>
                </a:solidFill>
              </a:rPr>
              <a:t>Estrutura básica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21" name="Google Shape;121;g39405ede3f4_0_151"/>
          <p:cNvPicPr preferRelativeResize="0"/>
          <p:nvPr/>
        </p:nvPicPr>
        <p:blipFill rotWithShape="1">
          <a:blip r:embed="rId3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9405ede3f4_0_151"/>
          <p:cNvSpPr txBox="1"/>
          <p:nvPr/>
        </p:nvSpPr>
        <p:spPr>
          <a:xfrm>
            <a:off x="626475" y="2040750"/>
            <a:ext cx="99891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21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Componentes principais:</a:t>
            </a:r>
            <a:endParaRPr sz="2100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pt-BR" sz="21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Camada de entrada:</a:t>
            </a:r>
            <a:r>
              <a:rPr lang="pt-BR" sz="21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recebe os dados (features).</a:t>
            </a:r>
            <a:endParaRPr sz="2100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pt-BR" sz="21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Camadas ocultas:</a:t>
            </a:r>
            <a:r>
              <a:rPr lang="pt-BR" sz="21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transformam e combinam as informações.</a:t>
            </a:r>
            <a:endParaRPr sz="2100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pt-BR" sz="21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Camada de saída:</a:t>
            </a:r>
            <a:r>
              <a:rPr lang="pt-BR" sz="21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gera a predição final.</a:t>
            </a:r>
            <a:endParaRPr sz="2100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" name="Google Shape;123;g39405ede3f4_0_151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24" name="Google Shape;124;g39405ede3f4_0_151"/>
          <p:cNvPicPr preferRelativeResize="0"/>
          <p:nvPr/>
        </p:nvPicPr>
        <p:blipFill rotWithShape="1">
          <a:blip r:embed="rId4">
            <a:alphaModFix/>
          </a:blip>
          <a:srcRect b="11316" l="0" r="61550" t="0"/>
          <a:stretch/>
        </p:blipFill>
        <p:spPr>
          <a:xfrm>
            <a:off x="3731525" y="4684575"/>
            <a:ext cx="3230351" cy="279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9405ede3f4_0_151"/>
          <p:cNvPicPr preferRelativeResize="0"/>
          <p:nvPr/>
        </p:nvPicPr>
        <p:blipFill rotWithShape="1">
          <a:blip r:embed="rId4">
            <a:alphaModFix/>
          </a:blip>
          <a:srcRect b="-6978" l="15104" r="77902" t="87622"/>
          <a:stretch/>
        </p:blipFill>
        <p:spPr>
          <a:xfrm>
            <a:off x="1039756" y="2523532"/>
            <a:ext cx="447625" cy="46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9405ede3f4_0_151"/>
          <p:cNvPicPr preferRelativeResize="0"/>
          <p:nvPr/>
        </p:nvPicPr>
        <p:blipFill rotWithShape="1">
          <a:blip r:embed="rId4">
            <a:alphaModFix/>
          </a:blip>
          <a:srcRect b="-5051" l="39068" r="56357" t="87622"/>
          <a:stretch/>
        </p:blipFill>
        <p:spPr>
          <a:xfrm>
            <a:off x="1194556" y="2960421"/>
            <a:ext cx="292826" cy="41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39405ede3f4_0_151"/>
          <p:cNvPicPr preferRelativeResize="0"/>
          <p:nvPr/>
        </p:nvPicPr>
        <p:blipFill rotWithShape="1">
          <a:blip r:embed="rId4">
            <a:alphaModFix/>
          </a:blip>
          <a:srcRect b="-5051" l="61273" r="31733" t="87622"/>
          <a:stretch/>
        </p:blipFill>
        <p:spPr>
          <a:xfrm>
            <a:off x="1096043" y="3419834"/>
            <a:ext cx="447625" cy="41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249415d7d8_0_28"/>
          <p:cNvSpPr txBox="1"/>
          <p:nvPr>
            <p:ph type="title"/>
          </p:nvPr>
        </p:nvSpPr>
        <p:spPr>
          <a:xfrm>
            <a:off x="626475" y="755100"/>
            <a:ext cx="101808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Deep learning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33" name="Google Shape;133;g2249415d7d8_0_28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2249415d7d8_0_28"/>
          <p:cNvSpPr txBox="1"/>
          <p:nvPr/>
        </p:nvSpPr>
        <p:spPr>
          <a:xfrm>
            <a:off x="581050" y="2056100"/>
            <a:ext cx="9192300" cy="14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830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É uma subárea das redes neurais que utiliza redes neurais profundas, com várias (mais de 100) camadas ocultas. 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Helvetica Neue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Essas redes são capazes de aprender padrões complexos a partir de grandes volumes de dados. 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" name="Google Shape;135;g2249415d7d8_0_2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6" name="Google Shape;136;g2249415d7d8_0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2375" y="4435300"/>
            <a:ext cx="6572250" cy="24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g2249415d7d8_0_38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2249415d7d8_0_3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3" name="Google Shape;143;g2249415d7d8_0_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91350" y="1099700"/>
            <a:ext cx="7510676" cy="563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249415d7d8_0_12"/>
          <p:cNvSpPr txBox="1"/>
          <p:nvPr>
            <p:ph type="title"/>
          </p:nvPr>
        </p:nvSpPr>
        <p:spPr>
          <a:xfrm>
            <a:off x="626475" y="755100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LLMs (</a:t>
            </a:r>
            <a:r>
              <a:rPr i="1" lang="pt-BR" sz="4600">
                <a:solidFill>
                  <a:srgbClr val="0E71BA"/>
                </a:solidFill>
              </a:rPr>
              <a:t>Large Language Models</a:t>
            </a:r>
            <a:r>
              <a:rPr lang="pt-BR" sz="4600">
                <a:solidFill>
                  <a:srgbClr val="0E71BA"/>
                </a:solidFill>
              </a:rPr>
              <a:t>)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49" name="Google Shape;149;g2249415d7d8_0_12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2249415d7d8_0_12"/>
          <p:cNvSpPr txBox="1"/>
          <p:nvPr/>
        </p:nvSpPr>
        <p:spPr>
          <a:xfrm>
            <a:off x="581050" y="2056100"/>
            <a:ext cx="9192300" cy="16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830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Modelos de linguagem treinados em grandes quantidades de dados textuais, capazes de entender e gerar linguagem natural.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Muitas vezes aplicam “</a:t>
            </a:r>
            <a:r>
              <a:rPr b="0" i="1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self-supervised learning</a:t>
            </a: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”.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Helvetica Neue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Baseados em NN e DL.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" name="Google Shape;151;g2249415d7d8_0_1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248ba07e93_0_171"/>
          <p:cNvSpPr txBox="1"/>
          <p:nvPr>
            <p:ph type="title"/>
          </p:nvPr>
        </p:nvSpPr>
        <p:spPr>
          <a:xfrm>
            <a:off x="626475" y="755100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IA Generativa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57" name="Google Shape;157;g2248ba07e93_0_171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2248ba07e93_0_171"/>
          <p:cNvSpPr txBox="1"/>
          <p:nvPr/>
        </p:nvSpPr>
        <p:spPr>
          <a:xfrm>
            <a:off x="581050" y="2056100"/>
            <a:ext cx="9909000" cy="42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Ramo da Inteligência Artificial focado na criação de conteúdo original (imagens, texto, música, etc.) a partir de modelos treinados.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Diferente de outras IA, que apenas analisam ou categorizam dados, a IA generativa cria algo novo baseado em padrões aprendidos.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Exemplos Famosos: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GPT (como GPT-3 e GPT-4)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DALL·E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Stable Diffusion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MidJourney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" name="Google Shape;159;g2248ba07e93_0_171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248ba07e93_0_188"/>
          <p:cNvSpPr txBox="1"/>
          <p:nvPr>
            <p:ph type="title"/>
          </p:nvPr>
        </p:nvSpPr>
        <p:spPr>
          <a:xfrm>
            <a:off x="626475" y="755100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IA Generativa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65" name="Google Shape;165;g2248ba07e93_0_188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2248ba07e93_0_188"/>
          <p:cNvSpPr txBox="1"/>
          <p:nvPr/>
        </p:nvSpPr>
        <p:spPr>
          <a:xfrm>
            <a:off x="581050" y="2056100"/>
            <a:ext cx="9909000" cy="48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830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Arquiteturas de Modelos: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1" marL="9144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○"/>
            </a:pPr>
            <a:r>
              <a:rPr b="1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Modelos Autoregressivos (AR):</a:t>
            </a: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sequência é prevista palavra a palavra (ou token a token). Ver </a:t>
            </a:r>
            <a:r>
              <a:rPr b="0" i="0" lang="pt-BR" sz="2200" u="sng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GPT tokenizer</a:t>
            </a: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1" marL="9144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○"/>
            </a:pPr>
            <a:r>
              <a:rPr b="1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Redes Geradoras Adversárias (GANs): </a:t>
            </a: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Dois modelos treinados juntos, um gerador e um discriminador. O gerador tenta criar dados falsos que enganam o discriminador.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1" marL="9144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○"/>
            </a:pPr>
            <a:r>
              <a:rPr b="1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Variational Autoencoders (VAEs):</a:t>
            </a: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Usam um encoder-decoder para gerar novas instâncias de dados.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modelo é treinado em grandes conjuntos de dados, aprende padrões, e depois gera novos conteúdos baseados nesses padrões.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7" name="Google Shape;167;g2248ba07e93_0_18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248ba07e93_0_253"/>
          <p:cNvSpPr txBox="1"/>
          <p:nvPr>
            <p:ph type="title"/>
          </p:nvPr>
        </p:nvSpPr>
        <p:spPr>
          <a:xfrm>
            <a:off x="626475" y="7551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pt-BR" sz="4600">
                <a:solidFill>
                  <a:srgbClr val="0E71BA"/>
                </a:solidFill>
              </a:rPr>
              <a:t>Variational Autoencoders </a:t>
            </a:r>
            <a:r>
              <a:rPr lang="pt-BR" sz="4600">
                <a:solidFill>
                  <a:srgbClr val="0E71BA"/>
                </a:solidFill>
              </a:rPr>
              <a:t>(VAEs)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73" name="Google Shape;173;g2248ba07e93_0_253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2248ba07e93_0_253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75" name="Google Shape;175;g2248ba07e93_0_2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1500" y="2073925"/>
            <a:ext cx="7876800" cy="388588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2248ba07e93_0_253"/>
          <p:cNvSpPr txBox="1"/>
          <p:nvPr/>
        </p:nvSpPr>
        <p:spPr>
          <a:xfrm>
            <a:off x="7943600" y="5019900"/>
            <a:ext cx="274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 “assemelha” ao input</a:t>
            </a:r>
            <a:endParaRPr b="0" i="0" sz="15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7" name="Google Shape;177;g2248ba07e93_0_253"/>
          <p:cNvSpPr txBox="1"/>
          <p:nvPr/>
        </p:nvSpPr>
        <p:spPr>
          <a:xfrm>
            <a:off x="799350" y="6352150"/>
            <a:ext cx="7066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Activation function: função matemática em uma rede neural que determina a saída de um neurônio com base em sua entrada.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248ba07e93_0_266"/>
          <p:cNvSpPr txBox="1"/>
          <p:nvPr>
            <p:ph type="title"/>
          </p:nvPr>
        </p:nvSpPr>
        <p:spPr>
          <a:xfrm>
            <a:off x="626475" y="755100"/>
            <a:ext cx="10180800" cy="3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pt-BR">
                <a:solidFill>
                  <a:srgbClr val="0E71BA"/>
                </a:solidFill>
              </a:rPr>
              <a:t>Generative Adversarial Networks</a:t>
            </a:r>
            <a:r>
              <a:rPr lang="pt-BR">
                <a:solidFill>
                  <a:srgbClr val="0E71BA"/>
                </a:solidFill>
              </a:rPr>
              <a:t> (GANs)</a:t>
            </a:r>
            <a:endParaRPr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rgbClr val="0E71BA"/>
              </a:solidFill>
            </a:endParaRPr>
          </a:p>
        </p:txBody>
      </p:sp>
      <p:pic>
        <p:nvPicPr>
          <p:cNvPr id="183" name="Google Shape;183;g2248ba07e93_0_266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2248ba07e93_0_266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85" name="Google Shape;185;g2248ba07e93_0_2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7275" y="2058825"/>
            <a:ext cx="8933600" cy="385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2248ba07e93_0_266"/>
          <p:cNvSpPr txBox="1"/>
          <p:nvPr/>
        </p:nvSpPr>
        <p:spPr>
          <a:xfrm>
            <a:off x="778025" y="6266875"/>
            <a:ext cx="691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meio dessa interação competitiva, as GANs aprendem a gerar conteúdo (voz, imagem, vídeo) cada vez mais convincente e realista.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248ba07e93_0_212"/>
          <p:cNvSpPr txBox="1"/>
          <p:nvPr>
            <p:ph type="title"/>
          </p:nvPr>
        </p:nvSpPr>
        <p:spPr>
          <a:xfrm>
            <a:off x="626475" y="755100"/>
            <a:ext cx="101808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i="1" lang="pt-BR" sz="4600">
                <a:solidFill>
                  <a:srgbClr val="0E71BA"/>
                </a:solidFill>
              </a:rPr>
              <a:t>Transformers</a:t>
            </a:r>
            <a:endParaRPr i="1"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i="1" sz="4600">
              <a:solidFill>
                <a:srgbClr val="0E71BA"/>
              </a:solidFill>
            </a:endParaRPr>
          </a:p>
        </p:txBody>
      </p:sp>
      <p:pic>
        <p:nvPicPr>
          <p:cNvPr id="192" name="Google Shape;192;g2248ba07e93_0_212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2248ba07e93_0_212"/>
          <p:cNvSpPr txBox="1"/>
          <p:nvPr/>
        </p:nvSpPr>
        <p:spPr>
          <a:xfrm>
            <a:off x="581050" y="2056100"/>
            <a:ext cx="9909000" cy="3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830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GPT (</a:t>
            </a:r>
            <a:r>
              <a:rPr b="1" i="1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Generative Pre-trained Transformer</a:t>
            </a: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1" marL="9144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○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Arquitetura de Transformers: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1" marL="9144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○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Introduzidos em 2017 no artigo "Attention is All You Need".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1" marL="9144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○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Substituem arquiteturas tradicionais de redes neurais recorrentes (RNNs e LSTMs) por um mecanismo de atenção.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1" marL="9144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○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Permite que o modelo dê peso a diferentes palavras no contexto de uma frase, capturando relações de longo alcance no texto.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g2248ba07e93_0_21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95" name="Google Shape;195;g2248ba07e93_0_2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7875" y="5392675"/>
            <a:ext cx="9166801" cy="195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g2248ba07e93_0_225"/>
          <p:cNvPicPr preferRelativeResize="0"/>
          <p:nvPr/>
        </p:nvPicPr>
        <p:blipFill rotWithShape="1">
          <a:blip r:embed="rId3">
            <a:alphaModFix/>
          </a:blip>
          <a:srcRect b="1573" l="0" r="0" t="0"/>
          <a:stretch/>
        </p:blipFill>
        <p:spPr>
          <a:xfrm>
            <a:off x="1923175" y="1567775"/>
            <a:ext cx="6847050" cy="46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2248ba07e93_0_225"/>
          <p:cNvSpPr txBox="1"/>
          <p:nvPr>
            <p:ph type="title"/>
          </p:nvPr>
        </p:nvSpPr>
        <p:spPr>
          <a:xfrm>
            <a:off x="626475" y="755100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pt-BR" sz="4600">
                <a:solidFill>
                  <a:srgbClr val="0E71BA"/>
                </a:solidFill>
              </a:rPr>
              <a:t>Transformers</a:t>
            </a:r>
            <a:endParaRPr i="1" sz="4600">
              <a:solidFill>
                <a:srgbClr val="0E71BA"/>
              </a:solidFill>
            </a:endParaRPr>
          </a:p>
        </p:txBody>
      </p:sp>
      <p:pic>
        <p:nvPicPr>
          <p:cNvPr id="202" name="Google Shape;202;g2248ba07e93_0_225"/>
          <p:cNvPicPr preferRelativeResize="0"/>
          <p:nvPr/>
        </p:nvPicPr>
        <p:blipFill rotWithShape="1">
          <a:blip r:embed="rId4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2248ba07e93_0_225"/>
          <p:cNvSpPr txBox="1"/>
          <p:nvPr/>
        </p:nvSpPr>
        <p:spPr>
          <a:xfrm>
            <a:off x="687625" y="1852525"/>
            <a:ext cx="99090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4" name="Google Shape;204;g2248ba07e93_0_225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5" name="Google Shape;205;g2248ba07e93_0_225"/>
          <p:cNvSpPr txBox="1"/>
          <p:nvPr/>
        </p:nvSpPr>
        <p:spPr>
          <a:xfrm>
            <a:off x="415650" y="6170975"/>
            <a:ext cx="924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200"/>
              <a:buFont typeface="Helvetica Neue"/>
              <a:buChar char="●"/>
            </a:pPr>
            <a:r>
              <a:rPr b="0" i="0" lang="pt-BR" sz="22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Às vezes chamados de modelos de fundação.</a:t>
            </a:r>
            <a:endParaRPr b="0" i="0" sz="22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248ba07e93_0_280"/>
          <p:cNvSpPr txBox="1"/>
          <p:nvPr>
            <p:ph type="title"/>
          </p:nvPr>
        </p:nvSpPr>
        <p:spPr>
          <a:xfrm>
            <a:off x="626475" y="755100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pt-BR" sz="4600">
                <a:solidFill>
                  <a:srgbClr val="0E71BA"/>
                </a:solidFill>
              </a:rPr>
              <a:t>Transformers</a:t>
            </a:r>
            <a:endParaRPr i="1" sz="4600">
              <a:solidFill>
                <a:srgbClr val="0E71BA"/>
              </a:solidFill>
            </a:endParaRPr>
          </a:p>
        </p:txBody>
      </p:sp>
      <p:pic>
        <p:nvPicPr>
          <p:cNvPr id="211" name="Google Shape;211;g2248ba07e93_0_28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2248ba07e93_0_28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13" name="Google Shape;213;g2248ba07e93_0_2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1525" y="904325"/>
            <a:ext cx="4372788" cy="6393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248ba07e93_0_239"/>
          <p:cNvSpPr txBox="1"/>
          <p:nvPr>
            <p:ph type="title"/>
          </p:nvPr>
        </p:nvSpPr>
        <p:spPr>
          <a:xfrm>
            <a:off x="626475" y="755100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pt-BR" sz="4600">
                <a:solidFill>
                  <a:srgbClr val="0E71BA"/>
                </a:solidFill>
              </a:rPr>
              <a:t>Transformers</a:t>
            </a:r>
            <a:endParaRPr i="1" sz="4600">
              <a:solidFill>
                <a:srgbClr val="0E71BA"/>
              </a:solidFill>
            </a:endParaRPr>
          </a:p>
        </p:txBody>
      </p:sp>
      <p:pic>
        <p:nvPicPr>
          <p:cNvPr id="219" name="Google Shape;219;g2248ba07e93_0_239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2248ba07e93_0_239"/>
          <p:cNvSpPr txBox="1"/>
          <p:nvPr/>
        </p:nvSpPr>
        <p:spPr>
          <a:xfrm>
            <a:off x="687625" y="1852525"/>
            <a:ext cx="99090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1" name="Google Shape;221;g2248ba07e93_0_23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2" name="Google Shape;222;g2248ba07e93_0_239"/>
          <p:cNvSpPr txBox="1"/>
          <p:nvPr/>
        </p:nvSpPr>
        <p:spPr>
          <a:xfrm>
            <a:off x="564875" y="1801200"/>
            <a:ext cx="97200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500"/>
              <a:buFont typeface="Helvetica Neue"/>
              <a:buChar char="●"/>
            </a:pPr>
            <a:r>
              <a:rPr b="0" i="0" lang="pt-BR" sz="25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modelo "transforma" a entrada bruta em representações contextualmente ricas.</a:t>
            </a:r>
            <a:endParaRPr b="0" i="0" sz="25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500"/>
              <a:buFont typeface="Helvetica Neue"/>
              <a:buChar char="●"/>
            </a:pPr>
            <a:r>
              <a:rPr b="0" i="0" lang="pt-BR" sz="25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Cada palavra é transformada em uma nova representação embasada não apenas no próprio conteúdo, mas também no contexto global da frase.</a:t>
            </a:r>
            <a:endParaRPr b="0" i="0" sz="25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500"/>
              <a:buFont typeface="Helvetica Neue"/>
              <a:buChar char="●"/>
            </a:pPr>
            <a:r>
              <a:rPr b="0" i="0" lang="pt-BR" sz="25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 muitos casos, os transformers substituem as redes neurais convolucionais (CNNs – Convolutional Neural Networks) e as redes neurais recorrentes (RNNs – Recurrent Neural Networks).</a:t>
            </a:r>
            <a:endParaRPr b="0" i="0" sz="25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248ba07e93_0_290"/>
          <p:cNvSpPr txBox="1"/>
          <p:nvPr>
            <p:ph type="title"/>
          </p:nvPr>
        </p:nvSpPr>
        <p:spPr>
          <a:xfrm>
            <a:off x="626475" y="755100"/>
            <a:ext cx="10180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800">
                <a:solidFill>
                  <a:srgbClr val="0E71BA"/>
                </a:solidFill>
              </a:rPr>
              <a:t>(</a:t>
            </a:r>
            <a:r>
              <a:rPr i="1" lang="pt-BR" sz="3800">
                <a:solidFill>
                  <a:srgbClr val="0E71BA"/>
                </a:solidFill>
              </a:rPr>
              <a:t>Convolutional Neural Networks </a:t>
            </a:r>
            <a:r>
              <a:rPr lang="pt-BR" sz="3800">
                <a:solidFill>
                  <a:srgbClr val="0E71BA"/>
                </a:solidFill>
              </a:rPr>
              <a:t>- CNNs)</a:t>
            </a:r>
            <a:endParaRPr sz="3800">
              <a:solidFill>
                <a:srgbClr val="0E71BA"/>
              </a:solidFill>
            </a:endParaRPr>
          </a:p>
        </p:txBody>
      </p:sp>
      <p:pic>
        <p:nvPicPr>
          <p:cNvPr id="228" name="Google Shape;228;g2248ba07e93_0_29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2248ba07e93_0_290"/>
          <p:cNvSpPr txBox="1"/>
          <p:nvPr/>
        </p:nvSpPr>
        <p:spPr>
          <a:xfrm>
            <a:off x="687625" y="1852525"/>
            <a:ext cx="99090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0" name="Google Shape;230;g2248ba07e93_0_29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31" name="Google Shape;231;g2248ba07e93_0_290"/>
          <p:cNvPicPr preferRelativeResize="0"/>
          <p:nvPr/>
        </p:nvPicPr>
        <p:blipFill rotWithShape="1">
          <a:blip r:embed="rId4">
            <a:alphaModFix/>
          </a:blip>
          <a:srcRect b="0" l="0" r="0" t="10458"/>
          <a:stretch/>
        </p:blipFill>
        <p:spPr>
          <a:xfrm>
            <a:off x="286925" y="1557150"/>
            <a:ext cx="7194976" cy="287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g2248ba07e93_0_290"/>
          <p:cNvPicPr preferRelativeResize="0"/>
          <p:nvPr/>
        </p:nvPicPr>
        <p:blipFill rotWithShape="1">
          <a:blip r:embed="rId5">
            <a:alphaModFix/>
          </a:blip>
          <a:srcRect b="38393" l="0" r="0" t="0"/>
          <a:stretch/>
        </p:blipFill>
        <p:spPr>
          <a:xfrm>
            <a:off x="1868325" y="4977275"/>
            <a:ext cx="6750750" cy="221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248ba07e93_0_301"/>
          <p:cNvSpPr txBox="1"/>
          <p:nvPr>
            <p:ph type="title"/>
          </p:nvPr>
        </p:nvSpPr>
        <p:spPr>
          <a:xfrm>
            <a:off x="626475" y="755100"/>
            <a:ext cx="10180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800">
                <a:solidFill>
                  <a:srgbClr val="0E71BA"/>
                </a:solidFill>
              </a:rPr>
              <a:t>(</a:t>
            </a:r>
            <a:r>
              <a:rPr i="1" lang="pt-BR" sz="3800">
                <a:solidFill>
                  <a:srgbClr val="0E71BA"/>
                </a:solidFill>
              </a:rPr>
              <a:t>Recurrent Neural Networks </a:t>
            </a:r>
            <a:r>
              <a:rPr lang="pt-BR" sz="3800">
                <a:solidFill>
                  <a:srgbClr val="0E71BA"/>
                </a:solidFill>
              </a:rPr>
              <a:t>- RNNs)</a:t>
            </a:r>
            <a:endParaRPr sz="3800">
              <a:solidFill>
                <a:srgbClr val="0E71BA"/>
              </a:solidFill>
            </a:endParaRPr>
          </a:p>
        </p:txBody>
      </p:sp>
      <p:pic>
        <p:nvPicPr>
          <p:cNvPr id="238" name="Google Shape;238;g2248ba07e93_0_301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2248ba07e93_0_301"/>
          <p:cNvSpPr txBox="1"/>
          <p:nvPr/>
        </p:nvSpPr>
        <p:spPr>
          <a:xfrm>
            <a:off x="687625" y="1852525"/>
            <a:ext cx="99090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0" name="Google Shape;240;g2248ba07e93_0_301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1" name="Google Shape;241;g2248ba07e93_0_301"/>
          <p:cNvSpPr txBox="1"/>
          <p:nvPr/>
        </p:nvSpPr>
        <p:spPr>
          <a:xfrm>
            <a:off x="460100" y="5353425"/>
            <a:ext cx="91977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Fluxo de trabalho em loop automático ou recorrente: a camada oculta pode lembrar e usar entradas anteriores para previsões futuras em um componente de memória de curto prazo.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exemplo, considere a sequência: Apple is red. Você quer que a RNN preveja o red ao receber a sequência de entrada Apple is. Quando a camada oculta processa a palavra Apple, ela armazena uma cópia em sua memória. Em seguida, quando vê a palavra is, ele lembra a Apple de sua memória e entende a sequência completa: Apple is para contextualizar. Em seguida, ele pode prever o red para melhorar a precisão. </a:t>
            </a:r>
            <a:endParaRPr b="0" i="0" sz="1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2" name="Google Shape;242;g2248ba07e93_0_301"/>
          <p:cNvPicPr preferRelativeResize="0"/>
          <p:nvPr/>
        </p:nvPicPr>
        <p:blipFill rotWithShape="1">
          <a:blip r:embed="rId4">
            <a:alphaModFix/>
          </a:blip>
          <a:srcRect b="6733" l="0" r="0" t="0"/>
          <a:stretch/>
        </p:blipFill>
        <p:spPr>
          <a:xfrm>
            <a:off x="1484625" y="1643075"/>
            <a:ext cx="6924499" cy="363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249415d7d8_0_0"/>
          <p:cNvSpPr txBox="1"/>
          <p:nvPr>
            <p:ph type="title"/>
          </p:nvPr>
        </p:nvSpPr>
        <p:spPr>
          <a:xfrm>
            <a:off x="626475" y="755100"/>
            <a:ext cx="10180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800">
                <a:solidFill>
                  <a:srgbClr val="0E71BA"/>
                </a:solidFill>
              </a:rPr>
              <a:t>Não confundir…</a:t>
            </a:r>
            <a:endParaRPr sz="3800">
              <a:solidFill>
                <a:srgbClr val="0E71BA"/>
              </a:solidFill>
            </a:endParaRPr>
          </a:p>
        </p:txBody>
      </p:sp>
      <p:pic>
        <p:nvPicPr>
          <p:cNvPr id="248" name="Google Shape;248;g2249415d7d8_0_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2249415d7d8_0_0"/>
          <p:cNvSpPr txBox="1"/>
          <p:nvPr/>
        </p:nvSpPr>
        <p:spPr>
          <a:xfrm>
            <a:off x="687625" y="1852525"/>
            <a:ext cx="99090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0" name="Google Shape;250;g2249415d7d8_0_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1" name="Google Shape;251;g2249415d7d8_0_0"/>
          <p:cNvSpPr txBox="1"/>
          <p:nvPr/>
        </p:nvSpPr>
        <p:spPr>
          <a:xfrm>
            <a:off x="480625" y="1644425"/>
            <a:ext cx="10116000" cy="57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RNN: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Processa sequências uma palavra por vez, usando um estado oculto para capturar o contexto das palavras anteriores. Não necessariamente generativo.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Dificuldade em manter dependências de longo prazo (problema do "desvanecimento do gradiente").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Exemplo: Usado em tradução automática e reconhecimento de fala.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Modelo Autoregressivo: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Gera a próxima palavra diretamente com base nas palavras anteriores, usando atenção (em modelos baseados em Transformers).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Captura dependências de longo alcance mais eficientemente com Self-Attention.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Usa os próprios dados gerados anteriormente como entrada para prever o próximo passo.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Exemplo: GPT, que gera texto palavra por palavra com contexto global.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1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Pergunta: </a:t>
            </a: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que são os bilhões de parâmetros usados no treinamento do ChatGPT?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5f3584e39e_3_150"/>
          <p:cNvSpPr txBox="1"/>
          <p:nvPr>
            <p:ph type="title"/>
          </p:nvPr>
        </p:nvSpPr>
        <p:spPr>
          <a:xfrm>
            <a:off x="626476" y="755100"/>
            <a:ext cx="5496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Atividade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57" name="Google Shape;257;g25f3584e39e_3_15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25f3584e39e_3_150"/>
          <p:cNvSpPr txBox="1"/>
          <p:nvPr/>
        </p:nvSpPr>
        <p:spPr>
          <a:xfrm>
            <a:off x="581050" y="2056100"/>
            <a:ext cx="9531300" cy="21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195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●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Pesquise sobre: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1" marL="9144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○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Redes de Memória de Longo Curto Prazo (LSTMs)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1" marL="9144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○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Redes Neurais Auto-organizáveis (SOMs - Self-Organizing Maps)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1" marL="9144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○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Redes Adversárias Generativas (GANs)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9" name="Google Shape;259;g25f3584e39e_3_15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9405ede3f4_0_388"/>
          <p:cNvSpPr txBox="1"/>
          <p:nvPr>
            <p:ph type="title"/>
          </p:nvPr>
        </p:nvSpPr>
        <p:spPr>
          <a:xfrm>
            <a:off x="626476" y="755100"/>
            <a:ext cx="5496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Atividade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65" name="Google Shape;265;g39405ede3f4_0_388"/>
          <p:cNvPicPr preferRelativeResize="0"/>
          <p:nvPr/>
        </p:nvPicPr>
        <p:blipFill rotWithShape="1">
          <a:blip r:embed="rId3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g39405ede3f4_0_388"/>
          <p:cNvSpPr txBox="1"/>
          <p:nvPr/>
        </p:nvSpPr>
        <p:spPr>
          <a:xfrm>
            <a:off x="581050" y="2056100"/>
            <a:ext cx="95313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465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300"/>
              <a:buFont typeface="Helvetica Neue"/>
              <a:buChar char="●"/>
            </a:pPr>
            <a:r>
              <a:rPr b="1" lang="pt-BR" sz="23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IA erra?  </a:t>
            </a:r>
            <a:endParaRPr b="1" sz="2300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Discussão</a:t>
            </a:r>
            <a:endParaRPr b="0" i="1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7" name="Google Shape;267;g39405ede3f4_0_38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9405ede3f4_0_395"/>
          <p:cNvSpPr txBox="1"/>
          <p:nvPr>
            <p:ph type="title"/>
          </p:nvPr>
        </p:nvSpPr>
        <p:spPr>
          <a:xfrm>
            <a:off x="626476" y="755100"/>
            <a:ext cx="5496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Atividade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73" name="Google Shape;273;g39405ede3f4_0_395"/>
          <p:cNvPicPr preferRelativeResize="0"/>
          <p:nvPr/>
        </p:nvPicPr>
        <p:blipFill rotWithShape="1">
          <a:blip r:embed="rId3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39405ede3f4_0_395"/>
          <p:cNvSpPr txBox="1"/>
          <p:nvPr/>
        </p:nvSpPr>
        <p:spPr>
          <a:xfrm>
            <a:off x="581050" y="2056100"/>
            <a:ext cx="9531300" cy="3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465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300"/>
              <a:buFont typeface="Helvetica Neue"/>
              <a:buChar char="●"/>
            </a:pPr>
            <a:r>
              <a:rPr b="1" lang="pt-BR" sz="23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IA erra?  </a:t>
            </a:r>
            <a:endParaRPr b="1" sz="2300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Desafio: Demonstração de uma IA generativa errando (ex: resposta incorreta, viés, alucinação)  </a:t>
            </a:r>
            <a:endParaRPr sz="2300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Discussão:</a:t>
            </a:r>
            <a:endParaRPr sz="2300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que o erro pode ter ocorrido  </a:t>
            </a:r>
            <a:endParaRPr sz="2300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Quais riscos esse tipo de erro traria na sua área profissional</a:t>
            </a:r>
            <a:endParaRPr b="0" i="1" sz="23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5" name="Google Shape;275;g39405ede3f4_0_395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d51712bcc6_0_0"/>
          <p:cNvSpPr txBox="1"/>
          <p:nvPr>
            <p:ph type="title"/>
          </p:nvPr>
        </p:nvSpPr>
        <p:spPr>
          <a:xfrm>
            <a:off x="626476" y="755100"/>
            <a:ext cx="5496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Próxima aula…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81" name="Google Shape;281;g2d51712bcc6_0_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2d51712bcc6_0_0"/>
          <p:cNvSpPr txBox="1"/>
          <p:nvPr/>
        </p:nvSpPr>
        <p:spPr>
          <a:xfrm>
            <a:off x="581050" y="2056100"/>
            <a:ext cx="95313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195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●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Rondado modelos localmente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92934"/>
              </a:buClr>
              <a:buSzPts val="2100"/>
              <a:buFont typeface="Helvetica Neue"/>
              <a:buChar char="●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Linguagens de programação e ferramentas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3" name="Google Shape;283;g2d51712bcc6_0_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2023-07-02T21:27:13Z</dcterms:created>
  <dc:creator>Online2PDF.com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2015-09-23T00:00:00Z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2023-07-02T00:00:00Z</vt:filetime>
  </property>
</Properties>
</file>