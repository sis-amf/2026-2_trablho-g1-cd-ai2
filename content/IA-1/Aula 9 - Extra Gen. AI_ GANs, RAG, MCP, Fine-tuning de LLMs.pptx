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7556500" cx="10693400"/>
  <p:notesSz cx="10693400" cy="7556500"/>
  <p:embeddedFontLst>
    <p:embeddedFont>
      <p:font typeface="Montserrat"/>
      <p:regular r:id="rId40"/>
      <p:bold r:id="rId41"/>
      <p:italic r:id="rId42"/>
      <p:boldItalic r:id="rId43"/>
    </p:embeddedFont>
    <p:embeddedFont>
      <p:font typeface="Helvetica Neue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mW96e6mfSscLRup0nL1SIYc2E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46" Type="http://schemas.openxmlformats.org/officeDocument/2006/relationships/font" Target="fonts/HelveticaNeue-italic.fntdata"/><Relationship Id="rId23" Type="http://schemas.openxmlformats.org/officeDocument/2006/relationships/slide" Target="slides/slide18.xml"/><Relationship Id="rId45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HelveticaNeue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16be3daf_0_3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d516be3daf_0_3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85e10a6f3_0_3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185e10a6f3_0_3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85e10a6f3_0_4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185e10a6f3_0_4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85e10a6f3_0_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185e10a6f3_0_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85e10a6f3_0_1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185e10a6f3_0_1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85e10a6f3_0_5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185e10a6f3_0_5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85e10a6f3_0_6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185e10a6f3_0_6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85e10a6f3_0_8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185e10a6f3_0_8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85e10a6f3_0_11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185e10a6f3_0_11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85e10a6f3_0_7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185e10a6f3_0_7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85e10a6f3_0_9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185e10a6f3_0_9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85e10a6f3_0_13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185e10a6f3_0_13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85e10a6f3_0_14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185e10a6f3_0_14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85e10a6f3_0_15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185e10a6f3_0_15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1bf5bb4f7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61bf5bb4f7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1bf5bb4f7_0_1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61bf5bb4f7_0_1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1bf5bb4f7_0_1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61bf5bb4f7_0_1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1bf5bb4f7_0_2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61bf5bb4f7_0_2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85e10a6f3_0_16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185e10a6f3_0_16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85e10a6f3_0_1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185e10a6f3_0_1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85e10a6f3_0_17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185e10a6f3_0_17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85e10a6f3_0_22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185e10a6f3_0_22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85e10a6f3_0_23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185e10a6f3_0_23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85e10a6f3_0_24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185e10a6f3_0_24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85e10a6f3_0_25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185e10a6f3_0_25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85e10a6f3_0_26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185e10a6f3_0_26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85e10a6f3_0_27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185e10a6f3_0_27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85e10a6f3_0_28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185e10a6f3_0_28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85e10a6f3_0_31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185e10a6f3_0_31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185e10a6f3_0_32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185e10a6f3_0_32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185e10a6f3_0_33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185e10a6f3_0_33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185e10a6f3_0_20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185e10a6f3_0_20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e10a6f3_0_21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g3185e10a6f3_0_21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8.gif"/><Relationship Id="rId5" Type="http://schemas.openxmlformats.org/officeDocument/2006/relationships/hyperlink" Target="https://medium.com/ai-society/gans-from-scratch-1-a-deep-introduction-with-code-in-pytorch-and-tensorflow-cb03cdcdba0f" TargetMode="External"/><Relationship Id="rId6" Type="http://schemas.openxmlformats.org/officeDocument/2006/relationships/hyperlink" Target="https://poloclub.github.io/ganlab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aws.amazon.com/bedrock/knowledge-base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https://modelcontextprotocol.io/introduction" TargetMode="External"/><Relationship Id="rId5" Type="http://schemas.openxmlformats.org/officeDocument/2006/relationships/hyperlink" Target="https://github.com/jlowin/fastmc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hyperlink" Target="https://magazine.sebastianraschka.com/p/finetuning-llms-with-adapters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397798"/>
            <a:ext cx="9183900" cy="1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9 - Tópicos extras Gen. AI: GANs, RAG, MCP, Fine-tuning de LLMs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junho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516be3daf_0_30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GANs (</a:t>
            </a:r>
            <a:r>
              <a:rPr i="1" lang="pt-BR" sz="4300">
                <a:solidFill>
                  <a:srgbClr val="0E71BA"/>
                </a:solidFill>
              </a:rPr>
              <a:t>Generative Adversarial Networks</a:t>
            </a:r>
            <a:r>
              <a:rPr lang="pt-BR" sz="4300">
                <a:solidFill>
                  <a:srgbClr val="0E71BA"/>
                </a:solidFill>
              </a:rPr>
              <a:t>)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87" name="Google Shape;87;g2d516be3daf_0_3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516be3daf_0_3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g2d516be3daf_0_3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2d516be3daf_0_30"/>
          <p:cNvSpPr txBox="1"/>
          <p:nvPr/>
        </p:nvSpPr>
        <p:spPr>
          <a:xfrm>
            <a:off x="594800" y="1648938"/>
            <a:ext cx="100986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uma Rede Adversária Generativa?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4450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4450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Duas redes neurais em competição.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271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Gerador: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cria dados falsos.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271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Discriminador: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tenta diferenciar dados reais de falsos.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271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85e10a6f3_0_30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GANs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96" name="Google Shape;96;g3185e10a6f3_0_3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185e10a6f3_0_3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g3185e10a6f3_0_3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185e10a6f3_0_30"/>
          <p:cNvSpPr txBox="1"/>
          <p:nvPr/>
        </p:nvSpPr>
        <p:spPr>
          <a:xfrm>
            <a:off x="594800" y="1648938"/>
            <a:ext cx="10098600" cy="4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Processo básico: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gerador cria uma amostra de dados.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discriminador avalia a amostra e decide se ela é real ou falsa.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Ambos melhoram com o tempo até que o gerador produza amostras indistinguíveis das reais.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Fluxo de treinamento: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gerador tenta enganar o discriminador.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discriminador tenta melhorar sua capacidade de distinguir as amostras falsas das reais.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g3185e10a6f3_0_30"/>
          <p:cNvSpPr txBox="1"/>
          <p:nvPr/>
        </p:nvSpPr>
        <p:spPr>
          <a:xfrm>
            <a:off x="284125" y="6732700"/>
            <a:ext cx="984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criar imagens falsas de rostos humanos.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85e10a6f3_0_41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GANs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06" name="Google Shape;106;g3185e10a6f3_0_4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185e10a6f3_0_4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g3185e10a6f3_0_4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g3185e10a6f3_0_41"/>
          <p:cNvSpPr txBox="1"/>
          <p:nvPr/>
        </p:nvSpPr>
        <p:spPr>
          <a:xfrm>
            <a:off x="594800" y="1648938"/>
            <a:ext cx="10098600" cy="5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Gerador: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Vetor de ruído (geralmente aleatório).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Saída: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Dados gerados (imagens, textos, etc.).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Discriminador: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Dados reais ou falsificados.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Saída: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Probabilidade de ser real ou falso.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Ciclo de treinamento: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 entre otimizar o gerador e o discriminador.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185e10a6f3_0_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185e10a6f3_0_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6" name="Google Shape;116;g3185e10a6f3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6825" y="1347245"/>
            <a:ext cx="80962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185e10a6f3_0_4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GANs </a:t>
            </a:r>
            <a:endParaRPr sz="4300">
              <a:solidFill>
                <a:srgbClr val="0E71BA"/>
              </a:solidFill>
            </a:endParaRPr>
          </a:p>
        </p:txBody>
      </p:sp>
      <p:sp>
        <p:nvSpPr>
          <p:cNvPr id="118" name="Google Shape;118;g3185e10a6f3_0_4"/>
          <p:cNvSpPr txBox="1"/>
          <p:nvPr/>
        </p:nvSpPr>
        <p:spPr>
          <a:xfrm>
            <a:off x="131800" y="6209200"/>
            <a:ext cx="90531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Gerador → Dados Sintéticos.</a:t>
            </a:r>
            <a:endParaRPr b="0" i="0" sz="2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Discriminador → Classificação (Real ou Falso).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85e10a6f3_0_13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GANs 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24" name="Google Shape;124;g3185e10a6f3_0_1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185e10a6f3_0_1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g3185e10a6f3_0_1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3185e10a6f3_0_13"/>
          <p:cNvSpPr txBox="1"/>
          <p:nvPr/>
        </p:nvSpPr>
        <p:spPr>
          <a:xfrm>
            <a:off x="552675" y="993188"/>
            <a:ext cx="100986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Função de Perda (Minimax)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g3185e10a6f3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1400" y="2510050"/>
            <a:ext cx="7761599" cy="468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85e10a6f3_0_51"/>
          <p:cNvSpPr txBox="1"/>
          <p:nvPr>
            <p:ph type="title"/>
          </p:nvPr>
        </p:nvSpPr>
        <p:spPr>
          <a:xfrm>
            <a:off x="511575" y="691175"/>
            <a:ext cx="101808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Aplicações das GANs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34" name="Google Shape;134;g3185e10a6f3_0_5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185e10a6f3_0_5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g3185e10a6f3_0_5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185e10a6f3_0_51"/>
          <p:cNvSpPr txBox="1"/>
          <p:nvPr/>
        </p:nvSpPr>
        <p:spPr>
          <a:xfrm>
            <a:off x="552675" y="1652188"/>
            <a:ext cx="100986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-374650" lvl="0" marL="4572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Geração de imagens e vídeos: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Criar imagens realistas, como retratos, paisagens, etc.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Deepfakes: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Geração de vídeos falsos, com aplicações e controvérsias.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Aprimoramento de imagens: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Aumentar a resolução de imagens (super-resolução).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5080" rtl="0" algn="l">
              <a:lnSpc>
                <a:spcPct val="11843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Criação de arte: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8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Geração de novas obras de arte baseadas em estilos de artistas famosos.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85e10a6f3_0_62"/>
          <p:cNvSpPr txBox="1"/>
          <p:nvPr>
            <p:ph type="title"/>
          </p:nvPr>
        </p:nvSpPr>
        <p:spPr>
          <a:xfrm>
            <a:off x="511575" y="691175"/>
            <a:ext cx="101808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Desafios das GANs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43" name="Google Shape;143;g3185e10a6f3_0_6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185e10a6f3_0_6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" name="Google Shape;145;g3185e10a6f3_0_6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185e10a6f3_0_62"/>
          <p:cNvSpPr txBox="1"/>
          <p:nvPr/>
        </p:nvSpPr>
        <p:spPr>
          <a:xfrm>
            <a:off x="552675" y="1652188"/>
            <a:ext cx="10098600" cy="3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-374650" lvl="0" marL="4572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Instabilidade no treinamento: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equilíbrio entre o gerador e o discriminador é difícil de manter.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Modo de colapso: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gerador pode começar a produzir apenas um tipo de amostra, falhando na diversidade.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Exigência computacional: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5080" rtl="0" algn="l">
              <a:lnSpc>
                <a:spcPct val="118437"/>
              </a:lnSpc>
              <a:spcBef>
                <a:spcPts val="1080"/>
              </a:spcBef>
              <a:spcAft>
                <a:spcPts val="1000"/>
              </a:spcAft>
              <a:buClr>
                <a:srgbClr val="000000"/>
              </a:buClr>
              <a:buSzPts val="2300"/>
              <a:buFont typeface="Helvetica Neue"/>
              <a:buChar char="○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Treinamento de GANs exige grande poder computacional.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85e10a6f3_0_82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Exemplo GAN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52" name="Google Shape;152;g3185e10a6f3_0_8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185e10a6f3_0_8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" name="Google Shape;154;g3185e10a6f3_0_8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5" name="Google Shape;155;g3185e10a6f3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0500" y="157625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185e10a6f3_0_82"/>
          <p:cNvSpPr txBox="1"/>
          <p:nvPr/>
        </p:nvSpPr>
        <p:spPr>
          <a:xfrm>
            <a:off x="3338950" y="6148250"/>
            <a:ext cx="401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of a GAN through time, learning to create hand-written digits. Tutorial </a:t>
            </a:r>
            <a:r>
              <a:rPr b="0" i="0" lang="pt-BR" sz="14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b="0" i="0" lang="pt-BR" sz="14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4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g3185e10a6f3_0_82"/>
          <p:cNvSpPr txBox="1"/>
          <p:nvPr/>
        </p:nvSpPr>
        <p:spPr>
          <a:xfrm>
            <a:off x="6179925" y="965075"/>
            <a:ext cx="52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</a:t>
            </a:r>
            <a:r>
              <a:rPr b="0" i="0" lang="pt-BR" sz="14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https://poloclub.github.io/ganlab/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85e10a6f3_0_115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Imagine Generative Models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63" name="Google Shape;163;g3185e10a6f3_0_11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185e10a6f3_0_11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g3185e10a6f3_0_11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6" name="Google Shape;166;g3185e10a6f3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666563"/>
            <a:ext cx="10388600" cy="276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85e10a6f3_0_72"/>
          <p:cNvSpPr txBox="1"/>
          <p:nvPr>
            <p:ph type="title"/>
          </p:nvPr>
        </p:nvSpPr>
        <p:spPr>
          <a:xfrm>
            <a:off x="511575" y="691175"/>
            <a:ext cx="101808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Generative AI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72" name="Google Shape;172;g3185e10a6f3_0_7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185e10a6f3_0_7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" name="Google Shape;174;g3185e10a6f3_0_7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5" name="Google Shape;175;g3185e10a6f3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888" y="1699062"/>
            <a:ext cx="8153574" cy="57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185e10a6f3_0_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0576" y="974976"/>
            <a:ext cx="1978150" cy="279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185e10a6f3_0_72"/>
          <p:cNvCxnSpPr/>
          <p:nvPr/>
        </p:nvCxnSpPr>
        <p:spPr>
          <a:xfrm flipH="1" rot="10800000">
            <a:off x="6959000" y="3769475"/>
            <a:ext cx="1259400" cy="8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g3185e10a6f3_0_72"/>
          <p:cNvSpPr txBox="1"/>
          <p:nvPr/>
        </p:nvSpPr>
        <p:spPr>
          <a:xfrm>
            <a:off x="6724700" y="4572000"/>
            <a:ext cx="629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6D9EE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2017</a:t>
            </a:r>
            <a:endParaRPr b="1" i="0" sz="1400" u="none" cap="none" strike="noStrike">
              <a:solidFill>
                <a:srgbClr val="6D9EE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g3185e10a6f3_0_72"/>
          <p:cNvSpPr txBox="1"/>
          <p:nvPr/>
        </p:nvSpPr>
        <p:spPr>
          <a:xfrm>
            <a:off x="8599175" y="3666950"/>
            <a:ext cx="1890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Generative Transformers-based models</a:t>
            </a:r>
            <a:endParaRPr b="1" i="0" sz="1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g3185e10a6f3_0_72"/>
          <p:cNvSpPr/>
          <p:nvPr/>
        </p:nvSpPr>
        <p:spPr>
          <a:xfrm>
            <a:off x="6929708" y="4574900"/>
            <a:ext cx="73200" cy="58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85e10a6f3_0_91"/>
          <p:cNvSpPr txBox="1"/>
          <p:nvPr>
            <p:ph type="title"/>
          </p:nvPr>
        </p:nvSpPr>
        <p:spPr>
          <a:xfrm>
            <a:off x="511575" y="691175"/>
            <a:ext cx="101808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300">
                <a:solidFill>
                  <a:srgbClr val="0E71BA"/>
                </a:solidFill>
              </a:rPr>
              <a:t>RAG (</a:t>
            </a:r>
            <a:r>
              <a:rPr i="1" lang="pt-BR" sz="4300">
                <a:solidFill>
                  <a:srgbClr val="0E71BA"/>
                </a:solidFill>
              </a:rPr>
              <a:t>Retrieval-Augmented Generation</a:t>
            </a:r>
            <a:r>
              <a:rPr lang="pt-BR" sz="4300">
                <a:solidFill>
                  <a:srgbClr val="0E71BA"/>
                </a:solidFill>
              </a:rPr>
              <a:t>)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86" name="Google Shape;186;g3185e10a6f3_0_9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185e10a6f3_0_9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8" name="Google Shape;188;g3185e10a6f3_0_9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g3185e10a6f3_0_91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Recuperação Baseada em Conhecimento: integração de sistemas de recuperação de informações com modelos generativos.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Pipeline: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○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Recuperação: 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pesquisa nos documentos.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○"/>
            </a:pPr>
            <a:r>
              <a:rPr b="1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Geração:</a:t>
            </a:r>
            <a:r>
              <a:rPr b="0" i="0" lang="pt-BR" sz="23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cria respostas com base nos dados recuperados.</a:t>
            </a:r>
            <a:endParaRPr b="0" i="0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85e10a6f3_0_133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RAG 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195" name="Google Shape;195;g3185e10a6f3_0_13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185e10a6f3_0_13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g3185e10a6f3_0_13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g3185e10a6f3_0_133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 geral: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Indexador de documentos.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Consultas processadas por um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retriever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Geração da resposta com o modelo LLM.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Chatbots corporativos com base em FAQs. Suporte técnico com documentação técnica.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r>
              <a:rPr b="0" i="0" lang="pt-BR" sz="21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https://aws.amazon.com/bedrock/knowledge-bases/</a:t>
            </a:r>
            <a:endParaRPr b="0" i="0" sz="21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85e10a6f3_0_143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RAG 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04" name="Google Shape;204;g3185e10a6f3_0_14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185e10a6f3_0_14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6" name="Google Shape;206;g3185e10a6f3_0_14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7" name="Google Shape;207;g3185e10a6f3_0_143"/>
          <p:cNvPicPr preferRelativeResize="0"/>
          <p:nvPr/>
        </p:nvPicPr>
        <p:blipFill rotWithShape="1">
          <a:blip r:embed="rId4">
            <a:alphaModFix/>
          </a:blip>
          <a:srcRect b="6868" l="0" r="5051" t="11257"/>
          <a:stretch/>
        </p:blipFill>
        <p:spPr>
          <a:xfrm>
            <a:off x="210900" y="2112449"/>
            <a:ext cx="9396976" cy="4538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85e10a6f3_0_152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RAG 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13" name="Google Shape;213;g3185e10a6f3_0_15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185e10a6f3_0_15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5" name="Google Shape;215;g3185e10a6f3_0_15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" name="Google Shape;216;g3185e10a6f3_0_152"/>
          <p:cNvPicPr preferRelativeResize="0"/>
          <p:nvPr/>
        </p:nvPicPr>
        <p:blipFill rotWithShape="1">
          <a:blip r:embed="rId4">
            <a:alphaModFix/>
          </a:blip>
          <a:srcRect b="12914" l="10502" r="7636" t="28508"/>
          <a:stretch/>
        </p:blipFill>
        <p:spPr>
          <a:xfrm>
            <a:off x="184703" y="1734200"/>
            <a:ext cx="10323999" cy="34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185e10a6f3_0_152"/>
          <p:cNvSpPr txBox="1"/>
          <p:nvPr/>
        </p:nvSpPr>
        <p:spPr>
          <a:xfrm>
            <a:off x="584800" y="6271000"/>
            <a:ext cx="83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depende da qualidade e relevância dos documentos recuperados.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1bf5bb4f7_0_0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MCP (</a:t>
            </a:r>
            <a:r>
              <a:rPr i="1" lang="pt-BR" sz="4300">
                <a:solidFill>
                  <a:srgbClr val="0E71BA"/>
                </a:solidFill>
              </a:rPr>
              <a:t>Model Context Protocol</a:t>
            </a:r>
            <a:r>
              <a:rPr lang="pt-BR" sz="4300">
                <a:solidFill>
                  <a:srgbClr val="0E71BA"/>
                </a:solidFill>
              </a:rPr>
              <a:t>)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23" name="Google Shape;223;g361bf5bb4f7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61bf5bb4f7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5" name="Google Shape;225;g361bf5bb4f7_0_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g361bf5bb4f7_0_0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Anthropic, 2024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Protocolo aberto que padroniza a forma como as aplicações fornecem contexto para LLMs e interagem com ferramentas externas, como APIs e BDs.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“Think of MCP like a USB-C port for AI applications.” </a:t>
            </a: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pt-BR" sz="22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</a:t>
            </a: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g361bf5bb4f7_0_0"/>
          <p:cNvSpPr txBox="1"/>
          <p:nvPr/>
        </p:nvSpPr>
        <p:spPr>
          <a:xfrm>
            <a:off x="817900" y="6592100"/>
            <a:ext cx="606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r>
              <a:rPr b="0" i="0" lang="pt-BR" sz="24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https://github.com/jlowin/fastmcp</a:t>
            </a:r>
            <a:endParaRPr b="0" i="0" sz="24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1bf5bb4f7_0_19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MCP (</a:t>
            </a:r>
            <a:r>
              <a:rPr i="1" lang="pt-BR" sz="4300">
                <a:solidFill>
                  <a:srgbClr val="0E71BA"/>
                </a:solidFill>
              </a:rPr>
              <a:t>Model Context Protocol</a:t>
            </a:r>
            <a:r>
              <a:rPr lang="pt-BR" sz="4300">
                <a:solidFill>
                  <a:srgbClr val="0E71BA"/>
                </a:solidFill>
              </a:rPr>
              <a:t>)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33" name="Google Shape;233;g361bf5bb4f7_0_1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61bf5bb4f7_0_1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5" name="Google Shape;235;g361bf5bb4f7_0_1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6" name="Google Shape;236;g361bf5bb4f7_0_19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hosts: 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programs like Claude Desktop, IDEs, or AI tools that want to access data through MCP;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clients: 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 clients that maintain 1:1 connections with servers;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servers: 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 programs that each expose specific capabilities through the standardized protocol;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Data Sources: 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Files, databases, and services that MCP servers can securely access;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1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Remote Services: 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systems available over the internet (</a:t>
            </a:r>
            <a:r>
              <a:rPr b="0" i="1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</a:t>
            </a: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through APIs) that MCP servers can connect to.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1bf5bb4f7_0_10"/>
          <p:cNvSpPr txBox="1"/>
          <p:nvPr>
            <p:ph type="title"/>
          </p:nvPr>
        </p:nvSpPr>
        <p:spPr>
          <a:xfrm>
            <a:off x="511575" y="691175"/>
            <a:ext cx="101808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300">
                <a:solidFill>
                  <a:srgbClr val="0E71BA"/>
                </a:solidFill>
              </a:rPr>
              <a:t>MCP (</a:t>
            </a:r>
            <a:r>
              <a:rPr i="1" lang="pt-BR" sz="4300">
                <a:solidFill>
                  <a:srgbClr val="0E71BA"/>
                </a:solidFill>
              </a:rPr>
              <a:t>Model Context Protocol</a:t>
            </a:r>
            <a:r>
              <a:rPr lang="pt-BR" sz="4300">
                <a:solidFill>
                  <a:srgbClr val="0E71BA"/>
                </a:solidFill>
              </a:rPr>
              <a:t>)</a:t>
            </a:r>
            <a:endParaRPr sz="43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42" name="Google Shape;242;g361bf5bb4f7_0_1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61bf5bb4f7_0_1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" name="Google Shape;244;g361bf5bb4f7_0_1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g361bf5bb4f7_0_10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 geral: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6" name="Google Shape;246;g361bf5bb4f7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0575" y="2572225"/>
            <a:ext cx="65722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61bf5bb4f7_0_2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61bf5bb4f7_0_2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3" name="Google Shape;253;g361bf5bb4f7_0_2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4" name="Google Shape;254;g361bf5bb4f7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4925" y="686600"/>
            <a:ext cx="6743551" cy="44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61bf5bb4f7_0_27"/>
          <p:cNvSpPr txBox="1"/>
          <p:nvPr/>
        </p:nvSpPr>
        <p:spPr>
          <a:xfrm>
            <a:off x="440475" y="5369800"/>
            <a:ext cx="91674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Agent-to-Agent protocol proposto pelo Google, define como agentes  podem se comunicar, descobrir capacidades uns dos outros, negociar e colaborar em tarefas.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92934"/>
              </a:buClr>
              <a:buSzPts val="2400"/>
              <a:buFont typeface="Helvetica Neue"/>
              <a:buChar char="●"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padroniza a forma como um modelo de linguagem entende, invoca e interage com recursos do mundo real.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85e10a6f3_0_164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61" name="Google Shape;261;g3185e10a6f3_0_16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185e10a6f3_0_16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3" name="Google Shape;263;g3185e10a6f3_0_16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g3185e10a6f3_0_164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que fazer 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 a diferença de fine-tuning para “</a:t>
            </a:r>
            <a:r>
              <a:rPr b="0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 engineering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”?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85e10a6f3_0_188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70" name="Google Shape;270;g3185e10a6f3_0_1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185e10a6f3_0_1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g3185e10a6f3_0_18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g3185e10a6f3_0_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975" y="1781275"/>
            <a:ext cx="8879901" cy="472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85e10a6f3_0_176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79" name="Google Shape;279;g3185e10a6f3_0_17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185e10a6f3_0_17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" name="Google Shape;281;g3185e10a6f3_0_17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g3185e10a6f3_0_176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Necessidade de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personalização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especialização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Aumento de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desempenho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eficiência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Ajuste fino de um modelo previamente treinado em uma tarefa ou domínio específico.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700"/>
              <a:buFont typeface="Helvetica Neue"/>
              <a:buChar char="●"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Objetivo: Adaptar um modelo genérico para resolver problemas mais específicos de forma eficaz.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g3185e10a6f3_0_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6949" y="5512349"/>
            <a:ext cx="5378950" cy="18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185e10a6f3_0_227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89" name="Google Shape;289;g3185e10a6f3_0_22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185e10a6f3_0_22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1" name="Google Shape;291;g3185e10a6f3_0_22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g3185e10a6f3_0_227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de treinar o modelo, pode ser feito fine-tunning dos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hiperparâmetros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Parâmetros que controlam o processo de treinamento do modelo e não são aprendidos diretamente do modelo. 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Eles precisam ser definidos antes do treinamento.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85e10a6f3_0_238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Hyperparameters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298" name="Google Shape;298;g3185e10a6f3_0_23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185e10a6f3_0_23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0" name="Google Shape;300;g3185e10a6f3_0_23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g3185e10a6f3_0_238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Aprendizado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 Rate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Controla a velocidade com que o modelo ajusta os pesos durante o treinamento.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Taxas muito altas podem levar a um modelo instável; taxas muito baixas podem tornar o treinamento muito lento.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85e10a6f3_0_247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07" name="Google Shape;307;g3185e10a6f3_0_24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185e10a6f3_0_24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9" name="Google Shape;309;g3185e10a6f3_0_24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g3185e10a6f3_0_247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1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Batch Size:</a:t>
            </a:r>
            <a:endParaRPr b="1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quantos exemplos são usados em cada iteração de treinamento. 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Tamanhos de lote maiores podem melhorar a estabilidade, mas requerem mais memória.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85e10a6f3_0_255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16" name="Google Shape;316;g3185e10a6f3_0_25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185e10a6f3_0_25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8" name="Google Shape;318;g3185e10a6f3_0_25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g3185e10a6f3_0_255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Épocas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Epochs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quantas vezes o modelo passará por todo o conjunto de dados.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Muitas épocas podem resultar em overfitting, enquanto poucas podem levar a um modelo subtreinado.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85e10a6f3_0_263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25" name="Google Shape;325;g3185e10a6f3_0_26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185e10a6f3_0_26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7" name="Google Shape;327;g3185e10a6f3_0_26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g3185e10a6f3_0_263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camadas a serem ajustadas:</a:t>
            </a:r>
            <a:endParaRPr b="1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Durante o fine-tuning, pode-se optar por ajustar apenas as últimas camadas do modelo ou todas as camadas.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Ajustar camadas mais profundas pode exigir mais poder computacional.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85e10a6f3_0_272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34" name="Google Shape;334;g3185e10a6f3_0_27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185e10a6f3_0_27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6" name="Google Shape;336;g3185e10a6f3_0_27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g3185e10a6f3_0_272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Warm-up steps:</a:t>
            </a:r>
            <a:endParaRPr b="1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Estratégia de aquecimento onde a taxa de aprendizado começa baixa e aumenta gradualmente até atingir o valor de aprendizado desejado.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Ajuda a evitar o choque inicial do modelo ao começar o treinamento.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85e10a6f3_0_289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43" name="Google Shape;343;g3185e10a6f3_0_28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185e10a6f3_0_28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5" name="Google Shape;345;g3185e10a6f3_0_28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g3185e10a6f3_0_289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Balanceamento entre desempenho x tempo de treinamento: 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escolha errada dos hiperparâmetros pode resultar em um modelo que não generaliza bem ou que demora muito para treinar.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 um trade-off!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Impacto na generalização: 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ajuste incorreto pode levar ao overfitting ou underfitting.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185e10a6f3_0_314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52" name="Google Shape;352;g3185e10a6f3_0_31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185e10a6f3_0_31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4" name="Google Shape;354;g3185e10a6f3_0_31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g3185e10a6f3_0_314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Overfitting </a:t>
            </a: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(Sobreajuste)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é muito complexo em relação aos dados de treinamento e acaba "memorando" os dados, em vez de aprender padrões generalizáveis.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Alta precisão nos dados de treinamento, mas baixa precisão nos dados de teste ou em novos dados.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aprende demais com os dados de treinamento, até os ruídos, e não generaliza bem para novos dados.</a:t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85e10a6f3_0_325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61" name="Google Shape;361;g3185e10a6f3_0_32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185e10a6f3_0_32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3" name="Google Shape;363;g3185e10a6f3_0_32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g3185e10a6f3_0_325"/>
          <p:cNvSpPr txBox="1"/>
          <p:nvPr/>
        </p:nvSpPr>
        <p:spPr>
          <a:xfrm>
            <a:off x="574050" y="1851050"/>
            <a:ext cx="9167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Underfitting </a:t>
            </a: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(Subajuste)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não é complexo o suficiente para capturar os padrões dos dados. Incapaz de aprender as relações subjacentes entre as variáveis.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Baixa precisão tanto nos dados de treinamento quanto nos dados de teste.</a:t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não aprende o suficiente sobre os dados e não captura padrões importantes.</a:t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85e10a6f3_0_335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70" name="Google Shape;370;g3185e10a6f3_0_33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185e10a6f3_0_33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2" name="Google Shape;372;g3185e10a6f3_0_33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3" name="Google Shape;373;g3185e10a6f3_0_335"/>
          <p:cNvPicPr preferRelativeResize="0"/>
          <p:nvPr/>
        </p:nvPicPr>
        <p:blipFill rotWithShape="1">
          <a:blip r:embed="rId4">
            <a:alphaModFix/>
          </a:blip>
          <a:srcRect b="15467" l="7773" r="7451" t="15163"/>
          <a:stretch/>
        </p:blipFill>
        <p:spPr>
          <a:xfrm>
            <a:off x="954825" y="1936000"/>
            <a:ext cx="9064875" cy="46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185e10a6f3_0_206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79" name="Google Shape;379;g3185e10a6f3_0_20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185e10a6f3_0_20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g3185e10a6f3_0_20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2" name="Google Shape;382;g3185e10a6f3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300" y="1908600"/>
            <a:ext cx="8879902" cy="4975357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185e10a6f3_0_206"/>
          <p:cNvSpPr txBox="1"/>
          <p:nvPr/>
        </p:nvSpPr>
        <p:spPr>
          <a:xfrm>
            <a:off x="4424050" y="1806075"/>
            <a:ext cx="1845300" cy="43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</a:t>
            </a:r>
            <a:endParaRPr b="0" i="0" sz="27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185e10a6f3_0_217"/>
          <p:cNvSpPr txBox="1"/>
          <p:nvPr>
            <p:ph type="title"/>
          </p:nvPr>
        </p:nvSpPr>
        <p:spPr>
          <a:xfrm>
            <a:off x="511575" y="691175"/>
            <a:ext cx="10180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300">
                <a:solidFill>
                  <a:srgbClr val="0E71BA"/>
                </a:solidFill>
              </a:rPr>
              <a:t>Fine-Tuning de LLMs</a:t>
            </a:r>
            <a:endParaRPr sz="4300">
              <a:solidFill>
                <a:srgbClr val="0E71BA"/>
              </a:solidFill>
            </a:endParaRPr>
          </a:p>
        </p:txBody>
      </p:sp>
      <p:pic>
        <p:nvPicPr>
          <p:cNvPr id="389" name="Google Shape;389;g3185e10a6f3_0_21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185e10a6f3_0_21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1" name="Google Shape;391;g3185e10a6f3_0_21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2" name="Google Shape;392;g3185e10a6f3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250" y="1801137"/>
            <a:ext cx="8739305" cy="44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