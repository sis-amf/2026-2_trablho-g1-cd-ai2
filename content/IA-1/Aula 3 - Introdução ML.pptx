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7556500" cx="10693400"/>
  <p:notesSz cx="10693400" cy="7556500"/>
  <p:embeddedFontLst>
    <p:embeddedFont>
      <p:font typeface="Montserrat"/>
      <p:regular r:id="rId56"/>
      <p:bold r:id="rId57"/>
      <p:italic r:id="rId58"/>
      <p:boldItalic r:id="rId59"/>
    </p:embeddedFont>
    <p:embeddedFont>
      <p:font typeface="Montserrat Black"/>
      <p:bold r:id="rId60"/>
      <p:boldItalic r:id="rId61"/>
    </p:embeddedFont>
    <p:embeddedFont>
      <p:font typeface="Tahoma"/>
      <p:regular r:id="rId62"/>
      <p:bold r:id="rId63"/>
    </p:embeddedFont>
    <p:embeddedFont>
      <p:font typeface="Helvetica Neue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68" roundtripDataSignature="AMtx7mjUdPplXDE1jiUvJLkNIA4Dqjt5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AA7BA1-64FC-4D11-8C42-9FFAFC4D328B}">
  <a:tblStyle styleId="{26AA7BA1-64FC-4D11-8C42-9FFAFC4D328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Tahoma-regular.fntdata"/><Relationship Id="rId61" Type="http://schemas.openxmlformats.org/officeDocument/2006/relationships/font" Target="fonts/MontserratBlack-boldItalic.fntdata"/><Relationship Id="rId20" Type="http://schemas.openxmlformats.org/officeDocument/2006/relationships/slide" Target="slides/slide14.xml"/><Relationship Id="rId64" Type="http://schemas.openxmlformats.org/officeDocument/2006/relationships/font" Target="fonts/HelveticaNeue-regular.fntdata"/><Relationship Id="rId63" Type="http://schemas.openxmlformats.org/officeDocument/2006/relationships/font" Target="fonts/Tahoma-bold.fntdata"/><Relationship Id="rId22" Type="http://schemas.openxmlformats.org/officeDocument/2006/relationships/slide" Target="slides/slide16.xml"/><Relationship Id="rId66" Type="http://schemas.openxmlformats.org/officeDocument/2006/relationships/font" Target="fonts/HelveticaNeue-italic.fntdata"/><Relationship Id="rId21" Type="http://schemas.openxmlformats.org/officeDocument/2006/relationships/slide" Target="slides/slide15.xml"/><Relationship Id="rId65" Type="http://schemas.openxmlformats.org/officeDocument/2006/relationships/font" Target="fonts/HelveticaNeue-bold.fntdata"/><Relationship Id="rId24" Type="http://schemas.openxmlformats.org/officeDocument/2006/relationships/slide" Target="slides/slide18.xml"/><Relationship Id="rId68" Type="http://customschemas.google.com/relationships/presentationmetadata" Target="metadata"/><Relationship Id="rId23" Type="http://schemas.openxmlformats.org/officeDocument/2006/relationships/slide" Target="slides/slide17.xml"/><Relationship Id="rId67" Type="http://schemas.openxmlformats.org/officeDocument/2006/relationships/font" Target="fonts/HelveticaNeue-boldItalic.fntdata"/><Relationship Id="rId60" Type="http://schemas.openxmlformats.org/officeDocument/2006/relationships/font" Target="fonts/MontserratBlack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Montserrat-bold.fntdata"/><Relationship Id="rId12" Type="http://schemas.openxmlformats.org/officeDocument/2006/relationships/slide" Target="slides/slide6.xml"/><Relationship Id="rId56" Type="http://schemas.openxmlformats.org/officeDocument/2006/relationships/font" Target="fonts/Montserrat-regular.fntdata"/><Relationship Id="rId15" Type="http://schemas.openxmlformats.org/officeDocument/2006/relationships/slide" Target="slides/slide9.xml"/><Relationship Id="rId59" Type="http://schemas.openxmlformats.org/officeDocument/2006/relationships/font" Target="fonts/Montserrat-boldItalic.fntdata"/><Relationship Id="rId14" Type="http://schemas.openxmlformats.org/officeDocument/2006/relationships/slide" Target="slides/slide8.xml"/><Relationship Id="rId58" Type="http://schemas.openxmlformats.org/officeDocument/2006/relationships/font" Target="fonts/Montserrat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f5594a4f43_0_100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2f5594a4f43_0_100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5594a4f43_0_38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2f5594a4f43_0_38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f5594a4f43_0_328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2f5594a4f43_0_328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f5594a4f43_0_956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2f5594a4f43_0_956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f174543b14_2_194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2f174543b14_2_194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5594a4f43_0_364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2f5594a4f43_0_364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5594a4f43_0_375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2f5594a4f43_0_375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5594a4f43_0_391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2f5594a4f43_0_391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f5594a4f43_0_687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2f5594a4f43_0_687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5594a4f43_0_706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2f5594a4f43_0_706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f5594a4f43_0_697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2f5594a4f43_0_697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5594a4f43_0_408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2f5594a4f43_0_408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f5594a4f43_0_424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2f5594a4f43_0_424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f5594a4f43_0_517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g2f5594a4f43_0_517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5594a4f43_0_575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g2f5594a4f43_0_575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f5594a4f43_0_579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2f5594a4f43_0_579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5594a4f43_0_585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g2f5594a4f43_0_585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f5594a4f43_0_877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g2f5594a4f43_0_877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f5594a4f43_0_929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g2f5594a4f43_0_929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f5594a4f43_0_634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9" name="Google Shape;399;g2f5594a4f43_0_634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f5594a4f43_0_537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g2f5594a4f43_0_537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f5594a4f43_0_745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7" name="Google Shape;417;g2f5594a4f43_0_745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f5594a4f43_0_750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" name="Google Shape;423;g2f5594a4f43_0_750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f5594a4f43_0_755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g2f5594a4f43_0_755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f5594a4f43_0_761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g2f5594a4f43_0_761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f5594a4f43_0_768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4" name="Google Shape;444;g2f5594a4f43_0_768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f5594a4f43_0_774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g2f5594a4f43_0_774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f5594a4f43_0_781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g2f5594a4f43_0_781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f5594a4f43_0_787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5" name="Google Shape;465;g2f5594a4f43_0_787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f5594a4f43_0_793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1" name="Google Shape;471;g2f5594a4f43_0_793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f5594a4f43_0_798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7" name="Google Shape;477;g2f5594a4f43_0_798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f5594a4f43_0_803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3" name="Google Shape;483;g2f5594a4f43_0_803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f5594a4f43_0_808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9" name="Google Shape;489;g2f5594a4f43_0_808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f5594a4f43_0_813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5" name="Google Shape;495;g2f5594a4f43_0_813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f5594a4f43_0_818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1" name="Google Shape;501;g2f5594a4f43_0_818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f5594a4f43_0_827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7" name="Google Shape;507;g2f5594a4f43_0_827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f5594a4f43_0_832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3" name="Google Shape;513;g2f5594a4f43_0_832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f5594a4f43_0_837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9" name="Google Shape;519;g2f5594a4f43_0_837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f5594a4f43_0_843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5" name="Google Shape;525;g2f5594a4f43_0_843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f5594a4f43_0_856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5" name="Google Shape;535;g2f5594a4f43_0_856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f5594a4f43_0_545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2" name="Google Shape;542;g2f5594a4f43_0_545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2f5594a4f43_0_552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1" name="Google Shape;551;g2f5594a4f43_0_552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f5594a4f43_0_558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9" name="Google Shape;559;g2f5594a4f43_0_558:notes"/>
          <p:cNvSpPr/>
          <p:nvPr>
            <p:ph idx="2" type="sldImg"/>
          </p:nvPr>
        </p:nvSpPr>
        <p:spPr>
          <a:xfrm>
            <a:off x="1854936" y="566738"/>
            <a:ext cx="698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f5594a4f43_0_951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g2f5594a4f43_0_951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f5594a4f43_0_1017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g2f5594a4f43_0_1017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f5594a4f43_0_941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2f5594a4f43_0_941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20570bd03a_0_14:notes"/>
          <p:cNvSpPr/>
          <p:nvPr>
            <p:ph idx="2" type="sldImg"/>
          </p:nvPr>
        </p:nvSpPr>
        <p:spPr>
          <a:xfrm>
            <a:off x="1564041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g220570bd03a_0_14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5f3584e39e_3_15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3" name="Google Shape;593;g25f3584e39e_3_15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534987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2" type="body"/>
          </p:nvPr>
        </p:nvSpPr>
        <p:spPr>
          <a:xfrm>
            <a:off x="5510371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0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f174543b14_2_1013"/>
          <p:cNvSpPr txBox="1"/>
          <p:nvPr>
            <p:ph type="title"/>
          </p:nvPr>
        </p:nvSpPr>
        <p:spPr>
          <a:xfrm>
            <a:off x="364516" y="653802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g2f174543b14_2_1013"/>
          <p:cNvSpPr txBox="1"/>
          <p:nvPr>
            <p:ph idx="1" type="body"/>
          </p:nvPr>
        </p:nvSpPr>
        <p:spPr>
          <a:xfrm>
            <a:off x="364516" y="1693142"/>
            <a:ext cx="99645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4" name="Google Shape;34;g2f174543b14_2_1013"/>
          <p:cNvSpPr txBox="1"/>
          <p:nvPr>
            <p:ph idx="12" type="sldNum"/>
          </p:nvPr>
        </p:nvSpPr>
        <p:spPr>
          <a:xfrm>
            <a:off x="9908069" y="6850899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f5594a4f43_0_680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2f5594a4f43_0_680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2f5594a4f43_0_680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2f5594a4f43_0_680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2f5594a4f43_0_680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2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2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204fabc35a_0_2184"/>
          <p:cNvSpPr txBox="1"/>
          <p:nvPr>
            <p:ph type="title"/>
          </p:nvPr>
        </p:nvSpPr>
        <p:spPr>
          <a:xfrm>
            <a:off x="798410" y="547565"/>
            <a:ext cx="9096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2204fabc35a_0_2184"/>
          <p:cNvSpPr txBox="1"/>
          <p:nvPr>
            <p:ph idx="1" type="body"/>
          </p:nvPr>
        </p:nvSpPr>
        <p:spPr>
          <a:xfrm>
            <a:off x="625266" y="1660882"/>
            <a:ext cx="9443100" cy="4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2204fabc35a_0_2184"/>
          <p:cNvSpPr txBox="1"/>
          <p:nvPr>
            <p:ph idx="11" type="ftr"/>
          </p:nvPr>
        </p:nvSpPr>
        <p:spPr>
          <a:xfrm>
            <a:off x="3635756" y="7027545"/>
            <a:ext cx="3422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204fabc35a_0_2184"/>
          <p:cNvSpPr txBox="1"/>
          <p:nvPr>
            <p:ph idx="10" type="dt"/>
          </p:nvPr>
        </p:nvSpPr>
        <p:spPr>
          <a:xfrm>
            <a:off x="534670" y="7027545"/>
            <a:ext cx="2459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204fabc35a_0_2184"/>
          <p:cNvSpPr txBox="1"/>
          <p:nvPr>
            <p:ph idx="12" type="sldNum"/>
          </p:nvPr>
        </p:nvSpPr>
        <p:spPr>
          <a:xfrm>
            <a:off x="7699248" y="7027545"/>
            <a:ext cx="245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1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8"/>
          <p:cNvSpPr/>
          <p:nvPr/>
        </p:nvSpPr>
        <p:spPr>
          <a:xfrm>
            <a:off x="0" y="0"/>
            <a:ext cx="10693400" cy="403225"/>
          </a:xfrm>
          <a:custGeom>
            <a:rect b="b" l="l" r="r" t="t"/>
            <a:pathLst>
              <a:path extrusionOk="0" h="403225" w="10693400">
                <a:moveTo>
                  <a:pt x="10693400" y="0"/>
                </a:moveTo>
                <a:lnTo>
                  <a:pt x="0" y="0"/>
                </a:lnTo>
                <a:lnTo>
                  <a:pt x="0" y="403009"/>
                </a:lnTo>
                <a:lnTo>
                  <a:pt x="10693400" y="403009"/>
                </a:lnTo>
                <a:lnTo>
                  <a:pt x="10693400" y="0"/>
                </a:lnTo>
                <a:close/>
              </a:path>
            </a:pathLst>
          </a:custGeom>
          <a:solidFill>
            <a:srgbClr val="92A1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8"/>
          <p:cNvSpPr/>
          <p:nvPr/>
        </p:nvSpPr>
        <p:spPr>
          <a:xfrm>
            <a:off x="802005" y="3744722"/>
            <a:ext cx="9178925" cy="1905"/>
          </a:xfrm>
          <a:custGeom>
            <a:rect b="b" l="l" r="r" t="t"/>
            <a:pathLst>
              <a:path extrusionOk="0" h="1904" w="9178925">
                <a:moveTo>
                  <a:pt x="0" y="0"/>
                </a:moveTo>
                <a:lnTo>
                  <a:pt x="9178544" y="1650"/>
                </a:lnTo>
              </a:path>
            </a:pathLst>
          </a:custGeom>
          <a:noFill/>
          <a:ln cap="flat" cmpd="sng" w="1905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8"/>
          <p:cNvSpPr txBox="1"/>
          <p:nvPr>
            <p:ph type="ctrTitle"/>
          </p:nvPr>
        </p:nvSpPr>
        <p:spPr>
          <a:xfrm>
            <a:off x="893775" y="2602814"/>
            <a:ext cx="89121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" type="subTitle"/>
          </p:nvPr>
        </p:nvSpPr>
        <p:spPr>
          <a:xfrm>
            <a:off x="1604962" y="4231640"/>
            <a:ext cx="7489825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8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5594a4f43_0_312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2f5594a4f43_0_312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2f5594a4f43_0_312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2f5594a4f43_0_312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2f5594a4f43_0_312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4.png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47"/>
          <p:cNvGrpSpPr/>
          <p:nvPr/>
        </p:nvGrpSpPr>
        <p:grpSpPr>
          <a:xfrm>
            <a:off x="-50" y="-163100"/>
            <a:ext cx="10736274" cy="837200"/>
            <a:chOff x="-50" y="-152609"/>
            <a:chExt cx="10693500" cy="837200"/>
          </a:xfrm>
        </p:grpSpPr>
        <p:pic>
          <p:nvPicPr>
            <p:cNvPr id="7" name="Google Shape;7;p47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50" y="-152609"/>
              <a:ext cx="1506924" cy="83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47"/>
            <p:cNvSpPr/>
            <p:nvPr/>
          </p:nvSpPr>
          <p:spPr>
            <a:xfrm>
              <a:off x="-50" y="0"/>
              <a:ext cx="10693500" cy="543000"/>
            </a:xfrm>
            <a:prstGeom prst="rect">
              <a:avLst/>
            </a:prstGeom>
            <a:solidFill>
              <a:srgbClr val="0E71BA"/>
            </a:solidFill>
            <a:ln cap="flat" cmpd="sng" w="9525">
              <a:solidFill>
                <a:srgbClr val="0E71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9;p47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00" u="none" cap="none" strike="noStrike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7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50" y="-139350"/>
            <a:ext cx="1429351" cy="7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400"/>
          </a:p>
        </p:txBody>
      </p:sp>
      <p:sp>
        <p:nvSpPr>
          <p:cNvPr id="15" name="Google Shape;15;p47"/>
          <p:cNvSpPr txBox="1"/>
          <p:nvPr/>
        </p:nvSpPr>
        <p:spPr>
          <a:xfrm>
            <a:off x="2628039" y="74888"/>
            <a:ext cx="52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Inteligência Artificial I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" name="Google Shape;16;p47"/>
          <p:cNvPicPr preferRelativeResize="0"/>
          <p:nvPr/>
        </p:nvPicPr>
        <p:blipFill rotWithShape="1">
          <a:blip r:embed="rId2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3850" y="29376"/>
            <a:ext cx="742650" cy="4912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hauani.fazul@amf.edu.b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6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6.jpg"/><Relationship Id="rId9" Type="http://schemas.openxmlformats.org/officeDocument/2006/relationships/image" Target="../media/image18.jpg"/><Relationship Id="rId5" Type="http://schemas.openxmlformats.org/officeDocument/2006/relationships/image" Target="../media/image13.png"/><Relationship Id="rId6" Type="http://schemas.openxmlformats.org/officeDocument/2006/relationships/image" Target="../media/image14.jpg"/><Relationship Id="rId7" Type="http://schemas.openxmlformats.org/officeDocument/2006/relationships/image" Target="../media/image5.jpg"/><Relationship Id="rId8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jpg"/><Relationship Id="rId4" Type="http://schemas.openxmlformats.org/officeDocument/2006/relationships/image" Target="../media/image9.png"/><Relationship Id="rId5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43.png"/><Relationship Id="rId13" Type="http://schemas.openxmlformats.org/officeDocument/2006/relationships/image" Target="../media/image45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9" Type="http://schemas.openxmlformats.org/officeDocument/2006/relationships/image" Target="../media/image37.png"/><Relationship Id="rId15" Type="http://schemas.openxmlformats.org/officeDocument/2006/relationships/image" Target="../media/image38.png"/><Relationship Id="rId14" Type="http://schemas.openxmlformats.org/officeDocument/2006/relationships/image" Target="../media/image41.png"/><Relationship Id="rId16" Type="http://schemas.openxmlformats.org/officeDocument/2006/relationships/image" Target="../media/image1.jpg"/><Relationship Id="rId5" Type="http://schemas.openxmlformats.org/officeDocument/2006/relationships/image" Target="../media/image44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png"/><Relationship Id="rId4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2.jpg"/><Relationship Id="rId4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0.png"/><Relationship Id="rId10" Type="http://schemas.openxmlformats.org/officeDocument/2006/relationships/image" Target="../media/image76.png"/><Relationship Id="rId1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8.png"/><Relationship Id="rId4" Type="http://schemas.openxmlformats.org/officeDocument/2006/relationships/image" Target="../media/image39.png"/><Relationship Id="rId9" Type="http://schemas.openxmlformats.org/officeDocument/2006/relationships/image" Target="../media/image57.png"/><Relationship Id="rId5" Type="http://schemas.openxmlformats.org/officeDocument/2006/relationships/image" Target="../media/image40.png"/><Relationship Id="rId6" Type="http://schemas.openxmlformats.org/officeDocument/2006/relationships/image" Target="../media/image51.png"/><Relationship Id="rId7" Type="http://schemas.openxmlformats.org/officeDocument/2006/relationships/image" Target="../media/image47.png"/><Relationship Id="rId8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2.png"/><Relationship Id="rId4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1.gif"/><Relationship Id="rId4" Type="http://schemas.openxmlformats.org/officeDocument/2006/relationships/hyperlink" Target="https://miro.medium.com/v2/resize:fit:1400/0*SKR7Fh-jTWGrFoVX.gif" TargetMode="External"/><Relationship Id="rId5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5.jpg"/><Relationship Id="rId4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6.png"/><Relationship Id="rId4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Relationship Id="rId5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6.png"/><Relationship Id="rId4" Type="http://schemas.openxmlformats.org/officeDocument/2006/relationships/image" Target="../media/image62.png"/><Relationship Id="rId5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4.png"/><Relationship Id="rId4" Type="http://schemas.openxmlformats.org/officeDocument/2006/relationships/image" Target="../media/image60.png"/><Relationship Id="rId5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3.png"/><Relationship Id="rId4" Type="http://schemas.openxmlformats.org/officeDocument/2006/relationships/image" Target="../media/image69.png"/><Relationship Id="rId5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3.png"/><Relationship Id="rId4" Type="http://schemas.openxmlformats.org/officeDocument/2006/relationships/image" Target="../media/image70.png"/><Relationship Id="rId5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4.png"/><Relationship Id="rId4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6.png"/><Relationship Id="rId4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7.png"/><Relationship Id="rId4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1.png"/><Relationship Id="rId4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7.png"/><Relationship Id="rId4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5.png"/><Relationship Id="rId4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2.png"/><Relationship Id="rId4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8.png"/><Relationship Id="rId4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1.png"/><Relationship Id="rId4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6.png"/><Relationship Id="rId4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4.png"/><Relationship Id="rId4" Type="http://schemas.openxmlformats.org/officeDocument/2006/relationships/image" Target="../media/image67.png"/><Relationship Id="rId5" Type="http://schemas.openxmlformats.org/officeDocument/2006/relationships/image" Target="../media/image66.png"/><Relationship Id="rId6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0.png"/><Relationship Id="rId4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5.jpg"/><Relationship Id="rId4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8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teachablemachine.withgoogle.com/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/>
        </p:nvSpPr>
        <p:spPr>
          <a:xfrm>
            <a:off x="803439" y="3059372"/>
            <a:ext cx="91839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0" i="0" lang="pt-BR" sz="39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Aula 3 - Introdução ao Machine Learning</a:t>
            </a:r>
            <a:endParaRPr b="0" i="0" sz="39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893775" y="3893312"/>
            <a:ext cx="22734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5656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Rhauani Fazul</a:t>
            </a:r>
            <a:endParaRPr b="0" i="0" sz="2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6" name="Google Shape;76;p2"/>
          <p:cNvCxnSpPr/>
          <p:nvPr/>
        </p:nvCxnSpPr>
        <p:spPr>
          <a:xfrm>
            <a:off x="803450" y="3742670"/>
            <a:ext cx="9183900" cy="0"/>
          </a:xfrm>
          <a:prstGeom prst="straightConnector1">
            <a:avLst/>
          </a:prstGeom>
          <a:noFill/>
          <a:ln cap="flat" cmpd="sng" w="28575">
            <a:solidFill>
              <a:srgbClr val="0E71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816216" y="4247302"/>
            <a:ext cx="246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rhauani.fazul@amf.edu.br</a:t>
            </a:r>
            <a:r>
              <a:rPr b="0" i="0" lang="pt-BR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812850" y="147545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Inteligência Artificial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812850" y="126270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Informação | AMF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812850" y="1716182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20</a:t>
            </a: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abril</a:t>
            </a: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2026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f5594a4f43_0_100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" name="Google Shape;87;g2f5594a4f43_0_1002"/>
          <p:cNvSpPr txBox="1"/>
          <p:nvPr/>
        </p:nvSpPr>
        <p:spPr>
          <a:xfrm>
            <a:off x="193600" y="1619800"/>
            <a:ext cx="9922500" cy="5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Simbolismo / IA simbólica</a:t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Baseado em regras lógicas e sistemas especialistas.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Conexionismo / IA Conexionista</a:t>
            </a:r>
            <a:endParaRPr b="1" i="0" sz="22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Baseado em Redes Neurais e Machine Learning.</a:t>
            </a:r>
            <a:endParaRPr b="0" i="0" sz="22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Evolucionismo / IA Evolutiva</a:t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Algoritmos genéticos e programação evolutiva.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Bayesianismo / IA Bayesiana</a:t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Modelos probabilísticos, inferência Bayesiana.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g2f5594a4f43_0_1002"/>
          <p:cNvSpPr txBox="1"/>
          <p:nvPr/>
        </p:nvSpPr>
        <p:spPr>
          <a:xfrm>
            <a:off x="193600" y="100775"/>
            <a:ext cx="7452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pt-BR" sz="2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(aula passada) </a:t>
            </a:r>
            <a:r>
              <a:rPr b="0" i="0" lang="pt-BR" sz="2900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Subdivisões da IA</a:t>
            </a:r>
            <a:endParaRPr b="0" i="0" sz="2900" u="none" cap="none" strike="noStrike">
              <a:solidFill>
                <a:srgbClr val="00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2f5594a4f43_0_38"/>
          <p:cNvPicPr preferRelativeResize="0"/>
          <p:nvPr/>
        </p:nvPicPr>
        <p:blipFill rotWithShape="1">
          <a:blip r:embed="rId3">
            <a:alphaModFix/>
          </a:blip>
          <a:srcRect b="0" l="2017" r="0" t="0"/>
          <a:stretch/>
        </p:blipFill>
        <p:spPr>
          <a:xfrm>
            <a:off x="10658" y="866450"/>
            <a:ext cx="10662550" cy="559297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2f5594a4f43_0_38"/>
          <p:cNvSpPr txBox="1"/>
          <p:nvPr/>
        </p:nvSpPr>
        <p:spPr>
          <a:xfrm>
            <a:off x="0" y="7130100"/>
            <a:ext cx="60246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Slide adaptado do Prof. Eduardo R. Hruschka</a:t>
            </a:r>
            <a:endParaRPr b="0" i="0" sz="1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5594a4f43_0_328"/>
          <p:cNvSpPr txBox="1"/>
          <p:nvPr>
            <p:ph idx="4294967295" type="ctrTitle"/>
          </p:nvPr>
        </p:nvSpPr>
        <p:spPr>
          <a:xfrm>
            <a:off x="197450" y="86141"/>
            <a:ext cx="71307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ML em aplicações corporativas</a:t>
            </a:r>
            <a:endParaRPr b="0" i="0" sz="3200" u="none" cap="none" strike="noStrike">
              <a:solidFill>
                <a:schemeClr val="accen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00" name="Google Shape;100;g2f5594a4f43_0_328"/>
          <p:cNvSpPr txBox="1"/>
          <p:nvPr/>
        </p:nvSpPr>
        <p:spPr>
          <a:xfrm>
            <a:off x="1037534" y="5025073"/>
            <a:ext cx="17550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Risco de crédito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2f5594a4f43_0_328"/>
          <p:cNvSpPr txBox="1"/>
          <p:nvPr/>
        </p:nvSpPr>
        <p:spPr>
          <a:xfrm>
            <a:off x="7809882" y="1684679"/>
            <a:ext cx="1925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Robôs de decisão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g2f5594a4f43_0_3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7697" y="1942859"/>
            <a:ext cx="2046551" cy="1149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2f5594a4f43_0_3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2596" y="3600251"/>
            <a:ext cx="1251950" cy="117298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2f5594a4f43_0_328"/>
          <p:cNvSpPr txBox="1"/>
          <p:nvPr/>
        </p:nvSpPr>
        <p:spPr>
          <a:xfrm>
            <a:off x="1028979" y="3291415"/>
            <a:ext cx="1667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Grandes grafos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2f5594a4f43_0_328"/>
          <p:cNvSpPr txBox="1"/>
          <p:nvPr/>
        </p:nvSpPr>
        <p:spPr>
          <a:xfrm>
            <a:off x="7561879" y="3251393"/>
            <a:ext cx="2543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Validação de assinatura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2f5594a4f43_0_328"/>
          <p:cNvSpPr txBox="1"/>
          <p:nvPr/>
        </p:nvSpPr>
        <p:spPr>
          <a:xfrm>
            <a:off x="4466961" y="3251393"/>
            <a:ext cx="15609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Análise de voz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g2f5594a4f43_0_3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988" y="1848823"/>
            <a:ext cx="2096730" cy="112939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2f5594a4f43_0_328"/>
          <p:cNvSpPr txBox="1"/>
          <p:nvPr/>
        </p:nvSpPr>
        <p:spPr>
          <a:xfrm>
            <a:off x="1469245" y="1640320"/>
            <a:ext cx="8895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Fraudes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f5594a4f43_0_328"/>
          <p:cNvSpPr txBox="1"/>
          <p:nvPr/>
        </p:nvSpPr>
        <p:spPr>
          <a:xfrm>
            <a:off x="4144925" y="1648157"/>
            <a:ext cx="22362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Satisfação do cliente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2f5594a4f43_0_3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05920" y="1961332"/>
            <a:ext cx="2322378" cy="990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2f5594a4f43_0_3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94395" y="3617106"/>
            <a:ext cx="2487015" cy="990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2f5594a4f43_0_3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57535" y="3538120"/>
            <a:ext cx="1671460" cy="1158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2f5594a4f43_0_3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92519" y="5342292"/>
            <a:ext cx="2023520" cy="118876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2f5594a4f43_0_328"/>
          <p:cNvSpPr txBox="1"/>
          <p:nvPr/>
        </p:nvSpPr>
        <p:spPr>
          <a:xfrm>
            <a:off x="4281472" y="4953145"/>
            <a:ext cx="23082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Previsão de demanda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g2f5594a4f43_0_3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9632" y="5328172"/>
            <a:ext cx="2023520" cy="113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2f5594a4f43_0_3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65054" y="5365114"/>
            <a:ext cx="2349257" cy="90153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2f5594a4f43_0_328"/>
          <p:cNvSpPr txBox="1"/>
          <p:nvPr/>
        </p:nvSpPr>
        <p:spPr>
          <a:xfrm>
            <a:off x="7486201" y="4974359"/>
            <a:ext cx="2951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de recomendação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2f5594a4f43_0_328"/>
          <p:cNvSpPr txBox="1"/>
          <p:nvPr/>
        </p:nvSpPr>
        <p:spPr>
          <a:xfrm>
            <a:off x="0" y="7130100"/>
            <a:ext cx="60246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Slide adaptado do Prof. Eduardo R. Hruschka</a:t>
            </a:r>
            <a:endParaRPr b="0" i="0" sz="1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2f5594a4f43_0_956"/>
          <p:cNvPicPr preferRelativeResize="0"/>
          <p:nvPr/>
        </p:nvPicPr>
        <p:blipFill rotWithShape="1">
          <a:blip r:embed="rId3">
            <a:alphaModFix/>
          </a:blip>
          <a:srcRect b="57177" l="0" r="0" t="1551"/>
          <a:stretch/>
        </p:blipFill>
        <p:spPr>
          <a:xfrm>
            <a:off x="692775" y="1422875"/>
            <a:ext cx="9158650" cy="20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f5594a4f43_0_956"/>
          <p:cNvSpPr/>
          <p:nvPr/>
        </p:nvSpPr>
        <p:spPr>
          <a:xfrm>
            <a:off x="2589875" y="3357250"/>
            <a:ext cx="1215000" cy="33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g2f5594a4f43_0_956"/>
          <p:cNvSpPr/>
          <p:nvPr/>
        </p:nvSpPr>
        <p:spPr>
          <a:xfrm>
            <a:off x="5406775" y="3357250"/>
            <a:ext cx="1215000" cy="33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174543b14_2_194"/>
          <p:cNvSpPr txBox="1"/>
          <p:nvPr>
            <p:ph idx="4294967295" type="ctrTitle"/>
          </p:nvPr>
        </p:nvSpPr>
        <p:spPr>
          <a:xfrm>
            <a:off x="197450" y="86141"/>
            <a:ext cx="71307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pt-BR" sz="32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Tipos de problemas</a:t>
            </a:r>
            <a:endParaRPr b="1" i="0" sz="32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g2f174543b14_2_194"/>
          <p:cNvSpPr txBox="1"/>
          <p:nvPr/>
        </p:nvSpPr>
        <p:spPr>
          <a:xfrm>
            <a:off x="211450" y="1536300"/>
            <a:ext cx="10270500" cy="24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"/>
              <a:buChar char="➔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há variável alvo definida a priori: </a:t>
            </a:r>
            <a:r>
              <a:rPr b="1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agrupamento (clustering)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"/>
              <a:buChar char="➔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Há variável alvo/dependente ordinal ou contínua: </a:t>
            </a:r>
            <a:r>
              <a:rPr b="1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regressão</a:t>
            </a:r>
            <a:endParaRPr b="1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"/>
              <a:buChar char="➔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Há variável alvo/dependente categórica: </a:t>
            </a:r>
            <a:r>
              <a:rPr b="1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classificação</a:t>
            </a:r>
            <a:endParaRPr b="1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2200"/>
              <a:buFont typeface="Helvetica Neue"/>
              <a:buChar char="➔"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Aprendizado por reforço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2" name="Google Shape;132;g2f174543b14_2_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11" y="4388992"/>
            <a:ext cx="1238250" cy="123977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2f174543b14_2_194"/>
          <p:cNvSpPr txBox="1"/>
          <p:nvPr/>
        </p:nvSpPr>
        <p:spPr>
          <a:xfrm>
            <a:off x="991175" y="4081850"/>
            <a:ext cx="7274400" cy="26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356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pt-BR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”Essentially, all models are wrong, but some are useful.”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356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(George E. P. Box, University of Wisconsin)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020442" lvl="0" marL="43180" marR="43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pt-BR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“We don’t have better algorithms, we just have more data.”  “More data beats clever algorithms, but better data beats more data.”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063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(Peter Norvig, Director of Research, Google)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g2f174543b14_2_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5821" y="5509896"/>
            <a:ext cx="1597152" cy="1063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2f174543b14_2_194"/>
          <p:cNvSpPr txBox="1"/>
          <p:nvPr/>
        </p:nvSpPr>
        <p:spPr>
          <a:xfrm>
            <a:off x="0" y="7130100"/>
            <a:ext cx="60246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Slide adaptado do Prof. Eduardo R. Hruschka</a:t>
            </a:r>
            <a:endParaRPr b="0" i="0" sz="1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f5594a4f43_0_364"/>
          <p:cNvSpPr txBox="1"/>
          <p:nvPr/>
        </p:nvSpPr>
        <p:spPr>
          <a:xfrm>
            <a:off x="569024" y="718988"/>
            <a:ext cx="98652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300">
            <a:spAutoFit/>
          </a:bodyPr>
          <a:lstStyle/>
          <a:p>
            <a:pPr indent="-49530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Agrupar dados semelhantes/parecidos. Como definir semelhança?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95300" lvl="0" marL="508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geral, trata-se de um problema difícil: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1" name="Google Shape;141;g2f5594a4f43_0_3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1251" y="1658810"/>
            <a:ext cx="5922499" cy="409913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2f5594a4f43_0_364"/>
          <p:cNvSpPr txBox="1"/>
          <p:nvPr/>
        </p:nvSpPr>
        <p:spPr>
          <a:xfrm>
            <a:off x="689422" y="6124235"/>
            <a:ext cx="92292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6625">
            <a:spAutoFit/>
          </a:bodyPr>
          <a:lstStyle/>
          <a:p>
            <a:pPr indent="-49530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Abordagens matemáticas são comumente adotadas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3683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Keogh, E. A Gentle Introduction to Machine Learning and Data Mining for the Database Community, SBBD 2003, Manaus.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g2f5594a4f43_0_364"/>
          <p:cNvSpPr txBox="1"/>
          <p:nvPr/>
        </p:nvSpPr>
        <p:spPr>
          <a:xfrm>
            <a:off x="138301" y="116985"/>
            <a:ext cx="6380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Agrupamento (clustering)</a:t>
            </a:r>
            <a:endParaRPr b="1" i="0" sz="2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4" name="Google Shape;144;g2f5594a4f43_0_364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5594a4f43_0_375"/>
          <p:cNvSpPr txBox="1"/>
          <p:nvPr/>
        </p:nvSpPr>
        <p:spPr>
          <a:xfrm>
            <a:off x="389330" y="1372356"/>
            <a:ext cx="7214700" cy="1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6625">
            <a:spAutoFit/>
          </a:bodyPr>
          <a:lstStyle/>
          <a:p>
            <a:pPr indent="-49530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Eliminar palavras comuns (preposições, artigos, etc.)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95300" lvl="0" marL="508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cada palavra selecionada como potencialmente  relevante, computar sua frequência por </a:t>
            </a:r>
            <a:r>
              <a:rPr b="0" i="1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texto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0" name="Google Shape;150;g2f5594a4f43_0_3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2273" y="2785830"/>
            <a:ext cx="3178406" cy="29546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g2f5594a4f43_0_375"/>
          <p:cNvGrpSpPr/>
          <p:nvPr/>
        </p:nvGrpSpPr>
        <p:grpSpPr>
          <a:xfrm>
            <a:off x="1291448" y="3405611"/>
            <a:ext cx="1696569" cy="1160812"/>
            <a:chOff x="1196339" y="3090672"/>
            <a:chExt cx="1571625" cy="1053464"/>
          </a:xfrm>
        </p:grpSpPr>
        <p:sp>
          <p:nvSpPr>
            <p:cNvPr id="152" name="Google Shape;152;g2f5594a4f43_0_375"/>
            <p:cNvSpPr/>
            <p:nvPr/>
          </p:nvSpPr>
          <p:spPr>
            <a:xfrm>
              <a:off x="1196339" y="3090672"/>
              <a:ext cx="1571625" cy="1053464"/>
            </a:xfrm>
            <a:custGeom>
              <a:rect b="b" l="l" r="r" t="t"/>
              <a:pathLst>
                <a:path extrusionOk="0" h="1053464" w="1571625">
                  <a:moveTo>
                    <a:pt x="1571243" y="0"/>
                  </a:moveTo>
                  <a:lnTo>
                    <a:pt x="0" y="0"/>
                  </a:lnTo>
                  <a:lnTo>
                    <a:pt x="0" y="996314"/>
                  </a:lnTo>
                  <a:lnTo>
                    <a:pt x="60419" y="1009886"/>
                  </a:lnTo>
                  <a:lnTo>
                    <a:pt x="117745" y="1021425"/>
                  </a:lnTo>
                  <a:lnTo>
                    <a:pt x="172151" y="1031024"/>
                  </a:lnTo>
                  <a:lnTo>
                    <a:pt x="223808" y="1038772"/>
                  </a:lnTo>
                  <a:lnTo>
                    <a:pt x="272888" y="1044764"/>
                  </a:lnTo>
                  <a:lnTo>
                    <a:pt x="319563" y="1049088"/>
                  </a:lnTo>
                  <a:lnTo>
                    <a:pt x="364004" y="1051838"/>
                  </a:lnTo>
                  <a:lnTo>
                    <a:pt x="406383" y="1053105"/>
                  </a:lnTo>
                  <a:lnTo>
                    <a:pt x="446873" y="1052980"/>
                  </a:lnTo>
                  <a:lnTo>
                    <a:pt x="485644" y="1051555"/>
                  </a:lnTo>
                  <a:lnTo>
                    <a:pt x="558720" y="1045171"/>
                  </a:lnTo>
                  <a:lnTo>
                    <a:pt x="626985" y="1034685"/>
                  </a:lnTo>
                  <a:lnTo>
                    <a:pt x="691814" y="1020830"/>
                  </a:lnTo>
                  <a:lnTo>
                    <a:pt x="754581" y="1004337"/>
                  </a:lnTo>
                  <a:lnTo>
                    <a:pt x="816662" y="985939"/>
                  </a:lnTo>
                  <a:lnTo>
                    <a:pt x="944258" y="946358"/>
                  </a:lnTo>
                  <a:lnTo>
                    <a:pt x="977875" y="936416"/>
                  </a:lnTo>
                  <a:lnTo>
                    <a:pt x="1048374" y="917118"/>
                  </a:lnTo>
                  <a:lnTo>
                    <a:pt x="1085599" y="907945"/>
                  </a:lnTo>
                  <a:lnTo>
                    <a:pt x="1124370" y="899211"/>
                  </a:lnTo>
                  <a:lnTo>
                    <a:pt x="1164860" y="891007"/>
                  </a:lnTo>
                  <a:lnTo>
                    <a:pt x="1207239" y="883426"/>
                  </a:lnTo>
                  <a:lnTo>
                    <a:pt x="1251680" y="876559"/>
                  </a:lnTo>
                  <a:lnTo>
                    <a:pt x="1298355" y="870497"/>
                  </a:lnTo>
                  <a:lnTo>
                    <a:pt x="1347435" y="865332"/>
                  </a:lnTo>
                  <a:lnTo>
                    <a:pt x="1399092" y="861155"/>
                  </a:lnTo>
                  <a:lnTo>
                    <a:pt x="1453498" y="858059"/>
                  </a:lnTo>
                  <a:lnTo>
                    <a:pt x="1510824" y="856134"/>
                  </a:lnTo>
                  <a:lnTo>
                    <a:pt x="1571243" y="855471"/>
                  </a:lnTo>
                  <a:lnTo>
                    <a:pt x="1571243" y="0"/>
                  </a:ln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g2f5594a4f43_0_375"/>
            <p:cNvSpPr/>
            <p:nvPr/>
          </p:nvSpPr>
          <p:spPr>
            <a:xfrm>
              <a:off x="1196339" y="3090672"/>
              <a:ext cx="1571625" cy="1053464"/>
            </a:xfrm>
            <a:custGeom>
              <a:rect b="b" l="l" r="r" t="t"/>
              <a:pathLst>
                <a:path extrusionOk="0" h="1053464" w="1571625">
                  <a:moveTo>
                    <a:pt x="0" y="0"/>
                  </a:moveTo>
                  <a:lnTo>
                    <a:pt x="1571243" y="0"/>
                  </a:lnTo>
                  <a:lnTo>
                    <a:pt x="1571243" y="855471"/>
                  </a:lnTo>
                  <a:lnTo>
                    <a:pt x="1510824" y="856134"/>
                  </a:lnTo>
                  <a:lnTo>
                    <a:pt x="1453498" y="858059"/>
                  </a:lnTo>
                  <a:lnTo>
                    <a:pt x="1399092" y="861155"/>
                  </a:lnTo>
                  <a:lnTo>
                    <a:pt x="1347435" y="865332"/>
                  </a:lnTo>
                  <a:lnTo>
                    <a:pt x="1298355" y="870497"/>
                  </a:lnTo>
                  <a:lnTo>
                    <a:pt x="1251680" y="876559"/>
                  </a:lnTo>
                  <a:lnTo>
                    <a:pt x="1207239" y="883426"/>
                  </a:lnTo>
                  <a:lnTo>
                    <a:pt x="1164860" y="891007"/>
                  </a:lnTo>
                  <a:lnTo>
                    <a:pt x="1124370" y="899211"/>
                  </a:lnTo>
                  <a:lnTo>
                    <a:pt x="1085599" y="907945"/>
                  </a:lnTo>
                  <a:lnTo>
                    <a:pt x="1048374" y="917118"/>
                  </a:lnTo>
                  <a:lnTo>
                    <a:pt x="977875" y="936416"/>
                  </a:lnTo>
                  <a:lnTo>
                    <a:pt x="911500" y="956372"/>
                  </a:lnTo>
                  <a:lnTo>
                    <a:pt x="847873" y="976255"/>
                  </a:lnTo>
                  <a:lnTo>
                    <a:pt x="816662" y="985939"/>
                  </a:lnTo>
                  <a:lnTo>
                    <a:pt x="754581" y="1004337"/>
                  </a:lnTo>
                  <a:lnTo>
                    <a:pt x="691814" y="1020830"/>
                  </a:lnTo>
                  <a:lnTo>
                    <a:pt x="626985" y="1034685"/>
                  </a:lnTo>
                  <a:lnTo>
                    <a:pt x="558720" y="1045171"/>
                  </a:lnTo>
                  <a:lnTo>
                    <a:pt x="485644" y="1051555"/>
                  </a:lnTo>
                  <a:lnTo>
                    <a:pt x="446873" y="1052980"/>
                  </a:lnTo>
                  <a:lnTo>
                    <a:pt x="406383" y="1053105"/>
                  </a:lnTo>
                  <a:lnTo>
                    <a:pt x="364004" y="1051838"/>
                  </a:lnTo>
                  <a:lnTo>
                    <a:pt x="319563" y="1049088"/>
                  </a:lnTo>
                  <a:lnTo>
                    <a:pt x="272888" y="1044764"/>
                  </a:lnTo>
                  <a:lnTo>
                    <a:pt x="223808" y="1038772"/>
                  </a:lnTo>
                  <a:lnTo>
                    <a:pt x="172151" y="1031024"/>
                  </a:lnTo>
                  <a:lnTo>
                    <a:pt x="117745" y="1021425"/>
                  </a:lnTo>
                  <a:lnTo>
                    <a:pt x="60419" y="1009886"/>
                  </a:lnTo>
                  <a:lnTo>
                    <a:pt x="0" y="99631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g2f5594a4f43_0_375"/>
          <p:cNvSpPr txBox="1"/>
          <p:nvPr/>
        </p:nvSpPr>
        <p:spPr>
          <a:xfrm>
            <a:off x="1298287" y="3590317"/>
            <a:ext cx="16827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100">
            <a:spAutoFit/>
          </a:bodyPr>
          <a:lstStyle/>
          <a:p>
            <a:pPr indent="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Documento: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1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Bag-of-words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2f5594a4f43_0_375"/>
          <p:cNvSpPr/>
          <p:nvPr/>
        </p:nvSpPr>
        <p:spPr>
          <a:xfrm>
            <a:off x="3019377" y="4026074"/>
            <a:ext cx="1281073" cy="140018"/>
          </a:xfrm>
          <a:custGeom>
            <a:rect b="b" l="l" r="r" t="t"/>
            <a:pathLst>
              <a:path extrusionOk="0" h="127000" w="1186179">
                <a:moveTo>
                  <a:pt x="1099367" y="76803"/>
                </a:moveTo>
                <a:lnTo>
                  <a:pt x="1057910" y="126999"/>
                </a:lnTo>
                <a:lnTo>
                  <a:pt x="1161906" y="76961"/>
                </a:lnTo>
                <a:lnTo>
                  <a:pt x="1109599" y="76961"/>
                </a:lnTo>
                <a:lnTo>
                  <a:pt x="1099367" y="76803"/>
                </a:lnTo>
                <a:close/>
              </a:path>
              <a:path extrusionOk="0" h="127000" w="1186179">
                <a:moveTo>
                  <a:pt x="1099764" y="51404"/>
                </a:moveTo>
                <a:lnTo>
                  <a:pt x="1109726" y="64261"/>
                </a:lnTo>
                <a:lnTo>
                  <a:pt x="1099367" y="76803"/>
                </a:lnTo>
                <a:lnTo>
                  <a:pt x="1109599" y="76961"/>
                </a:lnTo>
                <a:lnTo>
                  <a:pt x="1109979" y="51561"/>
                </a:lnTo>
                <a:lnTo>
                  <a:pt x="1099764" y="51404"/>
                </a:lnTo>
                <a:close/>
              </a:path>
              <a:path extrusionOk="0" h="127000" w="1186179">
                <a:moveTo>
                  <a:pt x="1059941" y="0"/>
                </a:moveTo>
                <a:lnTo>
                  <a:pt x="1099764" y="51404"/>
                </a:lnTo>
                <a:lnTo>
                  <a:pt x="1109979" y="51561"/>
                </a:lnTo>
                <a:lnTo>
                  <a:pt x="1109599" y="76961"/>
                </a:lnTo>
                <a:lnTo>
                  <a:pt x="1161906" y="76961"/>
                </a:lnTo>
                <a:lnTo>
                  <a:pt x="1185926" y="65404"/>
                </a:lnTo>
                <a:lnTo>
                  <a:pt x="1059941" y="0"/>
                </a:lnTo>
                <a:close/>
              </a:path>
              <a:path extrusionOk="0" h="127000" w="1186179">
                <a:moveTo>
                  <a:pt x="507" y="34416"/>
                </a:moveTo>
                <a:lnTo>
                  <a:pt x="0" y="59816"/>
                </a:lnTo>
                <a:lnTo>
                  <a:pt x="1099367" y="76803"/>
                </a:lnTo>
                <a:lnTo>
                  <a:pt x="1109726" y="64261"/>
                </a:lnTo>
                <a:lnTo>
                  <a:pt x="1099764" y="51404"/>
                </a:lnTo>
                <a:lnTo>
                  <a:pt x="507" y="344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6" name="Google Shape;156;g2f5594a4f43_0_375"/>
          <p:cNvGraphicFramePr/>
          <p:nvPr/>
        </p:nvGraphicFramePr>
        <p:xfrm>
          <a:off x="4321505" y="33145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{26AA7BA1-64FC-4D11-8C42-9FFAFC4D328B}</a:tableStyleId>
              </a:tblPr>
              <a:tblGrid>
                <a:gridCol w="329025"/>
              </a:tblGrid>
              <a:tr h="167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</a:tr>
              <a:tr h="25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</a:tr>
              <a:tr h="109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</a:tr>
              <a:tr h="25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</a:tr>
            </a:tbl>
          </a:graphicData>
        </a:graphic>
      </p:graphicFrame>
      <p:sp>
        <p:nvSpPr>
          <p:cNvPr id="157" name="Google Shape;157;g2f5594a4f43_0_375"/>
          <p:cNvSpPr txBox="1"/>
          <p:nvPr/>
        </p:nvSpPr>
        <p:spPr>
          <a:xfrm>
            <a:off x="3182109" y="3212491"/>
            <a:ext cx="9234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Vetor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Palavras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2f5594a4f43_0_375"/>
          <p:cNvSpPr/>
          <p:nvPr/>
        </p:nvSpPr>
        <p:spPr>
          <a:xfrm>
            <a:off x="4916495" y="4125008"/>
            <a:ext cx="770838" cy="316440"/>
          </a:xfrm>
          <a:custGeom>
            <a:rect b="b" l="l" r="r" t="t"/>
            <a:pathLst>
              <a:path extrusionOk="0" h="287020" w="713739">
                <a:moveTo>
                  <a:pt x="0" y="71628"/>
                </a:moveTo>
                <a:lnTo>
                  <a:pt x="569976" y="71628"/>
                </a:lnTo>
                <a:lnTo>
                  <a:pt x="569976" y="0"/>
                </a:lnTo>
                <a:lnTo>
                  <a:pt x="713231" y="143256"/>
                </a:lnTo>
                <a:lnTo>
                  <a:pt x="569976" y="286512"/>
                </a:lnTo>
                <a:lnTo>
                  <a:pt x="569976" y="214884"/>
                </a:lnTo>
                <a:lnTo>
                  <a:pt x="0" y="214884"/>
                </a:lnTo>
                <a:lnTo>
                  <a:pt x="0" y="71628"/>
                </a:lnTo>
                <a:close/>
              </a:path>
            </a:pathLst>
          </a:cu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g2f5594a4f43_0_3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0040" y="221242"/>
            <a:ext cx="2436068" cy="223082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2f5594a4f43_0_375"/>
          <p:cNvSpPr txBox="1"/>
          <p:nvPr/>
        </p:nvSpPr>
        <p:spPr>
          <a:xfrm>
            <a:off x="330700" y="6074250"/>
            <a:ext cx="8310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6625">
            <a:spAutoFit/>
          </a:bodyPr>
          <a:lstStyle/>
          <a:p>
            <a:pPr indent="-49530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texto é representado por um vetor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95300" lvl="0" marL="508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Semelhança definida como sendo o ângulo entre vetores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95300" lvl="0" marL="508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Como encontrar </a:t>
            </a:r>
            <a:r>
              <a:rPr b="0" i="1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textos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semelhantes?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g2f5594a4f43_0_375"/>
          <p:cNvSpPr txBox="1"/>
          <p:nvPr>
            <p:ph type="title"/>
          </p:nvPr>
        </p:nvSpPr>
        <p:spPr>
          <a:xfrm>
            <a:off x="138301" y="116985"/>
            <a:ext cx="63804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Textos semelhantes</a:t>
            </a:r>
            <a:endParaRPr sz="1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g2f5594a4f43_0_375"/>
          <p:cNvSpPr txBox="1"/>
          <p:nvPr/>
        </p:nvSpPr>
        <p:spPr>
          <a:xfrm>
            <a:off x="138301" y="116985"/>
            <a:ext cx="6380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Agrupamento (clustering)</a:t>
            </a:r>
            <a:endParaRPr b="1" i="0" sz="2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3" name="Google Shape;163;g2f5594a4f43_0_375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f5594a4f43_0_391"/>
          <p:cNvSpPr txBox="1"/>
          <p:nvPr/>
        </p:nvSpPr>
        <p:spPr>
          <a:xfrm>
            <a:off x="767075" y="1114600"/>
            <a:ext cx="9560400" cy="16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187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●"/>
            </a:pPr>
            <a:r>
              <a:rPr b="0" i="0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Encontrar grupos (</a:t>
            </a:r>
            <a:r>
              <a:rPr b="0" i="1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clusters</a:t>
            </a:r>
            <a:r>
              <a:rPr b="0" i="0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de dados similares;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●"/>
            </a:pPr>
            <a:r>
              <a:rPr b="0" i="0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Diversas aplicações: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análise exploratória de dados, mineração de textos, segmentação de clientes, etc.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9" name="Google Shape;169;g2f5594a4f43_0_391"/>
          <p:cNvPicPr preferRelativeResize="0"/>
          <p:nvPr/>
        </p:nvPicPr>
        <p:blipFill rotWithShape="1">
          <a:blip r:embed="rId3">
            <a:alphaModFix/>
          </a:blip>
          <a:srcRect b="0" l="48712" r="0" t="16042"/>
          <a:stretch/>
        </p:blipFill>
        <p:spPr>
          <a:xfrm>
            <a:off x="2934950" y="3751625"/>
            <a:ext cx="4280500" cy="32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2f5594a4f43_0_391"/>
          <p:cNvSpPr txBox="1"/>
          <p:nvPr/>
        </p:nvSpPr>
        <p:spPr>
          <a:xfrm>
            <a:off x="138301" y="116985"/>
            <a:ext cx="6380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Agrupamento (clustering)</a:t>
            </a:r>
            <a:endParaRPr b="1" i="0" sz="2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1" name="Google Shape;171;g2f5594a4f43_0_391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2f5594a4f43_0_687"/>
          <p:cNvPicPr preferRelativeResize="0"/>
          <p:nvPr/>
        </p:nvPicPr>
        <p:blipFill rotWithShape="1">
          <a:blip r:embed="rId3">
            <a:alphaModFix/>
          </a:blip>
          <a:srcRect b="0" l="0" r="0" t="14899"/>
          <a:stretch/>
        </p:blipFill>
        <p:spPr>
          <a:xfrm>
            <a:off x="238800" y="1854500"/>
            <a:ext cx="10044174" cy="475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2f5594a4f43_0_687"/>
          <p:cNvSpPr txBox="1"/>
          <p:nvPr/>
        </p:nvSpPr>
        <p:spPr>
          <a:xfrm>
            <a:off x="372725" y="890775"/>
            <a:ext cx="9560400" cy="16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Noção de grupos pode ser ambígua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g2f5594a4f43_0_687"/>
          <p:cNvSpPr txBox="1"/>
          <p:nvPr/>
        </p:nvSpPr>
        <p:spPr>
          <a:xfrm>
            <a:off x="138301" y="116985"/>
            <a:ext cx="6380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Agrupamento (clustering)</a:t>
            </a:r>
            <a:endParaRPr b="1" i="0" sz="2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Google Shape;179;g2f5594a4f43_0_687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2f5594a4f43_0_7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025" y="945648"/>
            <a:ext cx="2596225" cy="340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2f5594a4f43_0_7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1850" y="1007700"/>
            <a:ext cx="2501550" cy="327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2f5594a4f43_0_7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6375" y="4273675"/>
            <a:ext cx="3337600" cy="299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2f5594a4f43_0_706"/>
          <p:cNvSpPr txBox="1"/>
          <p:nvPr/>
        </p:nvSpPr>
        <p:spPr>
          <a:xfrm>
            <a:off x="5797925" y="1119100"/>
            <a:ext cx="4689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Partitional Clustering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Uma divisão de objetos cujos grupos não se sobrepõem, de modo que cada objeto de dado está em somente um grupo.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" name="Google Shape;188;g2f5594a4f43_0_706"/>
          <p:cNvSpPr txBox="1"/>
          <p:nvPr/>
        </p:nvSpPr>
        <p:spPr>
          <a:xfrm>
            <a:off x="1747900" y="5456875"/>
            <a:ext cx="476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Hierarchical clustering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 conjunto de grupos alinhados em uma árvore hierárquica.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g2f5594a4f43_0_706"/>
          <p:cNvSpPr txBox="1"/>
          <p:nvPr/>
        </p:nvSpPr>
        <p:spPr>
          <a:xfrm>
            <a:off x="138301" y="116985"/>
            <a:ext cx="6380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Agrupamento (clustering)</a:t>
            </a:r>
            <a:endParaRPr b="1" i="0" sz="2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0" name="Google Shape;190;g2f5594a4f43_0_706"/>
          <p:cNvPicPr preferRelativeResize="0"/>
          <p:nvPr/>
        </p:nvPicPr>
        <p:blipFill rotWithShape="1">
          <a:blip r:embed="rId6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5594a4f43_0_697"/>
          <p:cNvSpPr txBox="1"/>
          <p:nvPr/>
        </p:nvSpPr>
        <p:spPr>
          <a:xfrm>
            <a:off x="324048" y="1108413"/>
            <a:ext cx="8846100" cy="10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2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Exemplo: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Algoritmo K-means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0" lang="pt-BR" sz="18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MacQueen, 1967; Kulis &amp; Jordan, 2012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g2f5594a4f43_0_697"/>
          <p:cNvSpPr txBox="1"/>
          <p:nvPr/>
        </p:nvSpPr>
        <p:spPr>
          <a:xfrm>
            <a:off x="543550" y="2898975"/>
            <a:ext cx="89847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●"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particionar um conjunto X de n itens, o k-means precisa de um parâmetr</a:t>
            </a:r>
            <a:r>
              <a:rPr b="1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k </a:t>
            </a: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indicar o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número de clusters </a:t>
            </a: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serem formados. 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●"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Centros são formados aleatoriamente e todas as instâncias são atribuídas ao centro do cluster mais próximo de acordo com a</a:t>
            </a:r>
            <a:r>
              <a:rPr b="1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distância euclidiana.</a:t>
            </a:r>
            <a:endParaRPr b="1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●"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seguida, o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centroide</a:t>
            </a: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ou a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média</a:t>
            </a: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das instâncias em cada cluster é calculado (“means”). Estes centroides são usados para serem os novos valores para cada respectivo cluster.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●"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Essa operação de atualizar o centroide continua, recursivamente, até que o centro do cluster esteja estabilizado.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g2f5594a4f43_0_697"/>
          <p:cNvSpPr txBox="1"/>
          <p:nvPr/>
        </p:nvSpPr>
        <p:spPr>
          <a:xfrm>
            <a:off x="138301" y="116985"/>
            <a:ext cx="6380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Agrupamento (clustering)</a:t>
            </a:r>
            <a:endParaRPr b="1" i="0" sz="2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8" name="Google Shape;198;g2f5594a4f43_0_697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f5594a4f43_0_408"/>
          <p:cNvSpPr txBox="1"/>
          <p:nvPr/>
        </p:nvSpPr>
        <p:spPr>
          <a:xfrm>
            <a:off x="906910" y="729202"/>
            <a:ext cx="7894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Quais são os grupos? O que representam? …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g2f5594a4f43_0_408"/>
          <p:cNvGrpSpPr/>
          <p:nvPr/>
        </p:nvGrpSpPr>
        <p:grpSpPr>
          <a:xfrm>
            <a:off x="3134847" y="1941265"/>
            <a:ext cx="4609870" cy="3818717"/>
            <a:chOff x="2903981" y="1761743"/>
            <a:chExt cx="4270375" cy="3465575"/>
          </a:xfrm>
        </p:grpSpPr>
        <p:sp>
          <p:nvSpPr>
            <p:cNvPr id="205" name="Google Shape;205;g2f5594a4f43_0_408"/>
            <p:cNvSpPr/>
            <p:nvPr/>
          </p:nvSpPr>
          <p:spPr>
            <a:xfrm>
              <a:off x="2903981" y="1812798"/>
              <a:ext cx="4270375" cy="3365500"/>
            </a:xfrm>
            <a:custGeom>
              <a:rect b="b" l="l" r="r" t="t"/>
              <a:pathLst>
                <a:path extrusionOk="0" h="3365500" w="4270375">
                  <a:moveTo>
                    <a:pt x="0" y="3364991"/>
                  </a:moveTo>
                  <a:lnTo>
                    <a:pt x="4270248" y="3364991"/>
                  </a:lnTo>
                </a:path>
                <a:path extrusionOk="0" h="3365500" w="4270375">
                  <a:moveTo>
                    <a:pt x="0" y="336499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6" name="Google Shape;206;g2f5594a4f43_0_40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79747" y="5137403"/>
              <a:ext cx="89915" cy="899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g2f5594a4f43_0_40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54423" y="4305300"/>
              <a:ext cx="89915" cy="990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g2f5594a4f43_0_40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83607" y="4658867"/>
              <a:ext cx="97536" cy="91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g2f5594a4f43_0_40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18559" y="4370832"/>
              <a:ext cx="650748" cy="60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g2f5594a4f43_0_40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69307" y="4099560"/>
              <a:ext cx="89915" cy="899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g2f5594a4f43_0_408"/>
            <p:cNvSpPr/>
            <p:nvPr/>
          </p:nvSpPr>
          <p:spPr>
            <a:xfrm>
              <a:off x="4096512" y="1769363"/>
              <a:ext cx="1910079" cy="1870075"/>
            </a:xfrm>
            <a:custGeom>
              <a:rect b="b" l="l" r="r" t="t"/>
              <a:pathLst>
                <a:path extrusionOk="0" h="1870075" w="1910079">
                  <a:moveTo>
                    <a:pt x="82296" y="1096772"/>
                  </a:moveTo>
                  <a:lnTo>
                    <a:pt x="41148" y="1037844"/>
                  </a:lnTo>
                  <a:lnTo>
                    <a:pt x="0" y="1096772"/>
                  </a:lnTo>
                  <a:lnTo>
                    <a:pt x="41148" y="1146048"/>
                  </a:lnTo>
                  <a:lnTo>
                    <a:pt x="82296" y="1096772"/>
                  </a:lnTo>
                  <a:close/>
                </a:path>
                <a:path extrusionOk="0" h="1870075" w="1910079">
                  <a:moveTo>
                    <a:pt x="353568" y="855853"/>
                  </a:moveTo>
                  <a:lnTo>
                    <a:pt x="312420" y="798576"/>
                  </a:lnTo>
                  <a:lnTo>
                    <a:pt x="272796" y="855853"/>
                  </a:lnTo>
                  <a:lnTo>
                    <a:pt x="312420" y="905256"/>
                  </a:lnTo>
                  <a:lnTo>
                    <a:pt x="353568" y="855853"/>
                  </a:lnTo>
                  <a:close/>
                </a:path>
                <a:path extrusionOk="0" h="1870075" w="1910079">
                  <a:moveTo>
                    <a:pt x="377952" y="1326515"/>
                  </a:moveTo>
                  <a:lnTo>
                    <a:pt x="336804" y="1277112"/>
                  </a:lnTo>
                  <a:lnTo>
                    <a:pt x="295656" y="1326515"/>
                  </a:lnTo>
                  <a:lnTo>
                    <a:pt x="336804" y="1383792"/>
                  </a:lnTo>
                  <a:lnTo>
                    <a:pt x="377952" y="1326515"/>
                  </a:lnTo>
                  <a:close/>
                </a:path>
                <a:path extrusionOk="0" h="1870075" w="1910079">
                  <a:moveTo>
                    <a:pt x="402336" y="1556639"/>
                  </a:moveTo>
                  <a:lnTo>
                    <a:pt x="362712" y="1507236"/>
                  </a:lnTo>
                  <a:lnTo>
                    <a:pt x="321564" y="1556639"/>
                  </a:lnTo>
                  <a:lnTo>
                    <a:pt x="362712" y="1613916"/>
                  </a:lnTo>
                  <a:lnTo>
                    <a:pt x="402336" y="1556639"/>
                  </a:lnTo>
                  <a:close/>
                </a:path>
                <a:path extrusionOk="0" h="1870075" w="1910079">
                  <a:moveTo>
                    <a:pt x="477012" y="922782"/>
                  </a:moveTo>
                  <a:lnTo>
                    <a:pt x="428117" y="873252"/>
                  </a:lnTo>
                  <a:lnTo>
                    <a:pt x="387096" y="922782"/>
                  </a:lnTo>
                  <a:lnTo>
                    <a:pt x="428117" y="972312"/>
                  </a:lnTo>
                  <a:lnTo>
                    <a:pt x="477012" y="922782"/>
                  </a:lnTo>
                  <a:close/>
                </a:path>
                <a:path extrusionOk="0" h="1870075" w="1910079">
                  <a:moveTo>
                    <a:pt x="502920" y="634111"/>
                  </a:moveTo>
                  <a:lnTo>
                    <a:pt x="461264" y="577596"/>
                  </a:lnTo>
                  <a:lnTo>
                    <a:pt x="411480" y="634111"/>
                  </a:lnTo>
                  <a:lnTo>
                    <a:pt x="461264" y="682752"/>
                  </a:lnTo>
                  <a:lnTo>
                    <a:pt x="502920" y="634111"/>
                  </a:lnTo>
                  <a:close/>
                </a:path>
                <a:path extrusionOk="0" h="1870075" w="1910079">
                  <a:moveTo>
                    <a:pt x="551688" y="1499616"/>
                  </a:moveTo>
                  <a:lnTo>
                    <a:pt x="510540" y="1450848"/>
                  </a:lnTo>
                  <a:lnTo>
                    <a:pt x="469392" y="1499616"/>
                  </a:lnTo>
                  <a:lnTo>
                    <a:pt x="510540" y="1548384"/>
                  </a:lnTo>
                  <a:lnTo>
                    <a:pt x="551688" y="1499616"/>
                  </a:lnTo>
                  <a:close/>
                </a:path>
                <a:path extrusionOk="0" h="1870075" w="1910079">
                  <a:moveTo>
                    <a:pt x="551688" y="1326515"/>
                  </a:moveTo>
                  <a:lnTo>
                    <a:pt x="510540" y="1277112"/>
                  </a:lnTo>
                  <a:lnTo>
                    <a:pt x="469392" y="1326515"/>
                  </a:lnTo>
                  <a:lnTo>
                    <a:pt x="510540" y="1383792"/>
                  </a:lnTo>
                  <a:lnTo>
                    <a:pt x="551688" y="1326515"/>
                  </a:lnTo>
                  <a:close/>
                </a:path>
                <a:path extrusionOk="0" h="1870075" w="1910079">
                  <a:moveTo>
                    <a:pt x="609600" y="1096772"/>
                  </a:moveTo>
                  <a:lnTo>
                    <a:pt x="567690" y="1037844"/>
                  </a:lnTo>
                  <a:lnTo>
                    <a:pt x="525780" y="1096772"/>
                  </a:lnTo>
                  <a:lnTo>
                    <a:pt x="567690" y="1146048"/>
                  </a:lnTo>
                  <a:lnTo>
                    <a:pt x="609600" y="1096772"/>
                  </a:lnTo>
                  <a:close/>
                </a:path>
                <a:path extrusionOk="0" h="1870075" w="1910079">
                  <a:moveTo>
                    <a:pt x="633984" y="1227582"/>
                  </a:moveTo>
                  <a:lnTo>
                    <a:pt x="592836" y="1176528"/>
                  </a:lnTo>
                  <a:lnTo>
                    <a:pt x="551688" y="1227582"/>
                  </a:lnTo>
                  <a:lnTo>
                    <a:pt x="592836" y="1277112"/>
                  </a:lnTo>
                  <a:lnTo>
                    <a:pt x="633984" y="1227582"/>
                  </a:lnTo>
                  <a:close/>
                </a:path>
                <a:path extrusionOk="0" h="1870075" w="1910079">
                  <a:moveTo>
                    <a:pt x="650748" y="881761"/>
                  </a:moveTo>
                  <a:lnTo>
                    <a:pt x="608838" y="824484"/>
                  </a:lnTo>
                  <a:lnTo>
                    <a:pt x="566928" y="881761"/>
                  </a:lnTo>
                  <a:lnTo>
                    <a:pt x="608838" y="931164"/>
                  </a:lnTo>
                  <a:lnTo>
                    <a:pt x="650748" y="881761"/>
                  </a:lnTo>
                  <a:close/>
                </a:path>
                <a:path extrusionOk="0" h="1870075" w="1910079">
                  <a:moveTo>
                    <a:pt x="658368" y="1152906"/>
                  </a:moveTo>
                  <a:lnTo>
                    <a:pt x="617220" y="1103376"/>
                  </a:lnTo>
                  <a:lnTo>
                    <a:pt x="576072" y="1152906"/>
                  </a:lnTo>
                  <a:lnTo>
                    <a:pt x="617220" y="1202436"/>
                  </a:lnTo>
                  <a:lnTo>
                    <a:pt x="658368" y="1152906"/>
                  </a:lnTo>
                  <a:close/>
                </a:path>
                <a:path extrusionOk="0" h="1870075" w="1910079">
                  <a:moveTo>
                    <a:pt x="658368" y="494538"/>
                  </a:moveTo>
                  <a:lnTo>
                    <a:pt x="617220" y="445008"/>
                  </a:lnTo>
                  <a:lnTo>
                    <a:pt x="576072" y="494538"/>
                  </a:lnTo>
                  <a:lnTo>
                    <a:pt x="617220" y="544068"/>
                  </a:lnTo>
                  <a:lnTo>
                    <a:pt x="658368" y="494538"/>
                  </a:lnTo>
                  <a:close/>
                </a:path>
                <a:path extrusionOk="0" h="1870075" w="1910079">
                  <a:moveTo>
                    <a:pt x="707136" y="724662"/>
                  </a:moveTo>
                  <a:lnTo>
                    <a:pt x="658241" y="675132"/>
                  </a:lnTo>
                  <a:lnTo>
                    <a:pt x="617220" y="724662"/>
                  </a:lnTo>
                  <a:lnTo>
                    <a:pt x="658241" y="774192"/>
                  </a:lnTo>
                  <a:lnTo>
                    <a:pt x="707136" y="724662"/>
                  </a:lnTo>
                  <a:close/>
                </a:path>
                <a:path extrusionOk="0" h="1870075" w="1910079">
                  <a:moveTo>
                    <a:pt x="714756" y="1530604"/>
                  </a:moveTo>
                  <a:lnTo>
                    <a:pt x="665861" y="1481328"/>
                  </a:lnTo>
                  <a:lnTo>
                    <a:pt x="624840" y="1530604"/>
                  </a:lnTo>
                  <a:lnTo>
                    <a:pt x="665861" y="1589532"/>
                  </a:lnTo>
                  <a:lnTo>
                    <a:pt x="714756" y="1530604"/>
                  </a:lnTo>
                  <a:close/>
                </a:path>
                <a:path extrusionOk="0" h="1870075" w="1910079">
                  <a:moveTo>
                    <a:pt x="725424" y="1318895"/>
                  </a:moveTo>
                  <a:lnTo>
                    <a:pt x="674116" y="1269492"/>
                  </a:lnTo>
                  <a:lnTo>
                    <a:pt x="660107" y="1286725"/>
                  </a:lnTo>
                  <a:lnTo>
                    <a:pt x="658723" y="1285316"/>
                  </a:lnTo>
                  <a:lnTo>
                    <a:pt x="658241" y="1284732"/>
                  </a:lnTo>
                  <a:lnTo>
                    <a:pt x="650621" y="1277112"/>
                  </a:lnTo>
                  <a:lnTo>
                    <a:pt x="609600" y="1326515"/>
                  </a:lnTo>
                  <a:lnTo>
                    <a:pt x="618947" y="1339583"/>
                  </a:lnTo>
                  <a:lnTo>
                    <a:pt x="617220" y="1342009"/>
                  </a:lnTo>
                  <a:lnTo>
                    <a:pt x="642505" y="1372476"/>
                  </a:lnTo>
                  <a:lnTo>
                    <a:pt x="650621" y="1383792"/>
                  </a:lnTo>
                  <a:lnTo>
                    <a:pt x="651268" y="1383030"/>
                  </a:lnTo>
                  <a:lnTo>
                    <a:pt x="658241" y="1391412"/>
                  </a:lnTo>
                  <a:lnTo>
                    <a:pt x="673785" y="1375714"/>
                  </a:lnTo>
                  <a:lnTo>
                    <a:pt x="674116" y="1376172"/>
                  </a:lnTo>
                  <a:lnTo>
                    <a:pt x="681659" y="1367751"/>
                  </a:lnTo>
                  <a:lnTo>
                    <a:pt x="707136" y="1342009"/>
                  </a:lnTo>
                  <a:lnTo>
                    <a:pt x="705954" y="1340637"/>
                  </a:lnTo>
                  <a:lnTo>
                    <a:pt x="725424" y="1318895"/>
                  </a:lnTo>
                  <a:close/>
                </a:path>
                <a:path extrusionOk="0" h="1870075" w="1910079">
                  <a:moveTo>
                    <a:pt x="733044" y="1104265"/>
                  </a:moveTo>
                  <a:lnTo>
                    <a:pt x="698525" y="1056817"/>
                  </a:lnTo>
                  <a:lnTo>
                    <a:pt x="707136" y="1046861"/>
                  </a:lnTo>
                  <a:lnTo>
                    <a:pt x="691070" y="1030389"/>
                  </a:lnTo>
                  <a:lnTo>
                    <a:pt x="699516" y="1021842"/>
                  </a:lnTo>
                  <a:lnTo>
                    <a:pt x="650621" y="972312"/>
                  </a:lnTo>
                  <a:lnTo>
                    <a:pt x="631444" y="995464"/>
                  </a:lnTo>
                  <a:lnTo>
                    <a:pt x="624840" y="987552"/>
                  </a:lnTo>
                  <a:lnTo>
                    <a:pt x="583692" y="1036828"/>
                  </a:lnTo>
                  <a:lnTo>
                    <a:pt x="624840" y="1095756"/>
                  </a:lnTo>
                  <a:lnTo>
                    <a:pt x="638505" y="1076198"/>
                  </a:lnTo>
                  <a:lnTo>
                    <a:pt x="651014" y="1093431"/>
                  </a:lnTo>
                  <a:lnTo>
                    <a:pt x="641604" y="1104265"/>
                  </a:lnTo>
                  <a:lnTo>
                    <a:pt x="691388" y="1153668"/>
                  </a:lnTo>
                  <a:lnTo>
                    <a:pt x="733044" y="1104265"/>
                  </a:lnTo>
                  <a:close/>
                </a:path>
                <a:path extrusionOk="0" h="1870075" w="1910079">
                  <a:moveTo>
                    <a:pt x="740664" y="922782"/>
                  </a:moveTo>
                  <a:lnTo>
                    <a:pt x="699643" y="873252"/>
                  </a:lnTo>
                  <a:lnTo>
                    <a:pt x="650748" y="922782"/>
                  </a:lnTo>
                  <a:lnTo>
                    <a:pt x="699643" y="972312"/>
                  </a:lnTo>
                  <a:lnTo>
                    <a:pt x="740664" y="922782"/>
                  </a:lnTo>
                  <a:close/>
                </a:path>
                <a:path extrusionOk="0" h="1870075" w="1910079">
                  <a:moveTo>
                    <a:pt x="740664" y="799211"/>
                  </a:moveTo>
                  <a:lnTo>
                    <a:pt x="699643" y="749808"/>
                  </a:lnTo>
                  <a:lnTo>
                    <a:pt x="650748" y="799211"/>
                  </a:lnTo>
                  <a:lnTo>
                    <a:pt x="699643" y="856488"/>
                  </a:lnTo>
                  <a:lnTo>
                    <a:pt x="740664" y="799211"/>
                  </a:lnTo>
                  <a:close/>
                </a:path>
                <a:path extrusionOk="0" h="1870075" w="1910079">
                  <a:moveTo>
                    <a:pt x="748284" y="395605"/>
                  </a:moveTo>
                  <a:lnTo>
                    <a:pt x="707263" y="338328"/>
                  </a:lnTo>
                  <a:lnTo>
                    <a:pt x="658368" y="395605"/>
                  </a:lnTo>
                  <a:lnTo>
                    <a:pt x="707263" y="445008"/>
                  </a:lnTo>
                  <a:lnTo>
                    <a:pt x="748284" y="395605"/>
                  </a:lnTo>
                  <a:close/>
                </a:path>
                <a:path extrusionOk="0" h="1870075" w="1910079">
                  <a:moveTo>
                    <a:pt x="765048" y="551561"/>
                  </a:moveTo>
                  <a:lnTo>
                    <a:pt x="724916" y="502920"/>
                  </a:lnTo>
                  <a:lnTo>
                    <a:pt x="673608" y="551561"/>
                  </a:lnTo>
                  <a:lnTo>
                    <a:pt x="724916" y="609600"/>
                  </a:lnTo>
                  <a:lnTo>
                    <a:pt x="765048" y="551561"/>
                  </a:lnTo>
                  <a:close/>
                </a:path>
                <a:path extrusionOk="0" h="1870075" w="1910079">
                  <a:moveTo>
                    <a:pt x="781812" y="1655064"/>
                  </a:moveTo>
                  <a:lnTo>
                    <a:pt x="740664" y="1606296"/>
                  </a:lnTo>
                  <a:lnTo>
                    <a:pt x="699516" y="1655064"/>
                  </a:lnTo>
                  <a:lnTo>
                    <a:pt x="740664" y="1703832"/>
                  </a:lnTo>
                  <a:lnTo>
                    <a:pt x="781812" y="1655064"/>
                  </a:lnTo>
                  <a:close/>
                </a:path>
                <a:path extrusionOk="0" h="1870075" w="1910079">
                  <a:moveTo>
                    <a:pt x="822960" y="1186434"/>
                  </a:moveTo>
                  <a:lnTo>
                    <a:pt x="781812" y="1136904"/>
                  </a:lnTo>
                  <a:lnTo>
                    <a:pt x="765124" y="1156995"/>
                  </a:lnTo>
                  <a:lnTo>
                    <a:pt x="755904" y="1146048"/>
                  </a:lnTo>
                  <a:lnTo>
                    <a:pt x="714756" y="1194816"/>
                  </a:lnTo>
                  <a:lnTo>
                    <a:pt x="755904" y="1243584"/>
                  </a:lnTo>
                  <a:lnTo>
                    <a:pt x="772147" y="1224343"/>
                  </a:lnTo>
                  <a:lnTo>
                    <a:pt x="781812" y="1235964"/>
                  </a:lnTo>
                  <a:lnTo>
                    <a:pt x="822960" y="1186434"/>
                  </a:lnTo>
                  <a:close/>
                </a:path>
                <a:path extrusionOk="0" h="1870075" w="1910079">
                  <a:moveTo>
                    <a:pt x="830580" y="1368044"/>
                  </a:moveTo>
                  <a:lnTo>
                    <a:pt x="789432" y="1309116"/>
                  </a:lnTo>
                  <a:lnTo>
                    <a:pt x="748284" y="1368044"/>
                  </a:lnTo>
                  <a:lnTo>
                    <a:pt x="789432" y="1417320"/>
                  </a:lnTo>
                  <a:lnTo>
                    <a:pt x="830580" y="1368044"/>
                  </a:lnTo>
                  <a:close/>
                </a:path>
                <a:path extrusionOk="0" h="1870075" w="1910079">
                  <a:moveTo>
                    <a:pt x="830580" y="988314"/>
                  </a:moveTo>
                  <a:lnTo>
                    <a:pt x="789432" y="938784"/>
                  </a:lnTo>
                  <a:lnTo>
                    <a:pt x="751763" y="984123"/>
                  </a:lnTo>
                  <a:lnTo>
                    <a:pt x="748284" y="979932"/>
                  </a:lnTo>
                  <a:lnTo>
                    <a:pt x="707136" y="1029462"/>
                  </a:lnTo>
                  <a:lnTo>
                    <a:pt x="748284" y="1078992"/>
                  </a:lnTo>
                  <a:lnTo>
                    <a:pt x="785939" y="1033653"/>
                  </a:lnTo>
                  <a:lnTo>
                    <a:pt x="789432" y="1037844"/>
                  </a:lnTo>
                  <a:lnTo>
                    <a:pt x="830580" y="988314"/>
                  </a:lnTo>
                  <a:close/>
                </a:path>
                <a:path extrusionOk="0" h="1870075" w="1910079">
                  <a:moveTo>
                    <a:pt x="937260" y="1318895"/>
                  </a:moveTo>
                  <a:lnTo>
                    <a:pt x="888365" y="1269492"/>
                  </a:lnTo>
                  <a:lnTo>
                    <a:pt x="847344" y="1318895"/>
                  </a:lnTo>
                  <a:lnTo>
                    <a:pt x="888365" y="1376172"/>
                  </a:lnTo>
                  <a:lnTo>
                    <a:pt x="937260" y="1318895"/>
                  </a:lnTo>
                  <a:close/>
                </a:path>
                <a:path extrusionOk="0" h="1870075" w="1910079">
                  <a:moveTo>
                    <a:pt x="946404" y="585089"/>
                  </a:moveTo>
                  <a:lnTo>
                    <a:pt x="895985" y="536448"/>
                  </a:lnTo>
                  <a:lnTo>
                    <a:pt x="856488" y="585089"/>
                  </a:lnTo>
                  <a:lnTo>
                    <a:pt x="895985" y="641604"/>
                  </a:lnTo>
                  <a:lnTo>
                    <a:pt x="946404" y="585089"/>
                  </a:lnTo>
                  <a:close/>
                </a:path>
                <a:path extrusionOk="0" h="1870075" w="1910079">
                  <a:moveTo>
                    <a:pt x="996696" y="889381"/>
                  </a:moveTo>
                  <a:lnTo>
                    <a:pt x="955040" y="832104"/>
                  </a:lnTo>
                  <a:lnTo>
                    <a:pt x="905256" y="889381"/>
                  </a:lnTo>
                  <a:lnTo>
                    <a:pt x="955040" y="938784"/>
                  </a:lnTo>
                  <a:lnTo>
                    <a:pt x="996696" y="889381"/>
                  </a:lnTo>
                  <a:close/>
                </a:path>
                <a:path extrusionOk="0" h="1870075" w="1910079">
                  <a:moveTo>
                    <a:pt x="996696" y="297815"/>
                  </a:moveTo>
                  <a:lnTo>
                    <a:pt x="955040" y="248412"/>
                  </a:lnTo>
                  <a:lnTo>
                    <a:pt x="930363" y="272897"/>
                  </a:lnTo>
                  <a:lnTo>
                    <a:pt x="913384" y="256032"/>
                  </a:lnTo>
                  <a:lnTo>
                    <a:pt x="871728" y="305435"/>
                  </a:lnTo>
                  <a:lnTo>
                    <a:pt x="913384" y="362712"/>
                  </a:lnTo>
                  <a:lnTo>
                    <a:pt x="937514" y="334949"/>
                  </a:lnTo>
                  <a:lnTo>
                    <a:pt x="955040" y="355092"/>
                  </a:lnTo>
                  <a:lnTo>
                    <a:pt x="996696" y="297815"/>
                  </a:lnTo>
                  <a:close/>
                </a:path>
                <a:path extrusionOk="0" h="1870075" w="1910079">
                  <a:moveTo>
                    <a:pt x="1011936" y="1383157"/>
                  </a:moveTo>
                  <a:lnTo>
                    <a:pt x="970915" y="1325880"/>
                  </a:lnTo>
                  <a:lnTo>
                    <a:pt x="940638" y="1361351"/>
                  </a:lnTo>
                  <a:lnTo>
                    <a:pt x="921893" y="1342644"/>
                  </a:lnTo>
                  <a:lnTo>
                    <a:pt x="880872" y="1391412"/>
                  </a:lnTo>
                  <a:lnTo>
                    <a:pt x="921893" y="1440180"/>
                  </a:lnTo>
                  <a:lnTo>
                    <a:pt x="950353" y="1411795"/>
                  </a:lnTo>
                  <a:lnTo>
                    <a:pt x="970915" y="1432560"/>
                  </a:lnTo>
                  <a:lnTo>
                    <a:pt x="1011936" y="1383157"/>
                  </a:lnTo>
                  <a:close/>
                </a:path>
                <a:path extrusionOk="0" h="1870075" w="1910079">
                  <a:moveTo>
                    <a:pt x="1011936" y="519684"/>
                  </a:moveTo>
                  <a:lnTo>
                    <a:pt x="970915" y="470916"/>
                  </a:lnTo>
                  <a:lnTo>
                    <a:pt x="922020" y="519684"/>
                  </a:lnTo>
                  <a:lnTo>
                    <a:pt x="970915" y="568452"/>
                  </a:lnTo>
                  <a:lnTo>
                    <a:pt x="1011936" y="519684"/>
                  </a:lnTo>
                  <a:close/>
                </a:path>
                <a:path extrusionOk="0" h="1870075" w="1910079">
                  <a:moveTo>
                    <a:pt x="1037844" y="1161288"/>
                  </a:moveTo>
                  <a:lnTo>
                    <a:pt x="1003452" y="1120546"/>
                  </a:lnTo>
                  <a:lnTo>
                    <a:pt x="1004316" y="1119505"/>
                  </a:lnTo>
                  <a:lnTo>
                    <a:pt x="963295" y="1062228"/>
                  </a:lnTo>
                  <a:lnTo>
                    <a:pt x="914400" y="1119505"/>
                  </a:lnTo>
                  <a:lnTo>
                    <a:pt x="955636" y="1161186"/>
                  </a:lnTo>
                  <a:lnTo>
                    <a:pt x="996696" y="1210056"/>
                  </a:lnTo>
                  <a:lnTo>
                    <a:pt x="1037844" y="1161288"/>
                  </a:lnTo>
                  <a:close/>
                </a:path>
                <a:path extrusionOk="0" h="1870075" w="1910079">
                  <a:moveTo>
                    <a:pt x="1110996" y="1473708"/>
                  </a:moveTo>
                  <a:lnTo>
                    <a:pt x="1069848" y="1424940"/>
                  </a:lnTo>
                  <a:lnTo>
                    <a:pt x="1028700" y="1473708"/>
                  </a:lnTo>
                  <a:lnTo>
                    <a:pt x="1069848" y="1522476"/>
                  </a:lnTo>
                  <a:lnTo>
                    <a:pt x="1110996" y="1473708"/>
                  </a:lnTo>
                  <a:close/>
                </a:path>
                <a:path extrusionOk="0" h="1870075" w="1910079">
                  <a:moveTo>
                    <a:pt x="1135380" y="906018"/>
                  </a:moveTo>
                  <a:lnTo>
                    <a:pt x="1094232" y="856488"/>
                  </a:lnTo>
                  <a:lnTo>
                    <a:pt x="1053084" y="906018"/>
                  </a:lnTo>
                  <a:lnTo>
                    <a:pt x="1094232" y="955548"/>
                  </a:lnTo>
                  <a:lnTo>
                    <a:pt x="1135380" y="906018"/>
                  </a:lnTo>
                  <a:close/>
                </a:path>
                <a:path extrusionOk="0" h="1870075" w="1910079">
                  <a:moveTo>
                    <a:pt x="1152144" y="1300480"/>
                  </a:moveTo>
                  <a:lnTo>
                    <a:pt x="1110996" y="1251204"/>
                  </a:lnTo>
                  <a:lnTo>
                    <a:pt x="1074597" y="1294790"/>
                  </a:lnTo>
                  <a:lnTo>
                    <a:pt x="1045464" y="1260348"/>
                  </a:lnTo>
                  <a:lnTo>
                    <a:pt x="1004316" y="1308989"/>
                  </a:lnTo>
                  <a:lnTo>
                    <a:pt x="1045464" y="1367028"/>
                  </a:lnTo>
                  <a:lnTo>
                    <a:pt x="1081151" y="1316685"/>
                  </a:lnTo>
                  <a:lnTo>
                    <a:pt x="1110996" y="1359408"/>
                  </a:lnTo>
                  <a:lnTo>
                    <a:pt x="1152144" y="1300480"/>
                  </a:lnTo>
                  <a:close/>
                </a:path>
                <a:path extrusionOk="0" h="1870075" w="1910079">
                  <a:moveTo>
                    <a:pt x="1159764" y="783336"/>
                  </a:moveTo>
                  <a:lnTo>
                    <a:pt x="1118616" y="734568"/>
                  </a:lnTo>
                  <a:lnTo>
                    <a:pt x="1113332" y="740829"/>
                  </a:lnTo>
                  <a:lnTo>
                    <a:pt x="1086612" y="708660"/>
                  </a:lnTo>
                  <a:lnTo>
                    <a:pt x="1045464" y="758190"/>
                  </a:lnTo>
                  <a:lnTo>
                    <a:pt x="1086612" y="807720"/>
                  </a:lnTo>
                  <a:lnTo>
                    <a:pt x="1092276" y="800900"/>
                  </a:lnTo>
                  <a:lnTo>
                    <a:pt x="1118616" y="832104"/>
                  </a:lnTo>
                  <a:lnTo>
                    <a:pt x="1159764" y="783336"/>
                  </a:lnTo>
                  <a:close/>
                </a:path>
                <a:path extrusionOk="0" h="1870075" w="1910079">
                  <a:moveTo>
                    <a:pt x="1159764" y="618109"/>
                  </a:moveTo>
                  <a:lnTo>
                    <a:pt x="1118616" y="560832"/>
                  </a:lnTo>
                  <a:lnTo>
                    <a:pt x="1077468" y="618109"/>
                  </a:lnTo>
                  <a:lnTo>
                    <a:pt x="1118616" y="667512"/>
                  </a:lnTo>
                  <a:lnTo>
                    <a:pt x="1159764" y="618109"/>
                  </a:lnTo>
                  <a:close/>
                </a:path>
                <a:path extrusionOk="0" h="1870075" w="1910079">
                  <a:moveTo>
                    <a:pt x="1193292" y="1779155"/>
                  </a:moveTo>
                  <a:lnTo>
                    <a:pt x="1143508" y="1729740"/>
                  </a:lnTo>
                  <a:lnTo>
                    <a:pt x="1101852" y="1779155"/>
                  </a:lnTo>
                  <a:lnTo>
                    <a:pt x="1143508" y="1836432"/>
                  </a:lnTo>
                  <a:lnTo>
                    <a:pt x="1193292" y="1779155"/>
                  </a:lnTo>
                  <a:close/>
                </a:path>
                <a:path extrusionOk="0" h="1870075" w="1910079">
                  <a:moveTo>
                    <a:pt x="1219200" y="49403"/>
                  </a:moveTo>
                  <a:lnTo>
                    <a:pt x="1167892" y="0"/>
                  </a:lnTo>
                  <a:lnTo>
                    <a:pt x="1127760" y="49403"/>
                  </a:lnTo>
                  <a:lnTo>
                    <a:pt x="1167892" y="106680"/>
                  </a:lnTo>
                  <a:lnTo>
                    <a:pt x="1219200" y="49403"/>
                  </a:lnTo>
                  <a:close/>
                </a:path>
                <a:path extrusionOk="0" h="1870075" w="1910079">
                  <a:moveTo>
                    <a:pt x="1234440" y="1235964"/>
                  </a:moveTo>
                  <a:lnTo>
                    <a:pt x="1193419" y="1187196"/>
                  </a:lnTo>
                  <a:lnTo>
                    <a:pt x="1144524" y="1235964"/>
                  </a:lnTo>
                  <a:lnTo>
                    <a:pt x="1193419" y="1284732"/>
                  </a:lnTo>
                  <a:lnTo>
                    <a:pt x="1234440" y="1235964"/>
                  </a:lnTo>
                  <a:close/>
                </a:path>
                <a:path extrusionOk="0" h="1870075" w="1910079">
                  <a:moveTo>
                    <a:pt x="1283208" y="815213"/>
                  </a:moveTo>
                  <a:lnTo>
                    <a:pt x="1242060" y="766572"/>
                  </a:lnTo>
                  <a:lnTo>
                    <a:pt x="1200912" y="815213"/>
                  </a:lnTo>
                  <a:lnTo>
                    <a:pt x="1242060" y="873252"/>
                  </a:lnTo>
                  <a:lnTo>
                    <a:pt x="1283208" y="815213"/>
                  </a:lnTo>
                  <a:close/>
                </a:path>
                <a:path extrusionOk="0" h="1870075" w="1910079">
                  <a:moveTo>
                    <a:pt x="1290828" y="610616"/>
                  </a:moveTo>
                  <a:lnTo>
                    <a:pt x="1249680" y="551688"/>
                  </a:lnTo>
                  <a:lnTo>
                    <a:pt x="1208532" y="610616"/>
                  </a:lnTo>
                  <a:lnTo>
                    <a:pt x="1249680" y="659892"/>
                  </a:lnTo>
                  <a:lnTo>
                    <a:pt x="1290828" y="610616"/>
                  </a:lnTo>
                  <a:close/>
                </a:path>
                <a:path extrusionOk="0" h="1870075" w="1910079">
                  <a:moveTo>
                    <a:pt x="1299972" y="954786"/>
                  </a:moveTo>
                  <a:lnTo>
                    <a:pt x="1258824" y="905256"/>
                  </a:lnTo>
                  <a:lnTo>
                    <a:pt x="1219200" y="954786"/>
                  </a:lnTo>
                  <a:lnTo>
                    <a:pt x="1258824" y="1005840"/>
                  </a:lnTo>
                  <a:lnTo>
                    <a:pt x="1299972" y="954786"/>
                  </a:lnTo>
                  <a:close/>
                </a:path>
                <a:path extrusionOk="0" h="1870075" w="1910079">
                  <a:moveTo>
                    <a:pt x="1333500" y="1540637"/>
                  </a:moveTo>
                  <a:lnTo>
                    <a:pt x="1291590" y="1490472"/>
                  </a:lnTo>
                  <a:lnTo>
                    <a:pt x="1256614" y="1532343"/>
                  </a:lnTo>
                  <a:lnTo>
                    <a:pt x="1242060" y="1514856"/>
                  </a:lnTo>
                  <a:lnTo>
                    <a:pt x="1200912" y="1564259"/>
                  </a:lnTo>
                  <a:lnTo>
                    <a:pt x="1242060" y="1621536"/>
                  </a:lnTo>
                  <a:lnTo>
                    <a:pt x="1275321" y="1575231"/>
                  </a:lnTo>
                  <a:lnTo>
                    <a:pt x="1291590" y="1597152"/>
                  </a:lnTo>
                  <a:lnTo>
                    <a:pt x="1333500" y="1540637"/>
                  </a:lnTo>
                  <a:close/>
                </a:path>
                <a:path extrusionOk="0" h="1870075" w="1910079">
                  <a:moveTo>
                    <a:pt x="1365504" y="412242"/>
                  </a:moveTo>
                  <a:lnTo>
                    <a:pt x="1324356" y="362712"/>
                  </a:lnTo>
                  <a:lnTo>
                    <a:pt x="1283208" y="412242"/>
                  </a:lnTo>
                  <a:lnTo>
                    <a:pt x="1324356" y="461772"/>
                  </a:lnTo>
                  <a:lnTo>
                    <a:pt x="1365504" y="412242"/>
                  </a:lnTo>
                  <a:close/>
                </a:path>
                <a:path extrusionOk="0" h="1870075" w="1910079">
                  <a:moveTo>
                    <a:pt x="1415796" y="362077"/>
                  </a:moveTo>
                  <a:lnTo>
                    <a:pt x="1374648" y="304800"/>
                  </a:lnTo>
                  <a:lnTo>
                    <a:pt x="1333500" y="362077"/>
                  </a:lnTo>
                  <a:lnTo>
                    <a:pt x="1374648" y="411480"/>
                  </a:lnTo>
                  <a:lnTo>
                    <a:pt x="1415796" y="362077"/>
                  </a:lnTo>
                  <a:close/>
                </a:path>
                <a:path extrusionOk="0" h="1870075" w="1910079">
                  <a:moveTo>
                    <a:pt x="1472184" y="1368044"/>
                  </a:moveTo>
                  <a:lnTo>
                    <a:pt x="1431163" y="1309116"/>
                  </a:lnTo>
                  <a:lnTo>
                    <a:pt x="1392440" y="1355775"/>
                  </a:lnTo>
                  <a:lnTo>
                    <a:pt x="1365504" y="1318260"/>
                  </a:lnTo>
                  <a:lnTo>
                    <a:pt x="1324356" y="1375537"/>
                  </a:lnTo>
                  <a:lnTo>
                    <a:pt x="1365504" y="1424940"/>
                  </a:lnTo>
                  <a:lnTo>
                    <a:pt x="1398905" y="1384833"/>
                  </a:lnTo>
                  <a:lnTo>
                    <a:pt x="1431163" y="1417320"/>
                  </a:lnTo>
                  <a:lnTo>
                    <a:pt x="1472184" y="1368044"/>
                  </a:lnTo>
                  <a:close/>
                </a:path>
                <a:path extrusionOk="0" h="1870075" w="1910079">
                  <a:moveTo>
                    <a:pt x="1563624" y="494538"/>
                  </a:moveTo>
                  <a:lnTo>
                    <a:pt x="1521714" y="445008"/>
                  </a:lnTo>
                  <a:lnTo>
                    <a:pt x="1479804" y="494538"/>
                  </a:lnTo>
                  <a:lnTo>
                    <a:pt x="1521714" y="544068"/>
                  </a:lnTo>
                  <a:lnTo>
                    <a:pt x="1563624" y="494538"/>
                  </a:lnTo>
                  <a:close/>
                </a:path>
                <a:path extrusionOk="0" h="1870075" w="1910079">
                  <a:moveTo>
                    <a:pt x="1595628" y="1285367"/>
                  </a:moveTo>
                  <a:lnTo>
                    <a:pt x="1554480" y="1235964"/>
                  </a:lnTo>
                  <a:lnTo>
                    <a:pt x="1513332" y="1285367"/>
                  </a:lnTo>
                  <a:lnTo>
                    <a:pt x="1554480" y="1342644"/>
                  </a:lnTo>
                  <a:lnTo>
                    <a:pt x="1595628" y="1285367"/>
                  </a:lnTo>
                  <a:close/>
                </a:path>
                <a:path extrusionOk="0" h="1870075" w="1910079">
                  <a:moveTo>
                    <a:pt x="1612392" y="1613281"/>
                  </a:moveTo>
                  <a:lnTo>
                    <a:pt x="1571244" y="1556004"/>
                  </a:lnTo>
                  <a:lnTo>
                    <a:pt x="1531620" y="1613281"/>
                  </a:lnTo>
                  <a:lnTo>
                    <a:pt x="1571244" y="1662684"/>
                  </a:lnTo>
                  <a:lnTo>
                    <a:pt x="1612392" y="1613281"/>
                  </a:lnTo>
                  <a:close/>
                </a:path>
                <a:path extrusionOk="0" h="1870075" w="1910079">
                  <a:moveTo>
                    <a:pt x="1679448" y="1450086"/>
                  </a:moveTo>
                  <a:lnTo>
                    <a:pt x="1629664" y="1399032"/>
                  </a:lnTo>
                  <a:lnTo>
                    <a:pt x="1588008" y="1450086"/>
                  </a:lnTo>
                  <a:lnTo>
                    <a:pt x="1629664" y="1499616"/>
                  </a:lnTo>
                  <a:lnTo>
                    <a:pt x="1679448" y="1450086"/>
                  </a:lnTo>
                  <a:close/>
                </a:path>
                <a:path extrusionOk="0" h="1870075" w="1910079">
                  <a:moveTo>
                    <a:pt x="1679448" y="1127887"/>
                  </a:moveTo>
                  <a:lnTo>
                    <a:pt x="1629664" y="1071372"/>
                  </a:lnTo>
                  <a:lnTo>
                    <a:pt x="1611884" y="1095489"/>
                  </a:lnTo>
                  <a:lnTo>
                    <a:pt x="1588008" y="1062228"/>
                  </a:lnTo>
                  <a:lnTo>
                    <a:pt x="1585442" y="1065796"/>
                  </a:lnTo>
                  <a:lnTo>
                    <a:pt x="1554480" y="1028700"/>
                  </a:lnTo>
                  <a:lnTo>
                    <a:pt x="1513332" y="1077976"/>
                  </a:lnTo>
                  <a:lnTo>
                    <a:pt x="1554480" y="1136904"/>
                  </a:lnTo>
                  <a:lnTo>
                    <a:pt x="1557604" y="1132420"/>
                  </a:lnTo>
                  <a:lnTo>
                    <a:pt x="1588008" y="1168908"/>
                  </a:lnTo>
                  <a:lnTo>
                    <a:pt x="1605318" y="1148118"/>
                  </a:lnTo>
                  <a:lnTo>
                    <a:pt x="1629664" y="1176528"/>
                  </a:lnTo>
                  <a:lnTo>
                    <a:pt x="1679448" y="1127887"/>
                  </a:lnTo>
                  <a:close/>
                </a:path>
                <a:path extrusionOk="0" h="1870075" w="1910079">
                  <a:moveTo>
                    <a:pt x="1818132" y="1812671"/>
                  </a:moveTo>
                  <a:lnTo>
                    <a:pt x="1776984" y="1763280"/>
                  </a:lnTo>
                  <a:lnTo>
                    <a:pt x="1735836" y="1812671"/>
                  </a:lnTo>
                  <a:lnTo>
                    <a:pt x="1776984" y="1869948"/>
                  </a:lnTo>
                  <a:lnTo>
                    <a:pt x="1818132" y="1812671"/>
                  </a:lnTo>
                  <a:close/>
                </a:path>
                <a:path extrusionOk="0" h="1870075" w="1910079">
                  <a:moveTo>
                    <a:pt x="1900428" y="1292987"/>
                  </a:moveTo>
                  <a:lnTo>
                    <a:pt x="1859280" y="1243584"/>
                  </a:lnTo>
                  <a:lnTo>
                    <a:pt x="1818132" y="1292987"/>
                  </a:lnTo>
                  <a:lnTo>
                    <a:pt x="1859280" y="1350264"/>
                  </a:lnTo>
                  <a:lnTo>
                    <a:pt x="1900428" y="1292987"/>
                  </a:lnTo>
                  <a:close/>
                </a:path>
                <a:path extrusionOk="0" h="1870075" w="1910079">
                  <a:moveTo>
                    <a:pt x="1909572" y="1168908"/>
                  </a:moveTo>
                  <a:lnTo>
                    <a:pt x="1867662" y="1120140"/>
                  </a:lnTo>
                  <a:lnTo>
                    <a:pt x="1825752" y="1168908"/>
                  </a:lnTo>
                  <a:lnTo>
                    <a:pt x="1867662" y="1217676"/>
                  </a:lnTo>
                  <a:lnTo>
                    <a:pt x="1909572" y="11689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g2f5594a4f43_0_408"/>
            <p:cNvSpPr/>
            <p:nvPr/>
          </p:nvSpPr>
          <p:spPr>
            <a:xfrm>
              <a:off x="4401312" y="1761743"/>
              <a:ext cx="1950720" cy="3342640"/>
            </a:xfrm>
            <a:custGeom>
              <a:rect b="b" l="l" r="r" t="t"/>
              <a:pathLst>
                <a:path extrusionOk="0" h="3342640" w="1950720">
                  <a:moveTo>
                    <a:pt x="82296" y="1160526"/>
                  </a:moveTo>
                  <a:lnTo>
                    <a:pt x="41148" y="1110996"/>
                  </a:lnTo>
                  <a:lnTo>
                    <a:pt x="0" y="1160526"/>
                  </a:lnTo>
                  <a:lnTo>
                    <a:pt x="41148" y="1210056"/>
                  </a:lnTo>
                  <a:lnTo>
                    <a:pt x="82296" y="1160526"/>
                  </a:lnTo>
                  <a:close/>
                </a:path>
                <a:path extrusionOk="0" h="3342640" w="1950720">
                  <a:moveTo>
                    <a:pt x="123444" y="535686"/>
                  </a:moveTo>
                  <a:lnTo>
                    <a:pt x="82296" y="486156"/>
                  </a:lnTo>
                  <a:lnTo>
                    <a:pt x="41148" y="535686"/>
                  </a:lnTo>
                  <a:lnTo>
                    <a:pt x="82296" y="585216"/>
                  </a:lnTo>
                  <a:lnTo>
                    <a:pt x="123444" y="535686"/>
                  </a:lnTo>
                  <a:close/>
                </a:path>
                <a:path extrusionOk="0" h="3342640" w="1950720">
                  <a:moveTo>
                    <a:pt x="246888" y="1507236"/>
                  </a:moveTo>
                  <a:lnTo>
                    <a:pt x="205740" y="1458468"/>
                  </a:lnTo>
                  <a:lnTo>
                    <a:pt x="164592" y="1507236"/>
                  </a:lnTo>
                  <a:lnTo>
                    <a:pt x="205740" y="1556004"/>
                  </a:lnTo>
                  <a:lnTo>
                    <a:pt x="246888" y="1507236"/>
                  </a:lnTo>
                  <a:close/>
                </a:path>
                <a:path extrusionOk="0" h="3342640" w="1950720">
                  <a:moveTo>
                    <a:pt x="262128" y="543306"/>
                  </a:moveTo>
                  <a:lnTo>
                    <a:pt x="220980" y="493776"/>
                  </a:lnTo>
                  <a:lnTo>
                    <a:pt x="179832" y="543306"/>
                  </a:lnTo>
                  <a:lnTo>
                    <a:pt x="220980" y="592836"/>
                  </a:lnTo>
                  <a:lnTo>
                    <a:pt x="262128" y="543306"/>
                  </a:lnTo>
                  <a:close/>
                </a:path>
                <a:path extrusionOk="0" h="3342640" w="1950720">
                  <a:moveTo>
                    <a:pt x="278892" y="633349"/>
                  </a:moveTo>
                  <a:lnTo>
                    <a:pt x="239268" y="576072"/>
                  </a:lnTo>
                  <a:lnTo>
                    <a:pt x="198120" y="633349"/>
                  </a:lnTo>
                  <a:lnTo>
                    <a:pt x="239268" y="682752"/>
                  </a:lnTo>
                  <a:lnTo>
                    <a:pt x="278892" y="633349"/>
                  </a:lnTo>
                  <a:close/>
                </a:path>
                <a:path extrusionOk="0" h="3342640" w="1950720">
                  <a:moveTo>
                    <a:pt x="336804" y="922782"/>
                  </a:moveTo>
                  <a:lnTo>
                    <a:pt x="295656" y="871728"/>
                  </a:lnTo>
                  <a:lnTo>
                    <a:pt x="254508" y="922782"/>
                  </a:lnTo>
                  <a:lnTo>
                    <a:pt x="295656" y="972312"/>
                  </a:lnTo>
                  <a:lnTo>
                    <a:pt x="336804" y="922782"/>
                  </a:lnTo>
                  <a:close/>
                </a:path>
                <a:path extrusionOk="0" h="3342640" w="1950720">
                  <a:moveTo>
                    <a:pt x="387096" y="1251204"/>
                  </a:moveTo>
                  <a:lnTo>
                    <a:pt x="337312" y="1202436"/>
                  </a:lnTo>
                  <a:lnTo>
                    <a:pt x="295656" y="1251204"/>
                  </a:lnTo>
                  <a:lnTo>
                    <a:pt x="337312" y="1299972"/>
                  </a:lnTo>
                  <a:lnTo>
                    <a:pt x="387096" y="1251204"/>
                  </a:lnTo>
                  <a:close/>
                </a:path>
                <a:path extrusionOk="0" h="3342640" w="1950720">
                  <a:moveTo>
                    <a:pt x="469392" y="49530"/>
                  </a:moveTo>
                  <a:lnTo>
                    <a:pt x="428244" y="0"/>
                  </a:lnTo>
                  <a:lnTo>
                    <a:pt x="387096" y="49530"/>
                  </a:lnTo>
                  <a:lnTo>
                    <a:pt x="428244" y="99060"/>
                  </a:lnTo>
                  <a:lnTo>
                    <a:pt x="469392" y="49530"/>
                  </a:lnTo>
                  <a:close/>
                </a:path>
                <a:path extrusionOk="0" h="3342640" w="1950720">
                  <a:moveTo>
                    <a:pt x="484632" y="1770138"/>
                  </a:moveTo>
                  <a:lnTo>
                    <a:pt x="443484" y="1719072"/>
                  </a:lnTo>
                  <a:lnTo>
                    <a:pt x="402336" y="1770138"/>
                  </a:lnTo>
                  <a:lnTo>
                    <a:pt x="443484" y="1819656"/>
                  </a:lnTo>
                  <a:lnTo>
                    <a:pt x="484632" y="1770138"/>
                  </a:lnTo>
                  <a:close/>
                </a:path>
                <a:path extrusionOk="0" h="3342640" w="1950720">
                  <a:moveTo>
                    <a:pt x="492252" y="2008632"/>
                  </a:moveTo>
                  <a:lnTo>
                    <a:pt x="451104" y="1959864"/>
                  </a:lnTo>
                  <a:lnTo>
                    <a:pt x="409956" y="2008632"/>
                  </a:lnTo>
                  <a:lnTo>
                    <a:pt x="451104" y="2057400"/>
                  </a:lnTo>
                  <a:lnTo>
                    <a:pt x="492252" y="2008632"/>
                  </a:lnTo>
                  <a:close/>
                </a:path>
                <a:path extrusionOk="0" h="3342640" w="1950720">
                  <a:moveTo>
                    <a:pt x="600456" y="1548257"/>
                  </a:moveTo>
                  <a:lnTo>
                    <a:pt x="559308" y="1498092"/>
                  </a:lnTo>
                  <a:lnTo>
                    <a:pt x="518160" y="1548257"/>
                  </a:lnTo>
                  <a:lnTo>
                    <a:pt x="559308" y="1604772"/>
                  </a:lnTo>
                  <a:lnTo>
                    <a:pt x="600456" y="1548257"/>
                  </a:lnTo>
                  <a:close/>
                </a:path>
                <a:path extrusionOk="0" h="3342640" w="1950720">
                  <a:moveTo>
                    <a:pt x="600456" y="871855"/>
                  </a:moveTo>
                  <a:lnTo>
                    <a:pt x="559308" y="815340"/>
                  </a:lnTo>
                  <a:lnTo>
                    <a:pt x="549021" y="829462"/>
                  </a:lnTo>
                  <a:lnTo>
                    <a:pt x="510540" y="781812"/>
                  </a:lnTo>
                  <a:lnTo>
                    <a:pt x="469392" y="832739"/>
                  </a:lnTo>
                  <a:lnTo>
                    <a:pt x="510540" y="890016"/>
                  </a:lnTo>
                  <a:lnTo>
                    <a:pt x="521042" y="875385"/>
                  </a:lnTo>
                  <a:lnTo>
                    <a:pt x="521931" y="876477"/>
                  </a:lnTo>
                  <a:lnTo>
                    <a:pt x="518160" y="881888"/>
                  </a:lnTo>
                  <a:lnTo>
                    <a:pt x="559308" y="931164"/>
                  </a:lnTo>
                  <a:lnTo>
                    <a:pt x="600456" y="881888"/>
                  </a:lnTo>
                  <a:lnTo>
                    <a:pt x="596671" y="876477"/>
                  </a:lnTo>
                  <a:lnTo>
                    <a:pt x="600456" y="871855"/>
                  </a:lnTo>
                  <a:close/>
                </a:path>
                <a:path extrusionOk="0" h="3342640" w="1950720">
                  <a:moveTo>
                    <a:pt x="658368" y="962406"/>
                  </a:moveTo>
                  <a:lnTo>
                    <a:pt x="608584" y="912876"/>
                  </a:lnTo>
                  <a:lnTo>
                    <a:pt x="566928" y="962406"/>
                  </a:lnTo>
                  <a:lnTo>
                    <a:pt x="608584" y="1013460"/>
                  </a:lnTo>
                  <a:lnTo>
                    <a:pt x="658368" y="962406"/>
                  </a:lnTo>
                  <a:close/>
                </a:path>
                <a:path extrusionOk="0" h="3342640" w="1950720">
                  <a:moveTo>
                    <a:pt x="681228" y="806831"/>
                  </a:moveTo>
                  <a:lnTo>
                    <a:pt x="641731" y="757428"/>
                  </a:lnTo>
                  <a:lnTo>
                    <a:pt x="591312" y="806831"/>
                  </a:lnTo>
                  <a:lnTo>
                    <a:pt x="641731" y="864108"/>
                  </a:lnTo>
                  <a:lnTo>
                    <a:pt x="681228" y="806831"/>
                  </a:lnTo>
                  <a:close/>
                </a:path>
                <a:path extrusionOk="0" h="3342640" w="1950720">
                  <a:moveTo>
                    <a:pt x="707136" y="905256"/>
                  </a:moveTo>
                  <a:lnTo>
                    <a:pt x="666115" y="856488"/>
                  </a:lnTo>
                  <a:lnTo>
                    <a:pt x="617220" y="905256"/>
                  </a:lnTo>
                  <a:lnTo>
                    <a:pt x="666115" y="954024"/>
                  </a:lnTo>
                  <a:lnTo>
                    <a:pt x="707136" y="905256"/>
                  </a:lnTo>
                  <a:close/>
                </a:path>
                <a:path extrusionOk="0" h="3342640" w="1950720">
                  <a:moveTo>
                    <a:pt x="789432" y="1119505"/>
                  </a:moveTo>
                  <a:lnTo>
                    <a:pt x="748284" y="1062228"/>
                  </a:lnTo>
                  <a:lnTo>
                    <a:pt x="707136" y="1119505"/>
                  </a:lnTo>
                  <a:lnTo>
                    <a:pt x="748284" y="1168908"/>
                  </a:lnTo>
                  <a:lnTo>
                    <a:pt x="789432" y="1119505"/>
                  </a:lnTo>
                  <a:close/>
                </a:path>
                <a:path extrusionOk="0" h="3342640" w="1950720">
                  <a:moveTo>
                    <a:pt x="903732" y="1367155"/>
                  </a:moveTo>
                  <a:lnTo>
                    <a:pt x="854837" y="1309116"/>
                  </a:lnTo>
                  <a:lnTo>
                    <a:pt x="820788" y="1357287"/>
                  </a:lnTo>
                  <a:lnTo>
                    <a:pt x="797814" y="1325880"/>
                  </a:lnTo>
                  <a:lnTo>
                    <a:pt x="755904" y="1383157"/>
                  </a:lnTo>
                  <a:lnTo>
                    <a:pt x="797814" y="1432560"/>
                  </a:lnTo>
                  <a:lnTo>
                    <a:pt x="833488" y="1390497"/>
                  </a:lnTo>
                  <a:lnTo>
                    <a:pt x="854837" y="1415796"/>
                  </a:lnTo>
                  <a:lnTo>
                    <a:pt x="903732" y="1367155"/>
                  </a:lnTo>
                  <a:close/>
                </a:path>
                <a:path extrusionOk="0" h="3342640" w="1950720">
                  <a:moveTo>
                    <a:pt x="922020" y="1029462"/>
                  </a:moveTo>
                  <a:lnTo>
                    <a:pt x="880364" y="979932"/>
                  </a:lnTo>
                  <a:lnTo>
                    <a:pt x="830580" y="1029462"/>
                  </a:lnTo>
                  <a:lnTo>
                    <a:pt x="880364" y="1078992"/>
                  </a:lnTo>
                  <a:lnTo>
                    <a:pt x="922020" y="1029462"/>
                  </a:lnTo>
                  <a:close/>
                </a:path>
                <a:path extrusionOk="0" h="3342640" w="1950720">
                  <a:moveTo>
                    <a:pt x="922020" y="666750"/>
                  </a:moveTo>
                  <a:lnTo>
                    <a:pt x="880364" y="617220"/>
                  </a:lnTo>
                  <a:lnTo>
                    <a:pt x="830580" y="666750"/>
                  </a:lnTo>
                  <a:lnTo>
                    <a:pt x="880364" y="716280"/>
                  </a:lnTo>
                  <a:lnTo>
                    <a:pt x="922020" y="666750"/>
                  </a:lnTo>
                  <a:close/>
                </a:path>
                <a:path extrusionOk="0" h="3342640" w="1950720">
                  <a:moveTo>
                    <a:pt x="937260" y="559181"/>
                  </a:moveTo>
                  <a:lnTo>
                    <a:pt x="896239" y="510540"/>
                  </a:lnTo>
                  <a:lnTo>
                    <a:pt x="847344" y="559181"/>
                  </a:lnTo>
                  <a:lnTo>
                    <a:pt x="896239" y="617220"/>
                  </a:lnTo>
                  <a:lnTo>
                    <a:pt x="937260" y="559181"/>
                  </a:lnTo>
                  <a:close/>
                </a:path>
                <a:path extrusionOk="0" h="3342640" w="1950720">
                  <a:moveTo>
                    <a:pt x="970788" y="1111885"/>
                  </a:moveTo>
                  <a:lnTo>
                    <a:pt x="929640" y="1054608"/>
                  </a:lnTo>
                  <a:lnTo>
                    <a:pt x="888492" y="1111885"/>
                  </a:lnTo>
                  <a:lnTo>
                    <a:pt x="929640" y="1161288"/>
                  </a:lnTo>
                  <a:lnTo>
                    <a:pt x="970788" y="1111885"/>
                  </a:lnTo>
                  <a:close/>
                </a:path>
                <a:path extrusionOk="0" h="3342640" w="1950720">
                  <a:moveTo>
                    <a:pt x="1043940" y="2363089"/>
                  </a:moveTo>
                  <a:lnTo>
                    <a:pt x="1004316" y="2305812"/>
                  </a:lnTo>
                  <a:lnTo>
                    <a:pt x="963168" y="2363089"/>
                  </a:lnTo>
                  <a:lnTo>
                    <a:pt x="1004316" y="2412492"/>
                  </a:lnTo>
                  <a:lnTo>
                    <a:pt x="1043940" y="2363089"/>
                  </a:lnTo>
                  <a:close/>
                </a:path>
                <a:path extrusionOk="0" h="3342640" w="1950720">
                  <a:moveTo>
                    <a:pt x="1053084" y="1152906"/>
                  </a:moveTo>
                  <a:lnTo>
                    <a:pt x="1011936" y="1103376"/>
                  </a:lnTo>
                  <a:lnTo>
                    <a:pt x="970788" y="1152906"/>
                  </a:lnTo>
                  <a:lnTo>
                    <a:pt x="1011936" y="1202436"/>
                  </a:lnTo>
                  <a:lnTo>
                    <a:pt x="1053084" y="1152906"/>
                  </a:lnTo>
                  <a:close/>
                </a:path>
                <a:path extrusionOk="0" h="3342640" w="1950720">
                  <a:moveTo>
                    <a:pt x="1216152" y="1326515"/>
                  </a:moveTo>
                  <a:lnTo>
                    <a:pt x="1175004" y="1277112"/>
                  </a:lnTo>
                  <a:lnTo>
                    <a:pt x="1133856" y="1326515"/>
                  </a:lnTo>
                  <a:lnTo>
                    <a:pt x="1175004" y="1383792"/>
                  </a:lnTo>
                  <a:lnTo>
                    <a:pt x="1216152" y="1326515"/>
                  </a:lnTo>
                  <a:close/>
                </a:path>
                <a:path extrusionOk="0" h="3342640" w="1950720">
                  <a:moveTo>
                    <a:pt x="1290828" y="527304"/>
                  </a:moveTo>
                  <a:lnTo>
                    <a:pt x="1249680" y="478536"/>
                  </a:lnTo>
                  <a:lnTo>
                    <a:pt x="1208532" y="527304"/>
                  </a:lnTo>
                  <a:lnTo>
                    <a:pt x="1249680" y="576072"/>
                  </a:lnTo>
                  <a:lnTo>
                    <a:pt x="1290828" y="527304"/>
                  </a:lnTo>
                  <a:close/>
                </a:path>
                <a:path extrusionOk="0" h="3342640" w="1950720">
                  <a:moveTo>
                    <a:pt x="1415796" y="2724912"/>
                  </a:moveTo>
                  <a:lnTo>
                    <a:pt x="1341120" y="2724912"/>
                  </a:lnTo>
                  <a:lnTo>
                    <a:pt x="1341120" y="2788920"/>
                  </a:lnTo>
                  <a:lnTo>
                    <a:pt x="1415796" y="2788920"/>
                  </a:lnTo>
                  <a:lnTo>
                    <a:pt x="1415796" y="2724912"/>
                  </a:lnTo>
                  <a:close/>
                </a:path>
                <a:path extrusionOk="0" h="3342640" w="1950720">
                  <a:moveTo>
                    <a:pt x="1464564" y="2906268"/>
                  </a:moveTo>
                  <a:lnTo>
                    <a:pt x="1438656" y="2906268"/>
                  </a:lnTo>
                  <a:lnTo>
                    <a:pt x="1438656" y="2897124"/>
                  </a:lnTo>
                  <a:lnTo>
                    <a:pt x="1374648" y="2897124"/>
                  </a:lnTo>
                  <a:lnTo>
                    <a:pt x="1374648" y="2962656"/>
                  </a:lnTo>
                  <a:lnTo>
                    <a:pt x="1397508" y="2962656"/>
                  </a:lnTo>
                  <a:lnTo>
                    <a:pt x="1397508" y="2971800"/>
                  </a:lnTo>
                  <a:lnTo>
                    <a:pt x="1464564" y="2971800"/>
                  </a:lnTo>
                  <a:lnTo>
                    <a:pt x="1464564" y="2906268"/>
                  </a:lnTo>
                  <a:close/>
                </a:path>
                <a:path extrusionOk="0" h="3342640" w="1950720">
                  <a:moveTo>
                    <a:pt x="1513332" y="1407414"/>
                  </a:moveTo>
                  <a:lnTo>
                    <a:pt x="1472184" y="1357884"/>
                  </a:lnTo>
                  <a:lnTo>
                    <a:pt x="1431036" y="1407414"/>
                  </a:lnTo>
                  <a:lnTo>
                    <a:pt x="1472184" y="1458468"/>
                  </a:lnTo>
                  <a:lnTo>
                    <a:pt x="1513332" y="1407414"/>
                  </a:lnTo>
                  <a:close/>
                </a:path>
                <a:path extrusionOk="0" h="3342640" w="1950720">
                  <a:moveTo>
                    <a:pt x="1554480" y="2840736"/>
                  </a:moveTo>
                  <a:lnTo>
                    <a:pt x="1488948" y="2840736"/>
                  </a:lnTo>
                  <a:lnTo>
                    <a:pt x="1488948" y="2906268"/>
                  </a:lnTo>
                  <a:lnTo>
                    <a:pt x="1554480" y="2906268"/>
                  </a:lnTo>
                  <a:lnTo>
                    <a:pt x="1554480" y="2840736"/>
                  </a:lnTo>
                  <a:close/>
                </a:path>
                <a:path extrusionOk="0" h="3342640" w="1950720">
                  <a:moveTo>
                    <a:pt x="1563624" y="1218438"/>
                  </a:moveTo>
                  <a:lnTo>
                    <a:pt x="1521714" y="1168908"/>
                  </a:lnTo>
                  <a:lnTo>
                    <a:pt x="1479804" y="1218438"/>
                  </a:lnTo>
                  <a:lnTo>
                    <a:pt x="1521714" y="1267968"/>
                  </a:lnTo>
                  <a:lnTo>
                    <a:pt x="1563624" y="1218438"/>
                  </a:lnTo>
                  <a:close/>
                </a:path>
                <a:path extrusionOk="0" h="3342640" w="1950720">
                  <a:moveTo>
                    <a:pt x="1578864" y="3185160"/>
                  </a:moveTo>
                  <a:lnTo>
                    <a:pt x="1571244" y="3185160"/>
                  </a:lnTo>
                  <a:lnTo>
                    <a:pt x="1513332" y="3185160"/>
                  </a:lnTo>
                  <a:lnTo>
                    <a:pt x="1505712" y="3185160"/>
                  </a:lnTo>
                  <a:lnTo>
                    <a:pt x="1505712" y="3252216"/>
                  </a:lnTo>
                  <a:lnTo>
                    <a:pt x="1513332" y="3252216"/>
                  </a:lnTo>
                  <a:lnTo>
                    <a:pt x="1571244" y="3252216"/>
                  </a:lnTo>
                  <a:lnTo>
                    <a:pt x="1578864" y="3252216"/>
                  </a:lnTo>
                  <a:lnTo>
                    <a:pt x="1578864" y="3185160"/>
                  </a:lnTo>
                  <a:close/>
                </a:path>
                <a:path extrusionOk="0" h="3342640" w="1950720">
                  <a:moveTo>
                    <a:pt x="1661160" y="3063252"/>
                  </a:moveTo>
                  <a:lnTo>
                    <a:pt x="1588008" y="3063252"/>
                  </a:lnTo>
                  <a:lnTo>
                    <a:pt x="1588008" y="3136392"/>
                  </a:lnTo>
                  <a:lnTo>
                    <a:pt x="1661160" y="3136392"/>
                  </a:lnTo>
                  <a:lnTo>
                    <a:pt x="1661160" y="3063252"/>
                  </a:lnTo>
                  <a:close/>
                </a:path>
                <a:path extrusionOk="0" h="3342640" w="1950720">
                  <a:moveTo>
                    <a:pt x="1694688" y="2921508"/>
                  </a:moveTo>
                  <a:lnTo>
                    <a:pt x="1653540" y="2921508"/>
                  </a:lnTo>
                  <a:lnTo>
                    <a:pt x="1653540" y="2863596"/>
                  </a:lnTo>
                  <a:lnTo>
                    <a:pt x="1578864" y="2863596"/>
                  </a:lnTo>
                  <a:lnTo>
                    <a:pt x="1578864" y="2921508"/>
                  </a:lnTo>
                  <a:lnTo>
                    <a:pt x="1563624" y="2921508"/>
                  </a:lnTo>
                  <a:lnTo>
                    <a:pt x="1513332" y="2921508"/>
                  </a:lnTo>
                  <a:lnTo>
                    <a:pt x="1513332" y="2979420"/>
                  </a:lnTo>
                  <a:lnTo>
                    <a:pt x="1456944" y="2979420"/>
                  </a:lnTo>
                  <a:lnTo>
                    <a:pt x="1456944" y="3044952"/>
                  </a:lnTo>
                  <a:lnTo>
                    <a:pt x="1520952" y="3044952"/>
                  </a:lnTo>
                  <a:lnTo>
                    <a:pt x="1520952" y="2988564"/>
                  </a:lnTo>
                  <a:lnTo>
                    <a:pt x="1563624" y="2988564"/>
                  </a:lnTo>
                  <a:lnTo>
                    <a:pt x="1578864" y="2988564"/>
                  </a:lnTo>
                  <a:lnTo>
                    <a:pt x="1588008" y="2988564"/>
                  </a:lnTo>
                  <a:lnTo>
                    <a:pt x="1588008" y="3011424"/>
                  </a:lnTo>
                  <a:lnTo>
                    <a:pt x="1661160" y="3011424"/>
                  </a:lnTo>
                  <a:lnTo>
                    <a:pt x="1661160" y="2988564"/>
                  </a:lnTo>
                  <a:lnTo>
                    <a:pt x="1694688" y="2988564"/>
                  </a:lnTo>
                  <a:lnTo>
                    <a:pt x="1694688" y="2921508"/>
                  </a:lnTo>
                  <a:close/>
                </a:path>
                <a:path extrusionOk="0" h="3342640" w="1950720">
                  <a:moveTo>
                    <a:pt x="1728216" y="3259836"/>
                  </a:moveTo>
                  <a:lnTo>
                    <a:pt x="1661160" y="3259836"/>
                  </a:lnTo>
                  <a:lnTo>
                    <a:pt x="1661160" y="3334512"/>
                  </a:lnTo>
                  <a:lnTo>
                    <a:pt x="1728216" y="3334512"/>
                  </a:lnTo>
                  <a:lnTo>
                    <a:pt x="1728216" y="3259836"/>
                  </a:lnTo>
                  <a:close/>
                </a:path>
                <a:path extrusionOk="0" h="3342640" w="1950720">
                  <a:moveTo>
                    <a:pt x="1793748" y="2988576"/>
                  </a:moveTo>
                  <a:lnTo>
                    <a:pt x="1728216" y="2988576"/>
                  </a:lnTo>
                  <a:lnTo>
                    <a:pt x="1728216" y="3052572"/>
                  </a:lnTo>
                  <a:lnTo>
                    <a:pt x="1793748" y="3052572"/>
                  </a:lnTo>
                  <a:lnTo>
                    <a:pt x="1793748" y="2988576"/>
                  </a:lnTo>
                  <a:close/>
                </a:path>
                <a:path extrusionOk="0" h="3342640" w="1950720">
                  <a:moveTo>
                    <a:pt x="1932432" y="2863596"/>
                  </a:moveTo>
                  <a:lnTo>
                    <a:pt x="1868424" y="2863596"/>
                  </a:lnTo>
                  <a:lnTo>
                    <a:pt x="1868424" y="2848356"/>
                  </a:lnTo>
                  <a:lnTo>
                    <a:pt x="1868424" y="2840736"/>
                  </a:lnTo>
                  <a:lnTo>
                    <a:pt x="1909572" y="2840736"/>
                  </a:lnTo>
                  <a:lnTo>
                    <a:pt x="1909572" y="2766060"/>
                  </a:lnTo>
                  <a:lnTo>
                    <a:pt x="1834896" y="2766060"/>
                  </a:lnTo>
                  <a:lnTo>
                    <a:pt x="1834896" y="2807220"/>
                  </a:lnTo>
                  <a:lnTo>
                    <a:pt x="1793748" y="2807220"/>
                  </a:lnTo>
                  <a:lnTo>
                    <a:pt x="1793748" y="2799588"/>
                  </a:lnTo>
                  <a:lnTo>
                    <a:pt x="1728216" y="2799588"/>
                  </a:lnTo>
                  <a:lnTo>
                    <a:pt x="1728216" y="2740152"/>
                  </a:lnTo>
                  <a:lnTo>
                    <a:pt x="1661160" y="2740152"/>
                  </a:lnTo>
                  <a:lnTo>
                    <a:pt x="1661160" y="2773680"/>
                  </a:lnTo>
                  <a:lnTo>
                    <a:pt x="1645907" y="2773680"/>
                  </a:lnTo>
                  <a:lnTo>
                    <a:pt x="1645907" y="2766060"/>
                  </a:lnTo>
                  <a:lnTo>
                    <a:pt x="1571244" y="2766060"/>
                  </a:lnTo>
                  <a:lnTo>
                    <a:pt x="1571244" y="2840736"/>
                  </a:lnTo>
                  <a:lnTo>
                    <a:pt x="1620012" y="2840736"/>
                  </a:lnTo>
                  <a:lnTo>
                    <a:pt x="1620012" y="2848356"/>
                  </a:lnTo>
                  <a:lnTo>
                    <a:pt x="1687068" y="2848356"/>
                  </a:lnTo>
                  <a:lnTo>
                    <a:pt x="1687068" y="2807208"/>
                  </a:lnTo>
                  <a:lnTo>
                    <a:pt x="1728216" y="2807208"/>
                  </a:lnTo>
                  <a:lnTo>
                    <a:pt x="1728216" y="2872740"/>
                  </a:lnTo>
                  <a:lnTo>
                    <a:pt x="1784604" y="2872740"/>
                  </a:lnTo>
                  <a:lnTo>
                    <a:pt x="1784604" y="2921508"/>
                  </a:lnTo>
                  <a:lnTo>
                    <a:pt x="1850136" y="2921508"/>
                  </a:lnTo>
                  <a:lnTo>
                    <a:pt x="1850136" y="2913888"/>
                  </a:lnTo>
                  <a:lnTo>
                    <a:pt x="1868424" y="2913888"/>
                  </a:lnTo>
                  <a:lnTo>
                    <a:pt x="1868424" y="2930652"/>
                  </a:lnTo>
                  <a:lnTo>
                    <a:pt x="1932432" y="2930652"/>
                  </a:lnTo>
                  <a:lnTo>
                    <a:pt x="1932432" y="2863596"/>
                  </a:lnTo>
                  <a:close/>
                </a:path>
                <a:path extrusionOk="0" h="3342640" w="1950720">
                  <a:moveTo>
                    <a:pt x="1950707" y="3267456"/>
                  </a:moveTo>
                  <a:lnTo>
                    <a:pt x="1883664" y="3267456"/>
                  </a:lnTo>
                  <a:lnTo>
                    <a:pt x="1883664" y="3342132"/>
                  </a:lnTo>
                  <a:lnTo>
                    <a:pt x="1950707" y="3342132"/>
                  </a:lnTo>
                  <a:lnTo>
                    <a:pt x="1950707" y="32674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" name="Google Shape;213;g2f5594a4f43_0_408"/>
          <p:cNvSpPr txBox="1"/>
          <p:nvPr/>
        </p:nvSpPr>
        <p:spPr>
          <a:xfrm>
            <a:off x="4646282" y="5513906"/>
            <a:ext cx="31977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49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Consumo de cerveja (R$)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2f5594a4f43_0_408"/>
          <p:cNvSpPr txBox="1"/>
          <p:nvPr/>
        </p:nvSpPr>
        <p:spPr>
          <a:xfrm rot="-5400000">
            <a:off x="1111064" y="3459028"/>
            <a:ext cx="37146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Consumo de comida de boteco (R$)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2f5594a4f43_0_408"/>
          <p:cNvSpPr txBox="1"/>
          <p:nvPr/>
        </p:nvSpPr>
        <p:spPr>
          <a:xfrm>
            <a:off x="138301" y="116985"/>
            <a:ext cx="6380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Agrupamento (clustering)</a:t>
            </a:r>
            <a:endParaRPr b="1" i="0" sz="2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6" name="Google Shape;216;g2f5594a4f43_0_408"/>
          <p:cNvPicPr preferRelativeResize="0"/>
          <p:nvPr/>
        </p:nvPicPr>
        <p:blipFill rotWithShape="1">
          <a:blip r:embed="rId7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5594a4f43_0_424"/>
          <p:cNvSpPr txBox="1"/>
          <p:nvPr/>
        </p:nvSpPr>
        <p:spPr>
          <a:xfrm>
            <a:off x="906910" y="729202"/>
            <a:ext cx="43965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Rodando K-means (K=3):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g2f5594a4f43_0_424"/>
          <p:cNvSpPr txBox="1"/>
          <p:nvPr>
            <p:ph idx="1" type="body"/>
          </p:nvPr>
        </p:nvSpPr>
        <p:spPr>
          <a:xfrm>
            <a:off x="2647215" y="1645530"/>
            <a:ext cx="4977300" cy="47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60400" rtl="0" algn="ctr">
              <a:lnSpc>
                <a:spcPct val="11352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Iteration 1</a:t>
            </a:r>
            <a:endParaRPr/>
          </a:p>
          <a:p>
            <a:pPr indent="0" lvl="0" marL="0" marR="4559300" rtl="0" algn="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None/>
            </a:pPr>
            <a:r>
              <a:rPr lang="pt-BR" sz="1100"/>
              <a:t>3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  <a:p>
            <a:pPr indent="0" lvl="0" marL="0" marR="45466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/>
              <a:t>2.5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/>
              <a:t>2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  <a:p>
            <a:pPr indent="0" lvl="0" marL="24130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/>
              <a:t>1.5</a:t>
            </a:r>
            <a:endParaRPr sz="1100"/>
          </a:p>
          <a:p>
            <a:pPr indent="0" lvl="0" marL="0" rtl="0" algn="l">
              <a:lnSpc>
                <a:spcPct val="11703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700"/>
              <a:t>y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700"/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/>
              <a:t>1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  <a:p>
            <a:pPr indent="0" lvl="0" marL="0" marR="45466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/>
              <a:t>0.5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/>
              <a:t>0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/>
          </a:p>
          <a:p>
            <a:pPr indent="0" lvl="0" marL="673100" rtl="0" algn="ctr">
              <a:lnSpc>
                <a:spcPct val="11619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/>
              <a:t>-2	-1.5	-1	-0.5	0	0.5	1	1.5	2</a:t>
            </a:r>
            <a:endParaRPr sz="1100"/>
          </a:p>
          <a:p>
            <a:pPr indent="0" lvl="0" marL="584200" rtl="0" algn="ctr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700"/>
              <a:t>x</a:t>
            </a:r>
            <a:endParaRPr sz="1700"/>
          </a:p>
        </p:txBody>
      </p:sp>
      <p:sp>
        <p:nvSpPr>
          <p:cNvPr id="223" name="Google Shape;223;g2f5594a4f43_0_424"/>
          <p:cNvSpPr txBox="1"/>
          <p:nvPr/>
        </p:nvSpPr>
        <p:spPr>
          <a:xfrm>
            <a:off x="2647215" y="1645530"/>
            <a:ext cx="4977300" cy="47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60400" marR="0" rtl="0" algn="ctr">
              <a:lnSpc>
                <a:spcPct val="110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Iteration 2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466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4130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7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466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73100" marR="0" rtl="0" algn="ctr">
              <a:lnSpc>
                <a:spcPct val="11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	-1.5	-1	-0.5	0	0.5	1	1.5	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84200" marR="0" rtl="0" algn="ctr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2f5594a4f43_0_424"/>
          <p:cNvSpPr txBox="1"/>
          <p:nvPr/>
        </p:nvSpPr>
        <p:spPr>
          <a:xfrm>
            <a:off x="2647215" y="1645530"/>
            <a:ext cx="4977300" cy="47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60400" marR="0" rtl="0" algn="ctr">
              <a:lnSpc>
                <a:spcPct val="110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Iteration 3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466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4130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7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466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73100" marR="0" rtl="0" algn="ctr">
              <a:lnSpc>
                <a:spcPct val="11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	-1.5	-1	-0.5	0	0.5	1	1.5	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84200" marR="0" rtl="0" algn="ctr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2f5594a4f43_0_424"/>
          <p:cNvSpPr txBox="1"/>
          <p:nvPr/>
        </p:nvSpPr>
        <p:spPr>
          <a:xfrm>
            <a:off x="2647215" y="1645530"/>
            <a:ext cx="4977300" cy="47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60400" marR="0" rtl="0" algn="ctr">
              <a:lnSpc>
                <a:spcPct val="110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Iteration 4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466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4130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7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466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73100" marR="0" rtl="0" algn="ctr">
              <a:lnSpc>
                <a:spcPct val="11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	-1.5	-1	-0.5	0	0.5	1	1.5	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84200" marR="0" rtl="0" algn="ctr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2f5594a4f43_0_424"/>
          <p:cNvSpPr txBox="1"/>
          <p:nvPr/>
        </p:nvSpPr>
        <p:spPr>
          <a:xfrm>
            <a:off x="2647215" y="1645530"/>
            <a:ext cx="4977300" cy="47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60400" marR="0" rtl="0" algn="ctr">
              <a:lnSpc>
                <a:spcPct val="110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Iteration 5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466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4130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7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466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559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73100" marR="0" rtl="0" algn="ctr">
              <a:lnSpc>
                <a:spcPct val="11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	-1.5	-1	-0.5	0	0.5	1	1.5	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84200" marR="0" rtl="0" algn="ctr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g2f5594a4f43_0_424"/>
          <p:cNvGrpSpPr/>
          <p:nvPr/>
        </p:nvGrpSpPr>
        <p:grpSpPr>
          <a:xfrm>
            <a:off x="2360806" y="1650830"/>
            <a:ext cx="5969182" cy="4571181"/>
            <a:chOff x="2186944" y="1498167"/>
            <a:chExt cx="5529580" cy="4148454"/>
          </a:xfrm>
        </p:grpSpPr>
        <p:sp>
          <p:nvSpPr>
            <p:cNvPr id="228" name="Google Shape;228;g2f5594a4f43_0_424"/>
            <p:cNvSpPr/>
            <p:nvPr/>
          </p:nvSpPr>
          <p:spPr>
            <a:xfrm>
              <a:off x="2186944" y="1498167"/>
              <a:ext cx="5529580" cy="4148454"/>
            </a:xfrm>
            <a:custGeom>
              <a:rect b="b" l="l" r="r" t="t"/>
              <a:pathLst>
                <a:path extrusionOk="0" h="4148454" w="5529580">
                  <a:moveTo>
                    <a:pt x="5529067" y="0"/>
                  </a:moveTo>
                  <a:lnTo>
                    <a:pt x="0" y="0"/>
                  </a:lnTo>
                  <a:lnTo>
                    <a:pt x="0" y="4148252"/>
                  </a:lnTo>
                  <a:lnTo>
                    <a:pt x="5529067" y="4148252"/>
                  </a:lnTo>
                  <a:lnTo>
                    <a:pt x="55290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2f5594a4f43_0_424"/>
            <p:cNvSpPr/>
            <p:nvPr/>
          </p:nvSpPr>
          <p:spPr>
            <a:xfrm>
              <a:off x="2902020" y="1813099"/>
              <a:ext cx="4272915" cy="3362960"/>
            </a:xfrm>
            <a:custGeom>
              <a:rect b="b" l="l" r="r" t="t"/>
              <a:pathLst>
                <a:path extrusionOk="0" h="3362960" w="4272915">
                  <a:moveTo>
                    <a:pt x="0" y="3362875"/>
                  </a:moveTo>
                  <a:lnTo>
                    <a:pt x="0" y="0"/>
                  </a:lnTo>
                  <a:lnTo>
                    <a:pt x="4272500" y="0"/>
                  </a:lnTo>
                  <a:lnTo>
                    <a:pt x="4272500" y="3362875"/>
                  </a:lnTo>
                  <a:lnTo>
                    <a:pt x="0" y="3362875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2f5594a4f43_0_424"/>
            <p:cNvSpPr/>
            <p:nvPr/>
          </p:nvSpPr>
          <p:spPr>
            <a:xfrm>
              <a:off x="2902020" y="5175974"/>
              <a:ext cx="4272915" cy="0"/>
            </a:xfrm>
            <a:custGeom>
              <a:rect b="b" l="l" r="r" t="t"/>
              <a:pathLst>
                <a:path extrusionOk="0" h="120000" w="4272915">
                  <a:moveTo>
                    <a:pt x="0" y="0"/>
                  </a:moveTo>
                  <a:lnTo>
                    <a:pt x="427250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2f5594a4f43_0_424"/>
            <p:cNvSpPr/>
            <p:nvPr/>
          </p:nvSpPr>
          <p:spPr>
            <a:xfrm>
              <a:off x="7178578" y="5180082"/>
              <a:ext cx="8890" cy="0"/>
            </a:xfrm>
            <a:custGeom>
              <a:rect b="b" l="l" r="r" t="t"/>
              <a:pathLst>
                <a:path extrusionOk="0" h="120000" w="8890">
                  <a:moveTo>
                    <a:pt x="0" y="0"/>
                  </a:moveTo>
                  <a:lnTo>
                    <a:pt x="8495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2f5594a4f43_0_424"/>
            <p:cNvSpPr/>
            <p:nvPr/>
          </p:nvSpPr>
          <p:spPr>
            <a:xfrm>
              <a:off x="2902020" y="1813099"/>
              <a:ext cx="0" cy="3362960"/>
            </a:xfrm>
            <a:custGeom>
              <a:rect b="b" l="l" r="r" t="t"/>
              <a:pathLst>
                <a:path extrusionOk="0" h="3362960" w="120000">
                  <a:moveTo>
                    <a:pt x="0" y="336287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2f5594a4f43_0_424"/>
            <p:cNvSpPr/>
            <p:nvPr/>
          </p:nvSpPr>
          <p:spPr>
            <a:xfrm>
              <a:off x="2906128" y="1817156"/>
              <a:ext cx="8255" cy="0"/>
            </a:xfrm>
            <a:custGeom>
              <a:rect b="b" l="l" r="r" t="t"/>
              <a:pathLst>
                <a:path extrusionOk="0" h="120000" w="8255">
                  <a:moveTo>
                    <a:pt x="0" y="0"/>
                  </a:moveTo>
                  <a:lnTo>
                    <a:pt x="8216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2f5594a4f43_0_424"/>
            <p:cNvSpPr/>
            <p:nvPr/>
          </p:nvSpPr>
          <p:spPr>
            <a:xfrm>
              <a:off x="3148799" y="5133641"/>
              <a:ext cx="0" cy="42545"/>
            </a:xfrm>
            <a:custGeom>
              <a:rect b="b" l="l" r="r" t="t"/>
              <a:pathLst>
                <a:path extrusionOk="0" h="42545" w="120000">
                  <a:moveTo>
                    <a:pt x="0" y="4233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2f5594a4f43_0_424"/>
            <p:cNvSpPr/>
            <p:nvPr/>
          </p:nvSpPr>
          <p:spPr>
            <a:xfrm>
              <a:off x="3152908" y="5137749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533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6" name="Google Shape;236;g2f5594a4f43_0_424"/>
          <p:cNvSpPr txBox="1"/>
          <p:nvPr/>
        </p:nvSpPr>
        <p:spPr>
          <a:xfrm>
            <a:off x="3302498" y="5726756"/>
            <a:ext cx="1713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7" name="Google Shape;237;g2f5594a4f43_0_424"/>
          <p:cNvGrpSpPr/>
          <p:nvPr/>
        </p:nvGrpSpPr>
        <p:grpSpPr>
          <a:xfrm>
            <a:off x="3922755" y="5656759"/>
            <a:ext cx="13975" cy="46880"/>
            <a:chOff x="3633863" y="5133641"/>
            <a:chExt cx="12946" cy="42545"/>
          </a:xfrm>
        </p:grpSpPr>
        <p:sp>
          <p:nvSpPr>
            <p:cNvPr id="238" name="Google Shape;238;g2f5594a4f43_0_424"/>
            <p:cNvSpPr/>
            <p:nvPr/>
          </p:nvSpPr>
          <p:spPr>
            <a:xfrm>
              <a:off x="3633863" y="5133641"/>
              <a:ext cx="0" cy="42545"/>
            </a:xfrm>
            <a:custGeom>
              <a:rect b="b" l="l" r="r" t="t"/>
              <a:pathLst>
                <a:path extrusionOk="0" h="42545" w="120000">
                  <a:moveTo>
                    <a:pt x="0" y="4233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2f5594a4f43_0_424"/>
            <p:cNvSpPr/>
            <p:nvPr/>
          </p:nvSpPr>
          <p:spPr>
            <a:xfrm>
              <a:off x="3637920" y="5137748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62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g2f5594a4f43_0_424"/>
          <p:cNvSpPr txBox="1"/>
          <p:nvPr/>
        </p:nvSpPr>
        <p:spPr>
          <a:xfrm>
            <a:off x="3771161" y="5726756"/>
            <a:ext cx="283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1" name="Google Shape;241;g2f5594a4f43_0_424"/>
          <p:cNvGrpSpPr/>
          <p:nvPr/>
        </p:nvGrpSpPr>
        <p:grpSpPr>
          <a:xfrm>
            <a:off x="4446327" y="5656759"/>
            <a:ext cx="528787" cy="46880"/>
            <a:chOff x="4118876" y="5133641"/>
            <a:chExt cx="489844" cy="42545"/>
          </a:xfrm>
        </p:grpSpPr>
        <p:sp>
          <p:nvSpPr>
            <p:cNvPr id="242" name="Google Shape;242;g2f5594a4f43_0_424"/>
            <p:cNvSpPr/>
            <p:nvPr/>
          </p:nvSpPr>
          <p:spPr>
            <a:xfrm>
              <a:off x="4118876" y="5133641"/>
              <a:ext cx="0" cy="42545"/>
            </a:xfrm>
            <a:custGeom>
              <a:rect b="b" l="l" r="r" t="t"/>
              <a:pathLst>
                <a:path extrusionOk="0" h="42545" w="120000">
                  <a:moveTo>
                    <a:pt x="0" y="4233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2f5594a4f43_0_424"/>
            <p:cNvSpPr/>
            <p:nvPr/>
          </p:nvSpPr>
          <p:spPr>
            <a:xfrm>
              <a:off x="4122933" y="5137748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62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2f5594a4f43_0_424"/>
            <p:cNvSpPr/>
            <p:nvPr/>
          </p:nvSpPr>
          <p:spPr>
            <a:xfrm>
              <a:off x="4595647" y="5133641"/>
              <a:ext cx="0" cy="42545"/>
            </a:xfrm>
            <a:custGeom>
              <a:rect b="b" l="l" r="r" t="t"/>
              <a:pathLst>
                <a:path extrusionOk="0" h="42545" w="120000">
                  <a:moveTo>
                    <a:pt x="0" y="4233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2f5594a4f43_0_424"/>
            <p:cNvSpPr/>
            <p:nvPr/>
          </p:nvSpPr>
          <p:spPr>
            <a:xfrm>
              <a:off x="4599831" y="5137748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495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g2f5594a4f43_0_424"/>
          <p:cNvSpPr txBox="1"/>
          <p:nvPr/>
        </p:nvSpPr>
        <p:spPr>
          <a:xfrm>
            <a:off x="4350026" y="5726756"/>
            <a:ext cx="742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	-0.5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7" name="Google Shape;247;g2f5594a4f43_0_424"/>
          <p:cNvGrpSpPr/>
          <p:nvPr/>
        </p:nvGrpSpPr>
        <p:grpSpPr>
          <a:xfrm>
            <a:off x="5484710" y="5656759"/>
            <a:ext cx="537547" cy="46880"/>
            <a:chOff x="5080787" y="5133641"/>
            <a:chExt cx="497959" cy="42545"/>
          </a:xfrm>
        </p:grpSpPr>
        <p:sp>
          <p:nvSpPr>
            <p:cNvPr id="248" name="Google Shape;248;g2f5594a4f43_0_424"/>
            <p:cNvSpPr/>
            <p:nvPr/>
          </p:nvSpPr>
          <p:spPr>
            <a:xfrm>
              <a:off x="5080787" y="5133641"/>
              <a:ext cx="0" cy="42545"/>
            </a:xfrm>
            <a:custGeom>
              <a:rect b="b" l="l" r="r" t="t"/>
              <a:pathLst>
                <a:path extrusionOk="0" h="42545" w="120000">
                  <a:moveTo>
                    <a:pt x="0" y="4233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2f5594a4f43_0_424"/>
            <p:cNvSpPr/>
            <p:nvPr/>
          </p:nvSpPr>
          <p:spPr>
            <a:xfrm>
              <a:off x="5084844" y="5137748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495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2f5594a4f43_0_424"/>
            <p:cNvSpPr/>
            <p:nvPr/>
          </p:nvSpPr>
          <p:spPr>
            <a:xfrm>
              <a:off x="5565799" y="5133641"/>
              <a:ext cx="0" cy="42545"/>
            </a:xfrm>
            <a:custGeom>
              <a:rect b="b" l="l" r="r" t="t"/>
              <a:pathLst>
                <a:path extrusionOk="0" h="42545" w="120000">
                  <a:moveTo>
                    <a:pt x="0" y="4233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g2f5594a4f43_0_424"/>
            <p:cNvSpPr/>
            <p:nvPr/>
          </p:nvSpPr>
          <p:spPr>
            <a:xfrm>
              <a:off x="5569857" y="5137748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62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2" name="Google Shape;252;g2f5594a4f43_0_424"/>
          <p:cNvSpPr txBox="1"/>
          <p:nvPr/>
        </p:nvSpPr>
        <p:spPr>
          <a:xfrm>
            <a:off x="5893482" y="5726756"/>
            <a:ext cx="2376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" name="Google Shape;253;g2f5594a4f43_0_424"/>
          <p:cNvGrpSpPr/>
          <p:nvPr/>
        </p:nvGrpSpPr>
        <p:grpSpPr>
          <a:xfrm>
            <a:off x="6531852" y="5656759"/>
            <a:ext cx="14113" cy="46880"/>
            <a:chOff x="6050812" y="5133641"/>
            <a:chExt cx="13074" cy="42545"/>
          </a:xfrm>
        </p:grpSpPr>
        <p:sp>
          <p:nvSpPr>
            <p:cNvPr id="254" name="Google Shape;254;g2f5594a4f43_0_424"/>
            <p:cNvSpPr/>
            <p:nvPr/>
          </p:nvSpPr>
          <p:spPr>
            <a:xfrm>
              <a:off x="6050812" y="5133641"/>
              <a:ext cx="0" cy="42545"/>
            </a:xfrm>
            <a:custGeom>
              <a:rect b="b" l="l" r="r" t="t"/>
              <a:pathLst>
                <a:path extrusionOk="0" h="42545" w="120000">
                  <a:moveTo>
                    <a:pt x="0" y="4233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2f5594a4f43_0_424"/>
            <p:cNvSpPr/>
            <p:nvPr/>
          </p:nvSpPr>
          <p:spPr>
            <a:xfrm>
              <a:off x="6054997" y="5137748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495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g2f5594a4f43_0_424"/>
          <p:cNvSpPr txBox="1"/>
          <p:nvPr/>
        </p:nvSpPr>
        <p:spPr>
          <a:xfrm>
            <a:off x="6481517" y="5726756"/>
            <a:ext cx="109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g2f5594a4f43_0_424"/>
          <p:cNvGrpSpPr/>
          <p:nvPr/>
        </p:nvGrpSpPr>
        <p:grpSpPr>
          <a:xfrm>
            <a:off x="7055833" y="5656759"/>
            <a:ext cx="13977" cy="46880"/>
            <a:chOff x="6536205" y="5133641"/>
            <a:chExt cx="12948" cy="42545"/>
          </a:xfrm>
        </p:grpSpPr>
        <p:sp>
          <p:nvSpPr>
            <p:cNvPr id="258" name="Google Shape;258;g2f5594a4f43_0_424"/>
            <p:cNvSpPr/>
            <p:nvPr/>
          </p:nvSpPr>
          <p:spPr>
            <a:xfrm>
              <a:off x="6536205" y="5133641"/>
              <a:ext cx="0" cy="42545"/>
            </a:xfrm>
            <a:custGeom>
              <a:rect b="b" l="l" r="r" t="t"/>
              <a:pathLst>
                <a:path extrusionOk="0" h="42545" w="120000">
                  <a:moveTo>
                    <a:pt x="0" y="4233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g2f5594a4f43_0_424"/>
            <p:cNvSpPr/>
            <p:nvPr/>
          </p:nvSpPr>
          <p:spPr>
            <a:xfrm>
              <a:off x="6540263" y="5137749"/>
              <a:ext cx="8890" cy="0"/>
            </a:xfrm>
            <a:custGeom>
              <a:rect b="b" l="l" r="r" t="t"/>
              <a:pathLst>
                <a:path extrusionOk="0" h="120000" w="8890">
                  <a:moveTo>
                    <a:pt x="0" y="0"/>
                  </a:moveTo>
                  <a:lnTo>
                    <a:pt x="862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g2f5594a4f43_0_424"/>
          <p:cNvSpPr txBox="1"/>
          <p:nvPr/>
        </p:nvSpPr>
        <p:spPr>
          <a:xfrm>
            <a:off x="6940750" y="5726756"/>
            <a:ext cx="2376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" name="Google Shape;261;g2f5594a4f43_0_424"/>
          <p:cNvGrpSpPr/>
          <p:nvPr/>
        </p:nvGrpSpPr>
        <p:grpSpPr>
          <a:xfrm>
            <a:off x="7579405" y="5656759"/>
            <a:ext cx="13977" cy="46880"/>
            <a:chOff x="7021218" y="5133641"/>
            <a:chExt cx="12948" cy="42545"/>
          </a:xfrm>
        </p:grpSpPr>
        <p:sp>
          <p:nvSpPr>
            <p:cNvPr id="262" name="Google Shape;262;g2f5594a4f43_0_424"/>
            <p:cNvSpPr/>
            <p:nvPr/>
          </p:nvSpPr>
          <p:spPr>
            <a:xfrm>
              <a:off x="7021218" y="5133641"/>
              <a:ext cx="0" cy="42545"/>
            </a:xfrm>
            <a:custGeom>
              <a:rect b="b" l="l" r="r" t="t"/>
              <a:pathLst>
                <a:path extrusionOk="0" h="42545" w="120000">
                  <a:moveTo>
                    <a:pt x="0" y="4233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g2f5594a4f43_0_424"/>
            <p:cNvSpPr/>
            <p:nvPr/>
          </p:nvSpPr>
          <p:spPr>
            <a:xfrm>
              <a:off x="7025276" y="5137749"/>
              <a:ext cx="8890" cy="0"/>
            </a:xfrm>
            <a:custGeom>
              <a:rect b="b" l="l" r="r" t="t"/>
              <a:pathLst>
                <a:path extrusionOk="0" h="120000" w="8890">
                  <a:moveTo>
                    <a:pt x="0" y="0"/>
                  </a:moveTo>
                  <a:lnTo>
                    <a:pt x="862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g2f5594a4f43_0_424"/>
          <p:cNvSpPr txBox="1"/>
          <p:nvPr/>
        </p:nvSpPr>
        <p:spPr>
          <a:xfrm>
            <a:off x="7528785" y="5726756"/>
            <a:ext cx="109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" name="Google Shape;265;g2f5594a4f43_0_424"/>
          <p:cNvGrpSpPr/>
          <p:nvPr/>
        </p:nvGrpSpPr>
        <p:grpSpPr>
          <a:xfrm>
            <a:off x="3132730" y="2016574"/>
            <a:ext cx="59736" cy="3203611"/>
            <a:chOff x="2902019" y="1830088"/>
            <a:chExt cx="55337" cy="2907352"/>
          </a:xfrm>
        </p:grpSpPr>
        <p:sp>
          <p:nvSpPr>
            <p:cNvPr id="266" name="Google Shape;266;g2f5594a4f43_0_424"/>
            <p:cNvSpPr/>
            <p:nvPr/>
          </p:nvSpPr>
          <p:spPr>
            <a:xfrm>
              <a:off x="2902020" y="4733332"/>
              <a:ext cx="42544" cy="0"/>
            </a:xfrm>
            <a:custGeom>
              <a:rect b="b" l="l" r="r" t="t"/>
              <a:pathLst>
                <a:path extrusionOk="0" h="120000" w="42544">
                  <a:moveTo>
                    <a:pt x="0" y="0"/>
                  </a:moveTo>
                  <a:lnTo>
                    <a:pt x="4233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g2f5594a4f43_0_424"/>
            <p:cNvSpPr/>
            <p:nvPr/>
          </p:nvSpPr>
          <p:spPr>
            <a:xfrm>
              <a:off x="2948467" y="4737440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533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g2f5594a4f43_0_424"/>
            <p:cNvSpPr/>
            <p:nvPr/>
          </p:nvSpPr>
          <p:spPr>
            <a:xfrm>
              <a:off x="2902020" y="4256611"/>
              <a:ext cx="42544" cy="0"/>
            </a:xfrm>
            <a:custGeom>
              <a:rect b="b" l="l" r="r" t="t"/>
              <a:pathLst>
                <a:path extrusionOk="0" h="120000" w="42544">
                  <a:moveTo>
                    <a:pt x="0" y="0"/>
                  </a:moveTo>
                  <a:lnTo>
                    <a:pt x="4233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2f5594a4f43_0_424"/>
            <p:cNvSpPr/>
            <p:nvPr/>
          </p:nvSpPr>
          <p:spPr>
            <a:xfrm>
              <a:off x="2948467" y="4260668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533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2f5594a4f43_0_424"/>
            <p:cNvSpPr/>
            <p:nvPr/>
          </p:nvSpPr>
          <p:spPr>
            <a:xfrm>
              <a:off x="2902020" y="3771281"/>
              <a:ext cx="42544" cy="0"/>
            </a:xfrm>
            <a:custGeom>
              <a:rect b="b" l="l" r="r" t="t"/>
              <a:pathLst>
                <a:path extrusionOk="0" h="120000" w="42544">
                  <a:moveTo>
                    <a:pt x="0" y="0"/>
                  </a:moveTo>
                  <a:lnTo>
                    <a:pt x="4233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g2f5594a4f43_0_424"/>
            <p:cNvSpPr/>
            <p:nvPr/>
          </p:nvSpPr>
          <p:spPr>
            <a:xfrm>
              <a:off x="2948467" y="3775338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533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g2f5594a4f43_0_424"/>
            <p:cNvSpPr/>
            <p:nvPr/>
          </p:nvSpPr>
          <p:spPr>
            <a:xfrm>
              <a:off x="2902020" y="3285951"/>
              <a:ext cx="42544" cy="0"/>
            </a:xfrm>
            <a:custGeom>
              <a:rect b="b" l="l" r="r" t="t"/>
              <a:pathLst>
                <a:path extrusionOk="0" h="120000" w="42544">
                  <a:moveTo>
                    <a:pt x="0" y="0"/>
                  </a:moveTo>
                  <a:lnTo>
                    <a:pt x="4233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g2f5594a4f43_0_424"/>
            <p:cNvSpPr/>
            <p:nvPr/>
          </p:nvSpPr>
          <p:spPr>
            <a:xfrm>
              <a:off x="2948467" y="3290135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533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g2f5594a4f43_0_424"/>
            <p:cNvSpPr/>
            <p:nvPr/>
          </p:nvSpPr>
          <p:spPr>
            <a:xfrm>
              <a:off x="2902020" y="2800748"/>
              <a:ext cx="42544" cy="0"/>
            </a:xfrm>
            <a:custGeom>
              <a:rect b="b" l="l" r="r" t="t"/>
              <a:pathLst>
                <a:path extrusionOk="0" h="120000" w="42544">
                  <a:moveTo>
                    <a:pt x="0" y="0"/>
                  </a:moveTo>
                  <a:lnTo>
                    <a:pt x="4233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g2f5594a4f43_0_424"/>
            <p:cNvSpPr/>
            <p:nvPr/>
          </p:nvSpPr>
          <p:spPr>
            <a:xfrm>
              <a:off x="2948467" y="2804805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533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g2f5594a4f43_0_424"/>
            <p:cNvSpPr/>
            <p:nvPr/>
          </p:nvSpPr>
          <p:spPr>
            <a:xfrm>
              <a:off x="2902020" y="2315418"/>
              <a:ext cx="42544" cy="0"/>
            </a:xfrm>
            <a:custGeom>
              <a:rect b="b" l="l" r="r" t="t"/>
              <a:pathLst>
                <a:path extrusionOk="0" h="120000" w="42544">
                  <a:moveTo>
                    <a:pt x="0" y="0"/>
                  </a:moveTo>
                  <a:lnTo>
                    <a:pt x="4233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2f5594a4f43_0_424"/>
            <p:cNvSpPr/>
            <p:nvPr/>
          </p:nvSpPr>
          <p:spPr>
            <a:xfrm>
              <a:off x="2948467" y="2319475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533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2f5594a4f43_0_424"/>
            <p:cNvSpPr/>
            <p:nvPr/>
          </p:nvSpPr>
          <p:spPr>
            <a:xfrm>
              <a:off x="2902019" y="1830088"/>
              <a:ext cx="42544" cy="0"/>
            </a:xfrm>
            <a:custGeom>
              <a:rect b="b" l="l" r="r" t="t"/>
              <a:pathLst>
                <a:path extrusionOk="0" h="120000" w="42544">
                  <a:moveTo>
                    <a:pt x="0" y="0"/>
                  </a:moveTo>
                  <a:lnTo>
                    <a:pt x="4233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2f5594a4f43_0_424"/>
            <p:cNvSpPr/>
            <p:nvPr/>
          </p:nvSpPr>
          <p:spPr>
            <a:xfrm>
              <a:off x="2948467" y="1834272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533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0" name="Google Shape;280;g2f5594a4f43_0_424"/>
          <p:cNvSpPr txBox="1"/>
          <p:nvPr/>
        </p:nvSpPr>
        <p:spPr>
          <a:xfrm>
            <a:off x="2870657" y="1908881"/>
            <a:ext cx="237600" cy="3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0" marR="127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27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27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27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" name="Google Shape;281;g2f5594a4f43_0_424"/>
          <p:cNvGrpSpPr/>
          <p:nvPr/>
        </p:nvGrpSpPr>
        <p:grpSpPr>
          <a:xfrm>
            <a:off x="4013508" y="1940436"/>
            <a:ext cx="2840344" cy="3810083"/>
            <a:chOff x="3717932" y="1760991"/>
            <a:chExt cx="2631166" cy="3457739"/>
          </a:xfrm>
        </p:grpSpPr>
        <p:sp>
          <p:nvSpPr>
            <p:cNvPr id="282" name="Google Shape;282;g2f5594a4f43_0_424"/>
            <p:cNvSpPr/>
            <p:nvPr/>
          </p:nvSpPr>
          <p:spPr>
            <a:xfrm>
              <a:off x="4076524" y="5133641"/>
              <a:ext cx="85089" cy="85089"/>
            </a:xfrm>
            <a:custGeom>
              <a:rect b="b" l="l" r="r" t="t"/>
              <a:pathLst>
                <a:path extrusionOk="0" h="85089" w="85089">
                  <a:moveTo>
                    <a:pt x="42351" y="0"/>
                  </a:moveTo>
                  <a:lnTo>
                    <a:pt x="24928" y="3061"/>
                  </a:lnTo>
                  <a:lnTo>
                    <a:pt x="11570" y="11691"/>
                  </a:lnTo>
                  <a:lnTo>
                    <a:pt x="3015" y="25058"/>
                  </a:lnTo>
                  <a:lnTo>
                    <a:pt x="0" y="42333"/>
                  </a:lnTo>
                  <a:lnTo>
                    <a:pt x="3015" y="59796"/>
                  </a:lnTo>
                  <a:lnTo>
                    <a:pt x="11570" y="73257"/>
                  </a:lnTo>
                  <a:lnTo>
                    <a:pt x="24928" y="81919"/>
                  </a:lnTo>
                  <a:lnTo>
                    <a:pt x="42351" y="84983"/>
                  </a:lnTo>
                  <a:lnTo>
                    <a:pt x="59814" y="81919"/>
                  </a:lnTo>
                  <a:lnTo>
                    <a:pt x="73259" y="73257"/>
                  </a:lnTo>
                  <a:lnTo>
                    <a:pt x="81901" y="59796"/>
                  </a:lnTo>
                  <a:lnTo>
                    <a:pt x="84956" y="42333"/>
                  </a:lnTo>
                  <a:lnTo>
                    <a:pt x="81901" y="25058"/>
                  </a:lnTo>
                  <a:lnTo>
                    <a:pt x="73259" y="11691"/>
                  </a:lnTo>
                  <a:lnTo>
                    <a:pt x="59814" y="3061"/>
                  </a:lnTo>
                  <a:lnTo>
                    <a:pt x="42351" y="0"/>
                  </a:lnTo>
                  <a:close/>
                </a:path>
              </a:pathLst>
            </a:custGeom>
            <a:solidFill>
              <a:srgbClr val="8FFF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2f5594a4f43_0_424"/>
            <p:cNvSpPr/>
            <p:nvPr/>
          </p:nvSpPr>
          <p:spPr>
            <a:xfrm>
              <a:off x="4076524" y="5133641"/>
              <a:ext cx="85089" cy="85089"/>
            </a:xfrm>
            <a:custGeom>
              <a:rect b="b" l="l" r="r" t="t"/>
              <a:pathLst>
                <a:path extrusionOk="0" h="85089" w="85089">
                  <a:moveTo>
                    <a:pt x="0" y="42333"/>
                  </a:moveTo>
                  <a:lnTo>
                    <a:pt x="3015" y="59796"/>
                  </a:lnTo>
                  <a:lnTo>
                    <a:pt x="11570" y="73257"/>
                  </a:lnTo>
                  <a:lnTo>
                    <a:pt x="24928" y="81919"/>
                  </a:lnTo>
                  <a:lnTo>
                    <a:pt x="42351" y="84983"/>
                  </a:lnTo>
                  <a:lnTo>
                    <a:pt x="59814" y="81919"/>
                  </a:lnTo>
                  <a:lnTo>
                    <a:pt x="73259" y="73257"/>
                  </a:lnTo>
                  <a:lnTo>
                    <a:pt x="81901" y="59796"/>
                  </a:lnTo>
                  <a:lnTo>
                    <a:pt x="84956" y="42333"/>
                  </a:lnTo>
                  <a:lnTo>
                    <a:pt x="81901" y="25058"/>
                  </a:lnTo>
                  <a:lnTo>
                    <a:pt x="73259" y="11691"/>
                  </a:lnTo>
                  <a:lnTo>
                    <a:pt x="59814" y="3061"/>
                  </a:lnTo>
                  <a:lnTo>
                    <a:pt x="42351" y="0"/>
                  </a:lnTo>
                  <a:lnTo>
                    <a:pt x="24928" y="3061"/>
                  </a:lnTo>
                  <a:lnTo>
                    <a:pt x="11570" y="11691"/>
                  </a:lnTo>
                  <a:lnTo>
                    <a:pt x="3015" y="25058"/>
                  </a:lnTo>
                  <a:lnTo>
                    <a:pt x="0" y="42333"/>
                  </a:lnTo>
                  <a:close/>
                </a:path>
              </a:pathLst>
            </a:custGeom>
            <a:noFill/>
            <a:ln cap="flat" cmpd="sng" w="9525">
              <a:solidFill>
                <a:srgbClr val="8FFF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4" name="Google Shape;284;g2f5594a4f43_0_4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52098" y="4306818"/>
              <a:ext cx="86858" cy="86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g2f5594a4f43_0_4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83935" y="4655994"/>
              <a:ext cx="87112" cy="86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g2f5594a4f43_0_4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17932" y="4366279"/>
              <a:ext cx="640090" cy="5979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g2f5594a4f43_0_4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64742" y="4093947"/>
              <a:ext cx="87112" cy="8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g2f5594a4f43_0_424"/>
            <p:cNvSpPr/>
            <p:nvPr/>
          </p:nvSpPr>
          <p:spPr>
            <a:xfrm>
              <a:off x="4970216" y="2025970"/>
              <a:ext cx="85089" cy="102235"/>
            </a:xfrm>
            <a:custGeom>
              <a:rect b="b" l="l" r="r" t="t"/>
              <a:pathLst>
                <a:path extrusionOk="0" h="102235" w="85089">
                  <a:moveTo>
                    <a:pt x="42224" y="0"/>
                  </a:moveTo>
                  <a:lnTo>
                    <a:pt x="0" y="50840"/>
                  </a:lnTo>
                  <a:lnTo>
                    <a:pt x="42224" y="102061"/>
                  </a:lnTo>
                  <a:lnTo>
                    <a:pt x="84956" y="50840"/>
                  </a:lnTo>
                  <a:lnTo>
                    <a:pt x="42224" y="0"/>
                  </a:lnTo>
                  <a:close/>
                </a:path>
              </a:pathLst>
            </a:custGeom>
            <a:solidFill>
              <a:srgbClr val="8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g2f5594a4f43_0_424"/>
            <p:cNvSpPr/>
            <p:nvPr/>
          </p:nvSpPr>
          <p:spPr>
            <a:xfrm>
              <a:off x="4970216" y="2025970"/>
              <a:ext cx="85089" cy="102235"/>
            </a:xfrm>
            <a:custGeom>
              <a:rect b="b" l="l" r="r" t="t"/>
              <a:pathLst>
                <a:path extrusionOk="0" h="102235" w="85089">
                  <a:moveTo>
                    <a:pt x="42224" y="102061"/>
                  </a:moveTo>
                  <a:lnTo>
                    <a:pt x="84956" y="50840"/>
                  </a:lnTo>
                  <a:lnTo>
                    <a:pt x="42224" y="0"/>
                  </a:lnTo>
                  <a:lnTo>
                    <a:pt x="0" y="50840"/>
                  </a:lnTo>
                  <a:lnTo>
                    <a:pt x="42224" y="102061"/>
                  </a:lnTo>
                  <a:close/>
                </a:path>
              </a:pathLst>
            </a:custGeom>
            <a:noFill/>
            <a:ln cap="flat" cmpd="sng" w="9525">
              <a:solidFill>
                <a:srgbClr val="8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0" name="Google Shape;290;g2f5594a4f43_0_4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83935" y="2638084"/>
              <a:ext cx="87112" cy="103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g2f5594a4f43_0_4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092374" y="2808355"/>
              <a:ext cx="87112" cy="103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g2f5594a4f43_0_42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198965" y="3498061"/>
              <a:ext cx="86858" cy="1038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g2f5594a4f43_0_424"/>
            <p:cNvSpPr/>
            <p:nvPr/>
          </p:nvSpPr>
          <p:spPr>
            <a:xfrm>
              <a:off x="5003945" y="2017475"/>
              <a:ext cx="85725" cy="102235"/>
            </a:xfrm>
            <a:custGeom>
              <a:rect b="b" l="l" r="r" t="t"/>
              <a:pathLst>
                <a:path extrusionOk="0" h="102235" w="85725">
                  <a:moveTo>
                    <a:pt x="42731" y="0"/>
                  </a:moveTo>
                  <a:lnTo>
                    <a:pt x="0" y="51220"/>
                  </a:lnTo>
                  <a:lnTo>
                    <a:pt x="42731" y="102061"/>
                  </a:lnTo>
                  <a:lnTo>
                    <a:pt x="85336" y="51220"/>
                  </a:lnTo>
                  <a:lnTo>
                    <a:pt x="42731" y="0"/>
                  </a:lnTo>
                  <a:close/>
                </a:path>
              </a:pathLst>
            </a:custGeom>
            <a:solidFill>
              <a:srgbClr val="8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2f5594a4f43_0_424"/>
            <p:cNvSpPr/>
            <p:nvPr/>
          </p:nvSpPr>
          <p:spPr>
            <a:xfrm>
              <a:off x="5003945" y="2017475"/>
              <a:ext cx="85725" cy="102235"/>
            </a:xfrm>
            <a:custGeom>
              <a:rect b="b" l="l" r="r" t="t"/>
              <a:pathLst>
                <a:path extrusionOk="0" h="102235" w="85725">
                  <a:moveTo>
                    <a:pt x="42731" y="102061"/>
                  </a:moveTo>
                  <a:lnTo>
                    <a:pt x="85336" y="51220"/>
                  </a:lnTo>
                  <a:lnTo>
                    <a:pt x="42731" y="0"/>
                  </a:lnTo>
                  <a:lnTo>
                    <a:pt x="0" y="51220"/>
                  </a:lnTo>
                  <a:lnTo>
                    <a:pt x="42731" y="102061"/>
                  </a:lnTo>
                  <a:close/>
                </a:path>
              </a:pathLst>
            </a:custGeom>
            <a:noFill/>
            <a:ln cap="flat" cmpd="sng" w="9525">
              <a:solidFill>
                <a:srgbClr val="8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5" name="Google Shape;295;g2f5594a4f43_0_42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364742" y="2569747"/>
              <a:ext cx="87112" cy="1042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g2f5594a4f43_0_42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390356" y="2075923"/>
              <a:ext cx="1618991" cy="15600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g2f5594a4f43_0_42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224578" y="1769485"/>
              <a:ext cx="86731" cy="1042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g2f5594a4f43_0_42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781917" y="1760991"/>
              <a:ext cx="87112" cy="104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g2f5594a4f43_0_4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360762" y="4068336"/>
              <a:ext cx="86731" cy="104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g2f5594a4f43_0_42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807531" y="3719173"/>
              <a:ext cx="86731" cy="104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" name="Google Shape;301;g2f5594a4f43_0_424"/>
            <p:cNvSpPr/>
            <p:nvPr/>
          </p:nvSpPr>
          <p:spPr>
            <a:xfrm>
              <a:off x="5744578" y="4486592"/>
              <a:ext cx="604520" cy="613410"/>
            </a:xfrm>
            <a:custGeom>
              <a:rect b="b" l="l" r="r" t="t"/>
              <a:pathLst>
                <a:path extrusionOk="0" h="613410" w="604520">
                  <a:moveTo>
                    <a:pt x="67945" y="0"/>
                  </a:moveTo>
                  <a:lnTo>
                    <a:pt x="0" y="0"/>
                  </a:lnTo>
                  <a:lnTo>
                    <a:pt x="0" y="67932"/>
                  </a:lnTo>
                  <a:lnTo>
                    <a:pt x="67945" y="67932"/>
                  </a:lnTo>
                  <a:lnTo>
                    <a:pt x="67945" y="0"/>
                  </a:lnTo>
                  <a:close/>
                </a:path>
                <a:path extrusionOk="0" h="613410" w="604520">
                  <a:moveTo>
                    <a:pt x="119227" y="178816"/>
                  </a:moveTo>
                  <a:lnTo>
                    <a:pt x="93560" y="178816"/>
                  </a:lnTo>
                  <a:lnTo>
                    <a:pt x="93560" y="170281"/>
                  </a:lnTo>
                  <a:lnTo>
                    <a:pt x="25615" y="170281"/>
                  </a:lnTo>
                  <a:lnTo>
                    <a:pt x="25615" y="238213"/>
                  </a:lnTo>
                  <a:lnTo>
                    <a:pt x="50977" y="238213"/>
                  </a:lnTo>
                  <a:lnTo>
                    <a:pt x="50977" y="246748"/>
                  </a:lnTo>
                  <a:lnTo>
                    <a:pt x="119227" y="246748"/>
                  </a:lnTo>
                  <a:lnTo>
                    <a:pt x="119227" y="178816"/>
                  </a:lnTo>
                  <a:close/>
                </a:path>
                <a:path extrusionOk="0" h="613410" w="604520">
                  <a:moveTo>
                    <a:pt x="212750" y="110578"/>
                  </a:moveTo>
                  <a:lnTo>
                    <a:pt x="144805" y="110578"/>
                  </a:lnTo>
                  <a:lnTo>
                    <a:pt x="144805" y="178828"/>
                  </a:lnTo>
                  <a:lnTo>
                    <a:pt x="212750" y="178828"/>
                  </a:lnTo>
                  <a:lnTo>
                    <a:pt x="212750" y="110578"/>
                  </a:lnTo>
                  <a:close/>
                </a:path>
                <a:path extrusionOk="0" h="613410" w="604520">
                  <a:moveTo>
                    <a:pt x="238302" y="459701"/>
                  </a:moveTo>
                  <a:lnTo>
                    <a:pt x="229743" y="459701"/>
                  </a:lnTo>
                  <a:lnTo>
                    <a:pt x="170040" y="459701"/>
                  </a:lnTo>
                  <a:lnTo>
                    <a:pt x="161798" y="459701"/>
                  </a:lnTo>
                  <a:lnTo>
                    <a:pt x="161798" y="527621"/>
                  </a:lnTo>
                  <a:lnTo>
                    <a:pt x="170040" y="527621"/>
                  </a:lnTo>
                  <a:lnTo>
                    <a:pt x="229743" y="527621"/>
                  </a:lnTo>
                  <a:lnTo>
                    <a:pt x="238302" y="527621"/>
                  </a:lnTo>
                  <a:lnTo>
                    <a:pt x="238302" y="459701"/>
                  </a:lnTo>
                  <a:close/>
                </a:path>
                <a:path extrusionOk="0" h="613410" w="604520">
                  <a:moveTo>
                    <a:pt x="314820" y="340588"/>
                  </a:moveTo>
                  <a:lnTo>
                    <a:pt x="246888" y="340588"/>
                  </a:lnTo>
                  <a:lnTo>
                    <a:pt x="246888" y="408508"/>
                  </a:lnTo>
                  <a:lnTo>
                    <a:pt x="314820" y="408508"/>
                  </a:lnTo>
                  <a:lnTo>
                    <a:pt x="314820" y="340588"/>
                  </a:lnTo>
                  <a:close/>
                </a:path>
                <a:path extrusionOk="0" h="613410" w="604520">
                  <a:moveTo>
                    <a:pt x="348932" y="195567"/>
                  </a:moveTo>
                  <a:lnTo>
                    <a:pt x="306197" y="195567"/>
                  </a:lnTo>
                  <a:lnTo>
                    <a:pt x="306197" y="136169"/>
                  </a:lnTo>
                  <a:lnTo>
                    <a:pt x="238264" y="136169"/>
                  </a:lnTo>
                  <a:lnTo>
                    <a:pt x="238264" y="195567"/>
                  </a:lnTo>
                  <a:lnTo>
                    <a:pt x="221272" y="195567"/>
                  </a:lnTo>
                  <a:lnTo>
                    <a:pt x="170040" y="195567"/>
                  </a:lnTo>
                  <a:lnTo>
                    <a:pt x="170040" y="255282"/>
                  </a:lnTo>
                  <a:lnTo>
                    <a:pt x="110705" y="255282"/>
                  </a:lnTo>
                  <a:lnTo>
                    <a:pt x="110705" y="323532"/>
                  </a:lnTo>
                  <a:lnTo>
                    <a:pt x="178638" y="323532"/>
                  </a:lnTo>
                  <a:lnTo>
                    <a:pt x="178638" y="263817"/>
                  </a:lnTo>
                  <a:lnTo>
                    <a:pt x="221272" y="263817"/>
                  </a:lnTo>
                  <a:lnTo>
                    <a:pt x="238302" y="263817"/>
                  </a:lnTo>
                  <a:lnTo>
                    <a:pt x="246888" y="263817"/>
                  </a:lnTo>
                  <a:lnTo>
                    <a:pt x="246888" y="289394"/>
                  </a:lnTo>
                  <a:lnTo>
                    <a:pt x="314820" y="289394"/>
                  </a:lnTo>
                  <a:lnTo>
                    <a:pt x="314820" y="263817"/>
                  </a:lnTo>
                  <a:lnTo>
                    <a:pt x="348932" y="263817"/>
                  </a:lnTo>
                  <a:lnTo>
                    <a:pt x="348932" y="195567"/>
                  </a:lnTo>
                  <a:close/>
                </a:path>
                <a:path extrusionOk="0" h="613410" w="604520">
                  <a:moveTo>
                    <a:pt x="382981" y="536155"/>
                  </a:moveTo>
                  <a:lnTo>
                    <a:pt x="314718" y="536155"/>
                  </a:lnTo>
                  <a:lnTo>
                    <a:pt x="314718" y="604405"/>
                  </a:lnTo>
                  <a:lnTo>
                    <a:pt x="382981" y="604405"/>
                  </a:lnTo>
                  <a:lnTo>
                    <a:pt x="382981" y="536155"/>
                  </a:lnTo>
                  <a:close/>
                </a:path>
                <a:path extrusionOk="0" h="613410" w="604520">
                  <a:moveTo>
                    <a:pt x="382981" y="17056"/>
                  </a:moveTo>
                  <a:lnTo>
                    <a:pt x="314718" y="17056"/>
                  </a:lnTo>
                  <a:lnTo>
                    <a:pt x="314718" y="50863"/>
                  </a:lnTo>
                  <a:lnTo>
                    <a:pt x="298018" y="50863"/>
                  </a:lnTo>
                  <a:lnTo>
                    <a:pt x="298018" y="42341"/>
                  </a:lnTo>
                  <a:lnTo>
                    <a:pt x="229768" y="42341"/>
                  </a:lnTo>
                  <a:lnTo>
                    <a:pt x="229768" y="110578"/>
                  </a:lnTo>
                  <a:lnTo>
                    <a:pt x="272376" y="110578"/>
                  </a:lnTo>
                  <a:lnTo>
                    <a:pt x="272376" y="119113"/>
                  </a:lnTo>
                  <a:lnTo>
                    <a:pt x="340309" y="119113"/>
                  </a:lnTo>
                  <a:lnTo>
                    <a:pt x="340309" y="84988"/>
                  </a:lnTo>
                  <a:lnTo>
                    <a:pt x="382981" y="84988"/>
                  </a:lnTo>
                  <a:lnTo>
                    <a:pt x="382981" y="17056"/>
                  </a:lnTo>
                  <a:close/>
                </a:path>
                <a:path extrusionOk="0" h="613410" w="604520">
                  <a:moveTo>
                    <a:pt x="451002" y="263817"/>
                  </a:moveTo>
                  <a:lnTo>
                    <a:pt x="383070" y="263817"/>
                  </a:lnTo>
                  <a:lnTo>
                    <a:pt x="383070" y="332054"/>
                  </a:lnTo>
                  <a:lnTo>
                    <a:pt x="451002" y="332054"/>
                  </a:lnTo>
                  <a:lnTo>
                    <a:pt x="451002" y="263817"/>
                  </a:lnTo>
                  <a:close/>
                </a:path>
                <a:path extrusionOk="0" h="613410" w="604520">
                  <a:moveTo>
                    <a:pt x="561581" y="42341"/>
                  </a:moveTo>
                  <a:lnTo>
                    <a:pt x="493636" y="42341"/>
                  </a:lnTo>
                  <a:lnTo>
                    <a:pt x="493636" y="84988"/>
                  </a:lnTo>
                  <a:lnTo>
                    <a:pt x="451002" y="84988"/>
                  </a:lnTo>
                  <a:lnTo>
                    <a:pt x="451002" y="76454"/>
                  </a:lnTo>
                  <a:lnTo>
                    <a:pt x="383070" y="76454"/>
                  </a:lnTo>
                  <a:lnTo>
                    <a:pt x="383070" y="144703"/>
                  </a:lnTo>
                  <a:lnTo>
                    <a:pt x="442417" y="144703"/>
                  </a:lnTo>
                  <a:lnTo>
                    <a:pt x="442417" y="195567"/>
                  </a:lnTo>
                  <a:lnTo>
                    <a:pt x="510667" y="195567"/>
                  </a:lnTo>
                  <a:lnTo>
                    <a:pt x="510667" y="187032"/>
                  </a:lnTo>
                  <a:lnTo>
                    <a:pt x="519163" y="187032"/>
                  </a:lnTo>
                  <a:lnTo>
                    <a:pt x="519163" y="153225"/>
                  </a:lnTo>
                  <a:lnTo>
                    <a:pt x="519163" y="119100"/>
                  </a:lnTo>
                  <a:lnTo>
                    <a:pt x="519163" y="110578"/>
                  </a:lnTo>
                  <a:lnTo>
                    <a:pt x="561581" y="110578"/>
                  </a:lnTo>
                  <a:lnTo>
                    <a:pt x="561581" y="42341"/>
                  </a:lnTo>
                  <a:close/>
                </a:path>
                <a:path extrusionOk="0" h="613410" w="604520">
                  <a:moveTo>
                    <a:pt x="587184" y="136169"/>
                  </a:moveTo>
                  <a:lnTo>
                    <a:pt x="519252" y="136169"/>
                  </a:lnTo>
                  <a:lnTo>
                    <a:pt x="519252" y="204101"/>
                  </a:lnTo>
                  <a:lnTo>
                    <a:pt x="587184" y="204101"/>
                  </a:lnTo>
                  <a:lnTo>
                    <a:pt x="587184" y="136169"/>
                  </a:lnTo>
                  <a:close/>
                </a:path>
                <a:path extrusionOk="0" h="613410" w="604520">
                  <a:moveTo>
                    <a:pt x="604177" y="544690"/>
                  </a:moveTo>
                  <a:lnTo>
                    <a:pt x="536244" y="544690"/>
                  </a:lnTo>
                  <a:lnTo>
                    <a:pt x="536244" y="612940"/>
                  </a:lnTo>
                  <a:lnTo>
                    <a:pt x="604177" y="612940"/>
                  </a:lnTo>
                  <a:lnTo>
                    <a:pt x="604177" y="544690"/>
                  </a:lnTo>
                  <a:close/>
                </a:path>
              </a:pathLst>
            </a:custGeom>
            <a:solidFill>
              <a:srgbClr val="00008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g2f5594a4f43_0_424"/>
            <p:cNvSpPr/>
            <p:nvPr/>
          </p:nvSpPr>
          <p:spPr>
            <a:xfrm>
              <a:off x="5838167" y="4656882"/>
              <a:ext cx="374650" cy="0"/>
            </a:xfrm>
            <a:custGeom>
              <a:rect b="b" l="l" r="r" t="t"/>
              <a:pathLst>
                <a:path extrusionOk="0" h="120000" w="374650">
                  <a:moveTo>
                    <a:pt x="0" y="0"/>
                  </a:moveTo>
                  <a:lnTo>
                    <a:pt x="37444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g2f5594a4f43_0_424"/>
            <p:cNvSpPr/>
            <p:nvPr/>
          </p:nvSpPr>
          <p:spPr>
            <a:xfrm>
              <a:off x="6216668" y="4660989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62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2f5594a4f43_0_424"/>
            <p:cNvSpPr/>
            <p:nvPr/>
          </p:nvSpPr>
          <p:spPr>
            <a:xfrm>
              <a:off x="6025579" y="4469520"/>
              <a:ext cx="0" cy="374650"/>
            </a:xfrm>
            <a:custGeom>
              <a:rect b="b" l="l" r="r" t="t"/>
              <a:pathLst>
                <a:path extrusionOk="0" h="374650" w="120000">
                  <a:moveTo>
                    <a:pt x="0" y="0"/>
                  </a:moveTo>
                  <a:lnTo>
                    <a:pt x="0" y="37439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2f5594a4f43_0_424"/>
            <p:cNvSpPr/>
            <p:nvPr/>
          </p:nvSpPr>
          <p:spPr>
            <a:xfrm>
              <a:off x="6029636" y="4848021"/>
              <a:ext cx="8889" cy="0"/>
            </a:xfrm>
            <a:custGeom>
              <a:rect b="b" l="l" r="r" t="t"/>
              <a:pathLst>
                <a:path extrusionOk="0" h="120000" w="8889">
                  <a:moveTo>
                    <a:pt x="0" y="0"/>
                  </a:moveTo>
                  <a:lnTo>
                    <a:pt x="8495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6" name="Google Shape;306;g2f5594a4f43_0_424"/>
          <p:cNvSpPr txBox="1"/>
          <p:nvPr/>
        </p:nvSpPr>
        <p:spPr>
          <a:xfrm>
            <a:off x="5360746" y="5726756"/>
            <a:ext cx="1830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50">
            <a:spAutoFit/>
          </a:bodyPr>
          <a:lstStyle/>
          <a:p>
            <a:pPr indent="0" lvl="0" marL="88900" marR="0" rtl="0" algn="l">
              <a:lnSpc>
                <a:spcPct val="11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2f5594a4f43_0_424"/>
          <p:cNvSpPr txBox="1"/>
          <p:nvPr/>
        </p:nvSpPr>
        <p:spPr>
          <a:xfrm rot="-5400000">
            <a:off x="2696055" y="3726818"/>
            <a:ext cx="136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4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2f5594a4f43_0_424"/>
          <p:cNvSpPr txBox="1"/>
          <p:nvPr/>
        </p:nvSpPr>
        <p:spPr>
          <a:xfrm>
            <a:off x="4910411" y="1608419"/>
            <a:ext cx="1106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Iteration 6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2f5594a4f43_0_424"/>
          <p:cNvSpPr txBox="1"/>
          <p:nvPr/>
        </p:nvSpPr>
        <p:spPr>
          <a:xfrm>
            <a:off x="920729" y="6898692"/>
            <a:ext cx="38475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Tan et al., Introduction to Data Mining, 2004.</a:t>
            </a:r>
            <a:endParaRPr b="0" i="0" sz="1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0" name="Google Shape;310;g2f5594a4f43_0_424"/>
          <p:cNvSpPr txBox="1"/>
          <p:nvPr/>
        </p:nvSpPr>
        <p:spPr>
          <a:xfrm>
            <a:off x="138301" y="116985"/>
            <a:ext cx="6380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Agrupamento (clustering)</a:t>
            </a:r>
            <a:endParaRPr b="1" i="0" sz="2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1" name="Google Shape;311;g2f5594a4f43_0_424"/>
          <p:cNvPicPr preferRelativeResize="0"/>
          <p:nvPr/>
        </p:nvPicPr>
        <p:blipFill rotWithShape="1">
          <a:blip r:embed="rId16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f5594a4f43_0_517"/>
          <p:cNvSpPr txBox="1"/>
          <p:nvPr/>
        </p:nvSpPr>
        <p:spPr>
          <a:xfrm>
            <a:off x="611452" y="1315650"/>
            <a:ext cx="9897300" cy="3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775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●"/>
            </a:pPr>
            <a:r>
              <a:rPr b="0" i="0" lang="pt-BR" sz="3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K-means e Bisecting K-Means</a:t>
            </a:r>
            <a:endParaRPr b="0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●"/>
            </a:pPr>
            <a:r>
              <a:rPr b="0" i="0" lang="pt-BR" sz="3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Índices para estimar </a:t>
            </a:r>
            <a:r>
              <a:rPr b="0" i="1" lang="pt-BR" sz="3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K* </a:t>
            </a:r>
            <a:r>
              <a:rPr b="0" i="0" lang="pt-BR" sz="3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(e.g., silueta)</a:t>
            </a:r>
            <a:endParaRPr b="0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●"/>
            </a:pPr>
            <a:r>
              <a:rPr b="0" i="0" lang="pt-BR" sz="3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K-medoids</a:t>
            </a:r>
            <a:endParaRPr b="0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●"/>
            </a:pPr>
            <a:r>
              <a:rPr b="0" i="1" lang="pt-BR" sz="3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Cluster ensembles</a:t>
            </a:r>
            <a:endParaRPr b="0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2100"/>
              </a:spcBef>
              <a:spcAft>
                <a:spcPts val="1000"/>
              </a:spcAft>
              <a:buClr>
                <a:srgbClr val="000000"/>
              </a:buClr>
              <a:buSzPts val="2500"/>
              <a:buFont typeface="Helvetica Neue"/>
              <a:buChar char="●"/>
            </a:pPr>
            <a:r>
              <a:rPr b="0" i="0" lang="pt-BR" sz="3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para misturas de Gaussianas</a:t>
            </a:r>
            <a:endParaRPr b="0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g2f5594a4f43_0_517"/>
          <p:cNvSpPr txBox="1"/>
          <p:nvPr/>
        </p:nvSpPr>
        <p:spPr>
          <a:xfrm>
            <a:off x="138301" y="116985"/>
            <a:ext cx="6380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Agrupamento (clustering)</a:t>
            </a:r>
            <a:endParaRPr b="1" i="0" sz="2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8" name="Google Shape;318;g2f5594a4f43_0_517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f5594a4f43_0_575"/>
          <p:cNvSpPr txBox="1"/>
          <p:nvPr/>
        </p:nvSpPr>
        <p:spPr>
          <a:xfrm>
            <a:off x="500676" y="276860"/>
            <a:ext cx="9909900" cy="21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pt-BR" sz="30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Regressão</a:t>
            </a:r>
            <a:endParaRPr b="1" i="0" sz="3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Mais presente na “Estatística” do que na “Computação”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7916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Muito usado em </a:t>
            </a:r>
            <a:r>
              <a:rPr b="1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recomendação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4" name="Google Shape;324;g2f5594a4f43_0_5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9675" y="3024785"/>
            <a:ext cx="46482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2f5594a4f43_0_575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f5594a4f43_0_579"/>
          <p:cNvSpPr txBox="1"/>
          <p:nvPr>
            <p:ph type="title"/>
          </p:nvPr>
        </p:nvSpPr>
        <p:spPr>
          <a:xfrm>
            <a:off x="138301" y="116985"/>
            <a:ext cx="4827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3000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Regressão</a:t>
            </a:r>
            <a:endParaRPr sz="2200">
              <a:solidFill>
                <a:srgbClr val="003399"/>
              </a:solidFill>
            </a:endParaRPr>
          </a:p>
        </p:txBody>
      </p:sp>
      <p:pic>
        <p:nvPicPr>
          <p:cNvPr id="331" name="Google Shape;331;g2f5594a4f43_0_5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114" y="785667"/>
            <a:ext cx="8324401" cy="468206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2f5594a4f43_0_579"/>
          <p:cNvSpPr txBox="1"/>
          <p:nvPr/>
        </p:nvSpPr>
        <p:spPr>
          <a:xfrm>
            <a:off x="875325" y="5780675"/>
            <a:ext cx="94095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25">
            <a:spAutoFit/>
          </a:bodyPr>
          <a:lstStyle/>
          <a:p>
            <a:pPr indent="-368300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Seja Y uma avaliação feita por um usuário para determinado filme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381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 = f(gênero, duração, atores, diretor, ano, ...) em {1,2,3,4,5} estrelas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381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estimar Y para filmes ainda não assistidos?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g2f5594a4f43_0_579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g2f5594a4f43_0_585"/>
          <p:cNvGrpSpPr/>
          <p:nvPr/>
        </p:nvGrpSpPr>
        <p:grpSpPr>
          <a:xfrm>
            <a:off x="1801382" y="2681301"/>
            <a:ext cx="7883727" cy="2264614"/>
            <a:chOff x="1668719" y="2433421"/>
            <a:chExt cx="7303128" cy="2097836"/>
          </a:xfrm>
        </p:grpSpPr>
        <p:pic>
          <p:nvPicPr>
            <p:cNvPr id="339" name="Google Shape;339;g2f5594a4f43_0_5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68719" y="2433421"/>
              <a:ext cx="7303128" cy="2097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g2f5594a4f43_0_5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27276" y="2592324"/>
              <a:ext cx="6806183" cy="1600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1" name="Google Shape;341;g2f5594a4f43_0_585"/>
          <p:cNvSpPr txBox="1"/>
          <p:nvPr/>
        </p:nvSpPr>
        <p:spPr>
          <a:xfrm rot="-5400000">
            <a:off x="1688515" y="1894434"/>
            <a:ext cx="16785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95- ação/aventura/thriller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42" name="Google Shape;342;g2f5594a4f43_0_585"/>
          <p:cNvGrpSpPr/>
          <p:nvPr/>
        </p:nvGrpSpPr>
        <p:grpSpPr>
          <a:xfrm>
            <a:off x="513288" y="2656659"/>
            <a:ext cx="1747294" cy="2376190"/>
            <a:chOff x="475487" y="2410980"/>
            <a:chExt cx="1618614" cy="2156448"/>
          </a:xfrm>
        </p:grpSpPr>
        <p:pic>
          <p:nvPicPr>
            <p:cNvPr id="343" name="Google Shape;343;g2f5594a4f43_0_58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5487" y="2543556"/>
              <a:ext cx="1618614" cy="20238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g2f5594a4f43_0_58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70559" y="2738628"/>
              <a:ext cx="1048512" cy="14538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g2f5594a4f43_0_58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17219" y="2410980"/>
              <a:ext cx="1168895" cy="563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g2f5594a4f43_0_585"/>
            <p:cNvSpPr/>
            <p:nvPr/>
          </p:nvSpPr>
          <p:spPr>
            <a:xfrm>
              <a:off x="672845" y="2446782"/>
              <a:ext cx="1062355" cy="469900"/>
            </a:xfrm>
            <a:custGeom>
              <a:rect b="b" l="l" r="r" t="t"/>
              <a:pathLst>
                <a:path extrusionOk="0" h="469900" w="1062355">
                  <a:moveTo>
                    <a:pt x="0" y="469391"/>
                  </a:moveTo>
                  <a:lnTo>
                    <a:pt x="1994" y="395191"/>
                  </a:lnTo>
                  <a:lnTo>
                    <a:pt x="7547" y="330762"/>
                  </a:lnTo>
                  <a:lnTo>
                    <a:pt x="16014" y="279964"/>
                  </a:lnTo>
                  <a:lnTo>
                    <a:pt x="39116" y="234695"/>
                  </a:lnTo>
                  <a:lnTo>
                    <a:pt x="491998" y="234695"/>
                  </a:lnTo>
                  <a:lnTo>
                    <a:pt x="504361" y="222735"/>
                  </a:lnTo>
                  <a:lnTo>
                    <a:pt x="515099" y="189427"/>
                  </a:lnTo>
                  <a:lnTo>
                    <a:pt x="523566" y="138629"/>
                  </a:lnTo>
                  <a:lnTo>
                    <a:pt x="529119" y="74200"/>
                  </a:lnTo>
                  <a:lnTo>
                    <a:pt x="531114" y="0"/>
                  </a:lnTo>
                  <a:lnTo>
                    <a:pt x="533108" y="74200"/>
                  </a:lnTo>
                  <a:lnTo>
                    <a:pt x="538661" y="138629"/>
                  </a:lnTo>
                  <a:lnTo>
                    <a:pt x="547128" y="189427"/>
                  </a:lnTo>
                  <a:lnTo>
                    <a:pt x="557866" y="222735"/>
                  </a:lnTo>
                  <a:lnTo>
                    <a:pt x="570230" y="234695"/>
                  </a:lnTo>
                  <a:lnTo>
                    <a:pt x="1023112" y="234695"/>
                  </a:lnTo>
                  <a:lnTo>
                    <a:pt x="1035470" y="246656"/>
                  </a:lnTo>
                  <a:lnTo>
                    <a:pt x="1046207" y="279964"/>
                  </a:lnTo>
                  <a:lnTo>
                    <a:pt x="1054677" y="330762"/>
                  </a:lnTo>
                  <a:lnTo>
                    <a:pt x="1060232" y="395191"/>
                  </a:lnTo>
                  <a:lnTo>
                    <a:pt x="1062228" y="469391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" name="Google Shape;347;g2f5594a4f43_0_585"/>
          <p:cNvSpPr txBox="1"/>
          <p:nvPr/>
        </p:nvSpPr>
        <p:spPr>
          <a:xfrm>
            <a:off x="457787" y="2337617"/>
            <a:ext cx="1627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Dados de usuários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2f5594a4f43_0_585"/>
          <p:cNvSpPr txBox="1"/>
          <p:nvPr/>
        </p:nvSpPr>
        <p:spPr>
          <a:xfrm rot="-5400000">
            <a:off x="2413764" y="2336243"/>
            <a:ext cx="8208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94- comédia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9" name="Google Shape;349;g2f5594a4f43_0_585"/>
          <p:cNvSpPr txBox="1"/>
          <p:nvPr/>
        </p:nvSpPr>
        <p:spPr>
          <a:xfrm rot="-5400000">
            <a:off x="2364621" y="1907891"/>
            <a:ext cx="16668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95- policial/drama/thriller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0" name="Google Shape;350;g2f5594a4f43_0_585"/>
          <p:cNvSpPr txBox="1"/>
          <p:nvPr/>
        </p:nvSpPr>
        <p:spPr>
          <a:xfrm rot="-5400000">
            <a:off x="2844607" y="2020628"/>
            <a:ext cx="14274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89- romance\comédia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1" name="Google Shape;351;g2f5594a4f43_0_585"/>
          <p:cNvSpPr txBox="1"/>
          <p:nvPr/>
        </p:nvSpPr>
        <p:spPr>
          <a:xfrm>
            <a:off x="5107332" y="701719"/>
            <a:ext cx="1402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Dados de filmes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2" name="Google Shape;352;g2f5594a4f43_0_585"/>
          <p:cNvGrpSpPr/>
          <p:nvPr/>
        </p:nvGrpSpPr>
        <p:grpSpPr>
          <a:xfrm>
            <a:off x="1248675" y="1266189"/>
            <a:ext cx="5301535" cy="2795186"/>
            <a:chOff x="1156716" y="1149096"/>
            <a:chExt cx="4911102" cy="2536697"/>
          </a:xfrm>
        </p:grpSpPr>
        <p:pic>
          <p:nvPicPr>
            <p:cNvPr id="353" name="Google Shape;353;g2f5594a4f43_0_58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189988" y="2717253"/>
              <a:ext cx="343674" cy="2629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g2f5594a4f43_0_58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156716" y="1149096"/>
              <a:ext cx="1357884" cy="17617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g2f5594a4f43_0_585"/>
            <p:cNvSpPr/>
            <p:nvPr/>
          </p:nvSpPr>
          <p:spPr>
            <a:xfrm>
              <a:off x="1199083" y="1171321"/>
              <a:ext cx="1164589" cy="1567814"/>
            </a:xfrm>
            <a:custGeom>
              <a:rect b="b" l="l" r="r" t="t"/>
              <a:pathLst>
                <a:path extrusionOk="0" h="1567814" w="1164589">
                  <a:moveTo>
                    <a:pt x="1066977" y="1498091"/>
                  </a:moveTo>
                  <a:lnTo>
                    <a:pt x="1059611" y="1501139"/>
                  </a:lnTo>
                  <a:lnTo>
                    <a:pt x="1056817" y="1507489"/>
                  </a:lnTo>
                  <a:lnTo>
                    <a:pt x="1054023" y="1513966"/>
                  </a:lnTo>
                  <a:lnTo>
                    <a:pt x="1056944" y="1521459"/>
                  </a:lnTo>
                  <a:lnTo>
                    <a:pt x="1164513" y="1567688"/>
                  </a:lnTo>
                  <a:lnTo>
                    <a:pt x="1163127" y="1554988"/>
                  </a:lnTo>
                  <a:lnTo>
                    <a:pt x="1139367" y="1554988"/>
                  </a:lnTo>
                  <a:lnTo>
                    <a:pt x="1111389" y="1517171"/>
                  </a:lnTo>
                  <a:lnTo>
                    <a:pt x="1066977" y="1498091"/>
                  </a:lnTo>
                  <a:close/>
                </a:path>
                <a:path extrusionOk="0" h="1567814" w="1164589">
                  <a:moveTo>
                    <a:pt x="1111389" y="1517171"/>
                  </a:moveTo>
                  <a:lnTo>
                    <a:pt x="1139367" y="1554988"/>
                  </a:lnTo>
                  <a:lnTo>
                    <a:pt x="1147734" y="1548764"/>
                  </a:lnTo>
                  <a:lnTo>
                    <a:pt x="1136827" y="1548764"/>
                  </a:lnTo>
                  <a:lnTo>
                    <a:pt x="1134475" y="1527089"/>
                  </a:lnTo>
                  <a:lnTo>
                    <a:pt x="1111389" y="1517171"/>
                  </a:lnTo>
                  <a:close/>
                </a:path>
                <a:path extrusionOk="0" h="1567814" w="1164589">
                  <a:moveTo>
                    <a:pt x="1145463" y="1446276"/>
                  </a:moveTo>
                  <a:lnTo>
                    <a:pt x="1131620" y="1447800"/>
                  </a:lnTo>
                  <a:lnTo>
                    <a:pt x="1126540" y="1454150"/>
                  </a:lnTo>
                  <a:lnTo>
                    <a:pt x="1127302" y="1461007"/>
                  </a:lnTo>
                  <a:lnTo>
                    <a:pt x="1131766" y="1502135"/>
                  </a:lnTo>
                  <a:lnTo>
                    <a:pt x="1159687" y="1539875"/>
                  </a:lnTo>
                  <a:lnTo>
                    <a:pt x="1139367" y="1554988"/>
                  </a:lnTo>
                  <a:lnTo>
                    <a:pt x="1163127" y="1554988"/>
                  </a:lnTo>
                  <a:lnTo>
                    <a:pt x="1151813" y="1451355"/>
                  </a:lnTo>
                  <a:lnTo>
                    <a:pt x="1145463" y="1446276"/>
                  </a:lnTo>
                  <a:close/>
                </a:path>
                <a:path extrusionOk="0" h="1567814" w="1164589">
                  <a:moveTo>
                    <a:pt x="1134475" y="1527089"/>
                  </a:moveTo>
                  <a:lnTo>
                    <a:pt x="1136827" y="1548764"/>
                  </a:lnTo>
                  <a:lnTo>
                    <a:pt x="1154480" y="1535683"/>
                  </a:lnTo>
                  <a:lnTo>
                    <a:pt x="1134475" y="1527089"/>
                  </a:lnTo>
                  <a:close/>
                </a:path>
                <a:path extrusionOk="0" h="1567814" w="1164589">
                  <a:moveTo>
                    <a:pt x="1131766" y="1502135"/>
                  </a:moveTo>
                  <a:lnTo>
                    <a:pt x="1134475" y="1527089"/>
                  </a:lnTo>
                  <a:lnTo>
                    <a:pt x="1154480" y="1535683"/>
                  </a:lnTo>
                  <a:lnTo>
                    <a:pt x="1136827" y="1548764"/>
                  </a:lnTo>
                  <a:lnTo>
                    <a:pt x="1147734" y="1548764"/>
                  </a:lnTo>
                  <a:lnTo>
                    <a:pt x="1159687" y="1539875"/>
                  </a:lnTo>
                  <a:lnTo>
                    <a:pt x="1131766" y="1502135"/>
                  </a:lnTo>
                  <a:close/>
                </a:path>
                <a:path extrusionOk="0" h="1567814" w="1164589">
                  <a:moveTo>
                    <a:pt x="20421" y="0"/>
                  </a:moveTo>
                  <a:lnTo>
                    <a:pt x="0" y="14986"/>
                  </a:lnTo>
                  <a:lnTo>
                    <a:pt x="1111389" y="1517171"/>
                  </a:lnTo>
                  <a:lnTo>
                    <a:pt x="1134475" y="1527089"/>
                  </a:lnTo>
                  <a:lnTo>
                    <a:pt x="1131766" y="1502135"/>
                  </a:lnTo>
                  <a:lnTo>
                    <a:pt x="20421" y="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6" name="Google Shape;356;g2f5594a4f43_0_58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724144" y="3422865"/>
              <a:ext cx="343674" cy="2629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7" name="Google Shape;357;g2f5594a4f43_0_585"/>
          <p:cNvSpPr txBox="1"/>
          <p:nvPr/>
        </p:nvSpPr>
        <p:spPr>
          <a:xfrm>
            <a:off x="384742" y="956876"/>
            <a:ext cx="18132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F58024"/>
                </a:solidFill>
                <a:latin typeface="Arial"/>
                <a:ea typeface="Arial"/>
                <a:cs typeface="Arial"/>
                <a:sym typeface="Arial"/>
              </a:rPr>
              <a:t>Nota do filme = 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2f5594a4f43_0_585"/>
          <p:cNvSpPr txBox="1"/>
          <p:nvPr/>
        </p:nvSpPr>
        <p:spPr>
          <a:xfrm rot="-5400000">
            <a:off x="3588261" y="2441136"/>
            <a:ext cx="5835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95- ação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9" name="Google Shape;359;g2f5594a4f43_0_585"/>
          <p:cNvSpPr txBox="1"/>
          <p:nvPr/>
        </p:nvSpPr>
        <p:spPr>
          <a:xfrm rot="-5400000">
            <a:off x="3801027" y="2329246"/>
            <a:ext cx="8208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94- comédia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0" name="Google Shape;360;g2f5594a4f43_0_585"/>
          <p:cNvSpPr txBox="1"/>
          <p:nvPr/>
        </p:nvSpPr>
        <p:spPr>
          <a:xfrm rot="-5400000">
            <a:off x="3963330" y="2144993"/>
            <a:ext cx="12036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95- policial/thriller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1" name="Google Shape;361;g2f5594a4f43_0_585"/>
          <p:cNvSpPr txBox="1"/>
          <p:nvPr/>
        </p:nvSpPr>
        <p:spPr>
          <a:xfrm rot="-5400000">
            <a:off x="4260543" y="2098407"/>
            <a:ext cx="13026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97- romance/drama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2" name="Google Shape;362;g2f5594a4f43_0_585"/>
          <p:cNvSpPr txBox="1"/>
          <p:nvPr/>
        </p:nvSpPr>
        <p:spPr>
          <a:xfrm rot="-5400000">
            <a:off x="4729044" y="2193235"/>
            <a:ext cx="10593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94- ação/thriller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3" name="Google Shape;363;g2f5594a4f43_0_585"/>
          <p:cNvSpPr txBox="1"/>
          <p:nvPr/>
        </p:nvSpPr>
        <p:spPr>
          <a:xfrm rot="-5400000">
            <a:off x="4919464" y="2020494"/>
            <a:ext cx="14259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94- comédia/romance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4" name="Google Shape;364;g2f5594a4f43_0_585"/>
          <p:cNvSpPr txBox="1"/>
          <p:nvPr/>
        </p:nvSpPr>
        <p:spPr>
          <a:xfrm rot="-5400000">
            <a:off x="5373215" y="2151989"/>
            <a:ext cx="12036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95- policial/thriller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5" name="Google Shape;365;g2f5594a4f43_0_585"/>
          <p:cNvSpPr txBox="1"/>
          <p:nvPr/>
        </p:nvSpPr>
        <p:spPr>
          <a:xfrm rot="-5400000">
            <a:off x="5685920" y="2105544"/>
            <a:ext cx="13026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95- romance/drama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6" name="Google Shape;366;g2f5594a4f43_0_585"/>
          <p:cNvSpPr txBox="1"/>
          <p:nvPr/>
        </p:nvSpPr>
        <p:spPr>
          <a:xfrm rot="-5400000">
            <a:off x="5907053" y="1977002"/>
            <a:ext cx="15225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95- ação/drama\thriller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7" name="Google Shape;367;g2f5594a4f43_0_585"/>
          <p:cNvSpPr txBox="1"/>
          <p:nvPr/>
        </p:nvSpPr>
        <p:spPr>
          <a:xfrm rot="-5400000">
            <a:off x="6610511" y="2341979"/>
            <a:ext cx="8208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88- comédia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8" name="Google Shape;368;g2f5594a4f43_0_585"/>
          <p:cNvSpPr txBox="1"/>
          <p:nvPr/>
        </p:nvSpPr>
        <p:spPr>
          <a:xfrm rot="-5400000">
            <a:off x="6352100" y="1727752"/>
            <a:ext cx="20220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94- policial/drama/rom./thriller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9" name="Google Shape;369;g2f5594a4f43_0_585"/>
          <p:cNvSpPr txBox="1"/>
          <p:nvPr/>
        </p:nvSpPr>
        <p:spPr>
          <a:xfrm rot="-5400000">
            <a:off x="7000976" y="2024272"/>
            <a:ext cx="14259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95- comédia/romance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0" name="Google Shape;370;g2f5594a4f43_0_585"/>
          <p:cNvSpPr txBox="1"/>
          <p:nvPr/>
        </p:nvSpPr>
        <p:spPr>
          <a:xfrm rot="-5400000">
            <a:off x="7510974" y="2194214"/>
            <a:ext cx="10593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96- ação/thriller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1" name="Google Shape;371;g2f5594a4f43_0_585"/>
          <p:cNvSpPr txBox="1"/>
          <p:nvPr/>
        </p:nvSpPr>
        <p:spPr>
          <a:xfrm rot="-5400000">
            <a:off x="7997088" y="2336243"/>
            <a:ext cx="8208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79- comédia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2" name="Google Shape;372;g2f5594a4f43_0_585"/>
          <p:cNvSpPr txBox="1"/>
          <p:nvPr/>
        </p:nvSpPr>
        <p:spPr>
          <a:xfrm rot="-5400000">
            <a:off x="8370161" y="2382290"/>
            <a:ext cx="7275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95- policial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3" name="Google Shape;373;g2f5594a4f43_0_585"/>
          <p:cNvSpPr txBox="1"/>
          <p:nvPr/>
        </p:nvSpPr>
        <p:spPr>
          <a:xfrm rot="-5400000">
            <a:off x="8424020" y="2105421"/>
            <a:ext cx="13035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96- romance/drama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4" name="Google Shape;374;g2f5594a4f43_0_585"/>
          <p:cNvSpPr txBox="1"/>
          <p:nvPr>
            <p:ph type="title"/>
          </p:nvPr>
        </p:nvSpPr>
        <p:spPr>
          <a:xfrm>
            <a:off x="138301" y="152249"/>
            <a:ext cx="4827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3000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Regressão</a:t>
            </a:r>
            <a:endParaRPr sz="2200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5" name="Google Shape;375;g2f5594a4f43_0_585"/>
          <p:cNvSpPr txBox="1"/>
          <p:nvPr/>
        </p:nvSpPr>
        <p:spPr>
          <a:xfrm>
            <a:off x="961528" y="4878560"/>
            <a:ext cx="6670800" cy="21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Algumas alternativas de modelagem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Construir um modelo para cada usuário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= f(atributos do filme)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8890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Construir um modelo para todos os usuários  Y = f(atributos do filme e do usuário)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Construir modelos para grupos de usuários e filmes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6" name="Google Shape;376;g2f5594a4f43_0_585"/>
          <p:cNvSpPr txBox="1"/>
          <p:nvPr/>
        </p:nvSpPr>
        <p:spPr>
          <a:xfrm>
            <a:off x="7888849" y="535112"/>
            <a:ext cx="1351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100">
            <a:spAutoFit/>
          </a:bodyPr>
          <a:lstStyle/>
          <a:p>
            <a:pPr indent="-6350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F58024"/>
                </a:solidFill>
                <a:latin typeface="Arial"/>
                <a:ea typeface="Arial"/>
                <a:cs typeface="Arial"/>
                <a:sym typeface="Arial"/>
              </a:rPr>
              <a:t>Recomendar  esse filme?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7" name="Google Shape;377;g2f5594a4f43_0_585"/>
          <p:cNvGrpSpPr/>
          <p:nvPr/>
        </p:nvGrpSpPr>
        <p:grpSpPr>
          <a:xfrm>
            <a:off x="6149600" y="1086503"/>
            <a:ext cx="2466092" cy="2878313"/>
            <a:chOff x="5696711" y="986027"/>
            <a:chExt cx="2284476" cy="2612136"/>
          </a:xfrm>
        </p:grpSpPr>
        <p:pic>
          <p:nvPicPr>
            <p:cNvPr id="378" name="Google Shape;378;g2f5594a4f43_0_58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696711" y="986027"/>
              <a:ext cx="2284476" cy="26121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" name="Google Shape;379;g2f5594a4f43_0_585"/>
            <p:cNvSpPr/>
            <p:nvPr/>
          </p:nvSpPr>
          <p:spPr>
            <a:xfrm>
              <a:off x="5852921" y="1009014"/>
              <a:ext cx="2090420" cy="2417445"/>
            </a:xfrm>
            <a:custGeom>
              <a:rect b="b" l="l" r="r" t="t"/>
              <a:pathLst>
                <a:path extrusionOk="0" h="2417445" w="2090420">
                  <a:moveTo>
                    <a:pt x="28066" y="2297811"/>
                  </a:moveTo>
                  <a:lnTo>
                    <a:pt x="21336" y="2302383"/>
                  </a:lnTo>
                  <a:lnTo>
                    <a:pt x="0" y="2417445"/>
                  </a:lnTo>
                  <a:lnTo>
                    <a:pt x="31463" y="2406650"/>
                  </a:lnTo>
                  <a:lnTo>
                    <a:pt x="26035" y="2406650"/>
                  </a:lnTo>
                  <a:lnTo>
                    <a:pt x="6857" y="2390013"/>
                  </a:lnTo>
                  <a:lnTo>
                    <a:pt x="37543" y="2354482"/>
                  </a:lnTo>
                  <a:lnTo>
                    <a:pt x="46354" y="2307082"/>
                  </a:lnTo>
                  <a:lnTo>
                    <a:pt x="41782" y="2300351"/>
                  </a:lnTo>
                  <a:lnTo>
                    <a:pt x="28066" y="2297811"/>
                  </a:lnTo>
                  <a:close/>
                </a:path>
                <a:path extrusionOk="0" h="2417445" w="2090420">
                  <a:moveTo>
                    <a:pt x="37543" y="2354482"/>
                  </a:moveTo>
                  <a:lnTo>
                    <a:pt x="6857" y="2390013"/>
                  </a:lnTo>
                  <a:lnTo>
                    <a:pt x="26035" y="2406650"/>
                  </a:lnTo>
                  <a:lnTo>
                    <a:pt x="31189" y="2400681"/>
                  </a:lnTo>
                  <a:lnTo>
                    <a:pt x="28955" y="2400681"/>
                  </a:lnTo>
                  <a:lnTo>
                    <a:pt x="12318" y="2386330"/>
                  </a:lnTo>
                  <a:lnTo>
                    <a:pt x="32936" y="2379269"/>
                  </a:lnTo>
                  <a:lnTo>
                    <a:pt x="37543" y="2354482"/>
                  </a:lnTo>
                  <a:close/>
                </a:path>
                <a:path extrusionOk="0" h="2417445" w="2090420">
                  <a:moveTo>
                    <a:pt x="102362" y="2355469"/>
                  </a:moveTo>
                  <a:lnTo>
                    <a:pt x="56713" y="2371126"/>
                  </a:lnTo>
                  <a:lnTo>
                    <a:pt x="26035" y="2406650"/>
                  </a:lnTo>
                  <a:lnTo>
                    <a:pt x="31463" y="2406650"/>
                  </a:lnTo>
                  <a:lnTo>
                    <a:pt x="110616" y="2379472"/>
                  </a:lnTo>
                  <a:lnTo>
                    <a:pt x="114173" y="2372233"/>
                  </a:lnTo>
                  <a:lnTo>
                    <a:pt x="109600" y="2359025"/>
                  </a:lnTo>
                  <a:lnTo>
                    <a:pt x="102362" y="2355469"/>
                  </a:lnTo>
                  <a:close/>
                </a:path>
                <a:path extrusionOk="0" h="2417445" w="2090420">
                  <a:moveTo>
                    <a:pt x="32936" y="2379269"/>
                  </a:moveTo>
                  <a:lnTo>
                    <a:pt x="12318" y="2386330"/>
                  </a:lnTo>
                  <a:lnTo>
                    <a:pt x="28955" y="2400681"/>
                  </a:lnTo>
                  <a:lnTo>
                    <a:pt x="32936" y="2379269"/>
                  </a:lnTo>
                  <a:close/>
                </a:path>
                <a:path extrusionOk="0" h="2417445" w="2090420">
                  <a:moveTo>
                    <a:pt x="56713" y="2371126"/>
                  </a:moveTo>
                  <a:lnTo>
                    <a:pt x="32936" y="2379269"/>
                  </a:lnTo>
                  <a:lnTo>
                    <a:pt x="28955" y="2400681"/>
                  </a:lnTo>
                  <a:lnTo>
                    <a:pt x="31189" y="2400681"/>
                  </a:lnTo>
                  <a:lnTo>
                    <a:pt x="56713" y="2371126"/>
                  </a:lnTo>
                  <a:close/>
                </a:path>
                <a:path extrusionOk="0" h="2417445" w="2090420">
                  <a:moveTo>
                    <a:pt x="2070988" y="0"/>
                  </a:moveTo>
                  <a:lnTo>
                    <a:pt x="37543" y="2354482"/>
                  </a:lnTo>
                  <a:lnTo>
                    <a:pt x="32936" y="2379269"/>
                  </a:lnTo>
                  <a:lnTo>
                    <a:pt x="56713" y="2371126"/>
                  </a:lnTo>
                  <a:lnTo>
                    <a:pt x="2090166" y="16510"/>
                  </a:lnTo>
                  <a:lnTo>
                    <a:pt x="2070988" y="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0" name="Google Shape;380;g2f5594a4f43_0_585"/>
          <p:cNvPicPr preferRelativeResize="0"/>
          <p:nvPr/>
        </p:nvPicPr>
        <p:blipFill rotWithShape="1">
          <a:blip r:embed="rId12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f5594a4f43_0_877"/>
          <p:cNvSpPr txBox="1"/>
          <p:nvPr>
            <p:ph type="title"/>
          </p:nvPr>
        </p:nvSpPr>
        <p:spPr>
          <a:xfrm>
            <a:off x="138301" y="152249"/>
            <a:ext cx="4827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Regressão</a:t>
            </a:r>
            <a:endParaRPr sz="2200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6" name="Google Shape;386;g2f5594a4f43_0_8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1525" y="1739625"/>
            <a:ext cx="4174725" cy="398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2f5594a4f43_0_877"/>
          <p:cNvSpPr txBox="1"/>
          <p:nvPr/>
        </p:nvSpPr>
        <p:spPr>
          <a:xfrm>
            <a:off x="767375" y="6576000"/>
            <a:ext cx="92724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Objetivo: Estimar valores de uma variável aleatória com base nos valores de uma variável fixa.</a:t>
            </a:r>
            <a:endParaRPr b="0" i="0" sz="2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8" name="Google Shape;388;g2f5594a4f43_0_877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f5594a4f43_0_929"/>
          <p:cNvSpPr txBox="1"/>
          <p:nvPr>
            <p:ph type="title"/>
          </p:nvPr>
        </p:nvSpPr>
        <p:spPr>
          <a:xfrm>
            <a:off x="138301" y="152249"/>
            <a:ext cx="4827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Regressão</a:t>
            </a:r>
            <a:endParaRPr sz="2200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4" name="Google Shape;394;g2f5594a4f43_0_9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7125" y="1055575"/>
            <a:ext cx="7613226" cy="507547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2f5594a4f43_0_929"/>
          <p:cNvSpPr txBox="1"/>
          <p:nvPr/>
        </p:nvSpPr>
        <p:spPr>
          <a:xfrm>
            <a:off x="5094525" y="6330850"/>
            <a:ext cx="38901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Gif</a:t>
            </a:r>
            <a:endParaRPr b="0" i="0" sz="22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6" name="Google Shape;396;g2f5594a4f43_0_929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f5594a4f43_0_634"/>
          <p:cNvSpPr txBox="1"/>
          <p:nvPr>
            <p:ph type="title"/>
          </p:nvPr>
        </p:nvSpPr>
        <p:spPr>
          <a:xfrm>
            <a:off x="767402" y="1094292"/>
            <a:ext cx="7190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500"/>
          </a:p>
        </p:txBody>
      </p:sp>
      <p:sp>
        <p:nvSpPr>
          <p:cNvPr id="402" name="Google Shape;402;g2f5594a4f43_0_634"/>
          <p:cNvSpPr txBox="1"/>
          <p:nvPr/>
        </p:nvSpPr>
        <p:spPr>
          <a:xfrm>
            <a:off x="684850" y="1474200"/>
            <a:ext cx="9258900" cy="3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550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●"/>
            </a:pPr>
            <a:r>
              <a:rPr b="0" i="0" lang="pt-BR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Árvores de Regressão</a:t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●"/>
            </a:pPr>
            <a:r>
              <a:rPr b="0" i="0" lang="pt-BR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LASSO (regressão linear)</a:t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●"/>
            </a:pPr>
            <a:r>
              <a:rPr b="0" i="0" lang="pt-BR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 lineares generalizados</a:t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●"/>
            </a:pPr>
            <a:r>
              <a:rPr b="0" i="0" lang="pt-BR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k-Nearest Neighbors (k-NN)</a:t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2100"/>
              </a:spcBef>
              <a:spcAft>
                <a:spcPts val="1000"/>
              </a:spcAft>
              <a:buClr>
                <a:srgbClr val="000000"/>
              </a:buClr>
              <a:buSzPts val="2500"/>
              <a:buFont typeface="Helvetica Neue"/>
              <a:buChar char="●"/>
            </a:pPr>
            <a:r>
              <a:rPr b="0" i="0" lang="pt-BR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Redes neurais, SVMs (Support vector machines), etc.</a:t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3" name="Google Shape;403;g2f5594a4f43_0_634"/>
          <p:cNvSpPr txBox="1"/>
          <p:nvPr/>
        </p:nvSpPr>
        <p:spPr>
          <a:xfrm>
            <a:off x="415426" y="319485"/>
            <a:ext cx="48273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pt-BR" sz="30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Regressão</a:t>
            </a:r>
            <a:endParaRPr b="1" i="0" sz="2200" u="none" cap="none" strike="noStrike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4" name="Google Shape;404;g2f5594a4f43_0_634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g2f5594a4f43_0_5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179" y="3381952"/>
            <a:ext cx="3676883" cy="225384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2f5594a4f43_0_537"/>
          <p:cNvSpPr txBox="1"/>
          <p:nvPr/>
        </p:nvSpPr>
        <p:spPr>
          <a:xfrm>
            <a:off x="138301" y="170285"/>
            <a:ext cx="9980700" cy="4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pt-BR" sz="29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Classificação</a:t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1092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Char char="•"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Fraude: financeira, comércio eletrônico, seguros, ...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1092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Char char="•"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 em perdas de bilhões por ano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1092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Char char="•"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Como detectar automaticamente?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5359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84D"/>
              </a:buClr>
              <a:buSzPts val="1700"/>
              <a:buFont typeface="Helvetica Neue"/>
              <a:buAutoNum type="alphaLcParenR"/>
            </a:pP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Senha / lojas virtuais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5359400" marR="127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184D"/>
              </a:buClr>
              <a:buSzPts val="1700"/>
              <a:buFont typeface="Helvetica Neue"/>
              <a:buAutoNum type="alphaLcParenR"/>
            </a:pP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 gera um escore baseado em fatores  que qualificam fraude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5359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184D"/>
              </a:buClr>
              <a:buSzPts val="1700"/>
              <a:buFont typeface="Helvetica Neue"/>
              <a:buAutoNum type="alphaLcParenR"/>
            </a:pP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Decisão	instantânea	(demanda	modelos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5359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computacionalmente eficientes)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1" name="Google Shape;411;g2f5594a4f43_0_537"/>
          <p:cNvSpPr txBox="1"/>
          <p:nvPr/>
        </p:nvSpPr>
        <p:spPr>
          <a:xfrm>
            <a:off x="728247" y="5808848"/>
            <a:ext cx="40293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Prevenção	de	fraude	em	tempo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real: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esta transação é fraudulenta?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2" name="Google Shape;412;g2f5594a4f43_0_537"/>
          <p:cNvSpPr txBox="1"/>
          <p:nvPr/>
        </p:nvSpPr>
        <p:spPr>
          <a:xfrm>
            <a:off x="5167225" y="5207725"/>
            <a:ext cx="3828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66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Erros de classificação custam caro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Requer modelos estatísticos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3" name="Google Shape;413;g2f5594a4f43_0_537"/>
          <p:cNvSpPr txBox="1"/>
          <p:nvPr/>
        </p:nvSpPr>
        <p:spPr>
          <a:xfrm>
            <a:off x="5082295" y="6495382"/>
            <a:ext cx="50367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1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Diferentemente das aplicações de </a:t>
            </a:r>
            <a:r>
              <a:rPr b="0" i="1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clustering,  </a:t>
            </a: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classificação os objetos estão </a:t>
            </a:r>
            <a:r>
              <a:rPr b="0" i="1" lang="pt-BR" sz="1700" u="sng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priori</a:t>
            </a:r>
            <a:r>
              <a:rPr b="0" i="1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rotulados com uma classe (</a:t>
            </a:r>
            <a:r>
              <a:rPr b="0" i="1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</a:t>
            </a: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“sim” ou “não”)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4" name="Google Shape;414;g2f5594a4f43_0_537"/>
          <p:cNvPicPr preferRelativeResize="0"/>
          <p:nvPr/>
        </p:nvPicPr>
        <p:blipFill rotWithShape="1">
          <a:blip r:embed="rId4">
            <a:alphaModFix/>
          </a:blip>
          <a:srcRect b="26454" l="0" r="0" t="0"/>
          <a:stretch/>
        </p:blipFill>
        <p:spPr>
          <a:xfrm>
            <a:off x="9607875" y="0"/>
            <a:ext cx="1085525" cy="7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g2f5594a4f43_0_7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275" y="0"/>
            <a:ext cx="5079000" cy="733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g2f5594a4f43_0_745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g2f5594a4f43_0_7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275" y="0"/>
            <a:ext cx="5079000" cy="733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g2f5594a4f43_0_7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6200" y="613088"/>
            <a:ext cx="4382525" cy="633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2f5594a4f43_0_750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g2f5594a4f43_0_7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275" y="0"/>
            <a:ext cx="5079000" cy="733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g2f5594a4f43_0_755"/>
          <p:cNvPicPr preferRelativeResize="0"/>
          <p:nvPr/>
        </p:nvPicPr>
        <p:blipFill rotWithShape="1">
          <a:blip r:embed="rId4">
            <a:alphaModFix/>
          </a:blip>
          <a:srcRect b="0" l="0" r="0" t="1806"/>
          <a:stretch/>
        </p:blipFill>
        <p:spPr>
          <a:xfrm>
            <a:off x="5483800" y="1028850"/>
            <a:ext cx="4855400" cy="6018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g2f5594a4f43_0_755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g2f5594a4f43_0_7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850" y="287325"/>
            <a:ext cx="4669600" cy="7117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2f5594a4f43_0_7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8325" y="287325"/>
            <a:ext cx="4348675" cy="662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g2f5594a4f43_0_761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g2f5594a4f43_0_7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850" y="287325"/>
            <a:ext cx="4669600" cy="7117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g2f5594a4f43_0_768"/>
          <p:cNvPicPr preferRelativeResize="0"/>
          <p:nvPr/>
        </p:nvPicPr>
        <p:blipFill rotWithShape="1">
          <a:blip r:embed="rId4">
            <a:alphaModFix/>
          </a:blip>
          <a:srcRect b="1590" l="0" r="0" t="1395"/>
          <a:stretch/>
        </p:blipFill>
        <p:spPr>
          <a:xfrm>
            <a:off x="5160050" y="371075"/>
            <a:ext cx="5076275" cy="666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2f5594a4f43_0_768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g2f5594a4f43_0_7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5076275" cy="7010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2f5594a4f43_0_7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1075" y="354800"/>
            <a:ext cx="4765400" cy="38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2f5594a4f43_0_774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g2f5594a4f43_0_7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5076275" cy="7010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g2f5594a4f43_0_7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1600" y="354775"/>
            <a:ext cx="5213750" cy="568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g2f5594a4f43_0_781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g2f5594a4f43_0_787"/>
          <p:cNvPicPr preferRelativeResize="0"/>
          <p:nvPr/>
        </p:nvPicPr>
        <p:blipFill rotWithShape="1">
          <a:blip r:embed="rId3">
            <a:alphaModFix/>
          </a:blip>
          <a:srcRect b="0" l="0" r="0" t="1302"/>
          <a:stretch/>
        </p:blipFill>
        <p:spPr>
          <a:xfrm>
            <a:off x="76200" y="255775"/>
            <a:ext cx="10541001" cy="678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2f5594a4f43_0_787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g2f5594a4f43_0_7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49" y="371200"/>
            <a:ext cx="10455324" cy="68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g2f5594a4f43_0_793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g2f5594a4f43_0_798"/>
          <p:cNvPicPr preferRelativeResize="0"/>
          <p:nvPr/>
        </p:nvPicPr>
        <p:blipFill rotWithShape="1">
          <a:blip r:embed="rId3">
            <a:alphaModFix/>
          </a:blip>
          <a:srcRect b="0" l="0" r="0" t="1690"/>
          <a:stretch/>
        </p:blipFill>
        <p:spPr>
          <a:xfrm>
            <a:off x="101800" y="245125"/>
            <a:ext cx="10397276" cy="672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g2f5594a4f43_0_798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0" y="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g2f5594a4f43_0_803"/>
          <p:cNvPicPr preferRelativeResize="0"/>
          <p:nvPr/>
        </p:nvPicPr>
        <p:blipFill rotWithShape="1">
          <a:blip r:embed="rId3">
            <a:alphaModFix/>
          </a:blip>
          <a:srcRect b="784" l="0" r="0" t="2221"/>
          <a:stretch/>
        </p:blipFill>
        <p:spPr>
          <a:xfrm>
            <a:off x="0" y="596850"/>
            <a:ext cx="10541000" cy="645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2f5594a4f43_0_803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0" y="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g2f5594a4f43_0_808"/>
          <p:cNvPicPr preferRelativeResize="0"/>
          <p:nvPr/>
        </p:nvPicPr>
        <p:blipFill rotWithShape="1">
          <a:blip r:embed="rId3">
            <a:alphaModFix/>
          </a:blip>
          <a:srcRect b="1428" l="0" r="0" t="0"/>
          <a:stretch/>
        </p:blipFill>
        <p:spPr>
          <a:xfrm>
            <a:off x="127475" y="481150"/>
            <a:ext cx="10438450" cy="649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g2f5594a4f43_0_808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g2f5594a4f43_0_8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50" y="456000"/>
            <a:ext cx="10200124" cy="632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2f5594a4f43_0_813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g2f5594a4f43_0_8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75" y="371675"/>
            <a:ext cx="10494851" cy="657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g2f5594a4f43_0_818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g2f5594a4f43_0_827"/>
          <p:cNvPicPr preferRelativeResize="0"/>
          <p:nvPr/>
        </p:nvPicPr>
        <p:blipFill rotWithShape="1">
          <a:blip r:embed="rId3">
            <a:alphaModFix/>
          </a:blip>
          <a:srcRect b="1034" l="0" r="0" t="2158"/>
          <a:stretch/>
        </p:blipFill>
        <p:spPr>
          <a:xfrm>
            <a:off x="0" y="607500"/>
            <a:ext cx="10456175" cy="64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g2f5594a4f43_0_827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g2f5594a4f43_0_8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4587" y="287325"/>
            <a:ext cx="10802576" cy="679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g2f5594a4f43_0_832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g2f5594a4f43_0_8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800" y="590925"/>
            <a:ext cx="10693400" cy="672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g2f5594a4f43_0_837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g2f5594a4f43_0_843"/>
          <p:cNvPicPr preferRelativeResize="0"/>
          <p:nvPr/>
        </p:nvPicPr>
        <p:blipFill rotWithShape="1">
          <a:blip r:embed="rId3">
            <a:alphaModFix/>
          </a:blip>
          <a:srcRect b="42797" l="59259" r="1510" t="2946"/>
          <a:stretch/>
        </p:blipFill>
        <p:spPr>
          <a:xfrm>
            <a:off x="213150" y="1448250"/>
            <a:ext cx="3858175" cy="347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g2f5594a4f43_0_843"/>
          <p:cNvPicPr preferRelativeResize="0"/>
          <p:nvPr/>
        </p:nvPicPr>
        <p:blipFill rotWithShape="1">
          <a:blip r:embed="rId4">
            <a:alphaModFix/>
          </a:blip>
          <a:srcRect b="44331" l="56293" r="0" t="2295"/>
          <a:stretch/>
        </p:blipFill>
        <p:spPr>
          <a:xfrm>
            <a:off x="5883225" y="4369025"/>
            <a:ext cx="3613025" cy="290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g2f5594a4f43_0_843"/>
          <p:cNvPicPr preferRelativeResize="0"/>
          <p:nvPr/>
        </p:nvPicPr>
        <p:blipFill rotWithShape="1">
          <a:blip r:embed="rId5">
            <a:alphaModFix/>
          </a:blip>
          <a:srcRect b="45298" l="58881" r="0" t="0"/>
          <a:stretch/>
        </p:blipFill>
        <p:spPr>
          <a:xfrm>
            <a:off x="4241450" y="893688"/>
            <a:ext cx="3805201" cy="3299225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g2f5594a4f43_0_843"/>
          <p:cNvSpPr txBox="1"/>
          <p:nvPr/>
        </p:nvSpPr>
        <p:spPr>
          <a:xfrm>
            <a:off x="341050" y="277100"/>
            <a:ext cx="834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Quais dos #jogos podem ser resolvidos com um classificador linear simples?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1" name="Google Shape;531;g2f5594a4f43_0_843"/>
          <p:cNvSpPr/>
          <p:nvPr/>
        </p:nvSpPr>
        <p:spPr>
          <a:xfrm>
            <a:off x="6373475" y="6991625"/>
            <a:ext cx="660900" cy="42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32" name="Google Shape;532;g2f5594a4f43_0_843"/>
          <p:cNvPicPr preferRelativeResize="0"/>
          <p:nvPr/>
        </p:nvPicPr>
        <p:blipFill rotWithShape="1">
          <a:blip r:embed="rId6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f5594a4f43_0_856"/>
          <p:cNvSpPr/>
          <p:nvPr/>
        </p:nvSpPr>
        <p:spPr>
          <a:xfrm>
            <a:off x="6373475" y="6991625"/>
            <a:ext cx="660900" cy="42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38" name="Google Shape;538;g2f5594a4f43_0_8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10462700" cy="656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g2f5594a4f43_0_856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f5594a4f43_0_545"/>
          <p:cNvSpPr txBox="1"/>
          <p:nvPr/>
        </p:nvSpPr>
        <p:spPr>
          <a:xfrm>
            <a:off x="124591" y="116985"/>
            <a:ext cx="9401400" cy="12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Classificação</a:t>
            </a:r>
            <a:endParaRPr b="1" i="0" sz="2800" u="none" cap="none" strike="noStrike">
              <a:solidFill>
                <a:srgbClr val="0033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Construindo clasificadores automáticos Y=f(X</a:t>
            </a:r>
            <a:r>
              <a:rPr b="0" baseline="-2500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X</a:t>
            </a:r>
            <a:r>
              <a:rPr b="0" baseline="-2500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,…,X</a:t>
            </a:r>
            <a:r>
              <a:rPr b="0" baseline="-2500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545" name="Google Shape;545;g2f5594a4f43_0_545"/>
          <p:cNvGraphicFramePr/>
          <p:nvPr/>
        </p:nvGraphicFramePr>
        <p:xfrm>
          <a:off x="1942242" y="1586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{26AA7BA1-64FC-4D11-8C42-9FFAFC4D328B}</a:tableStyleId>
              </a:tblPr>
              <a:tblGrid>
                <a:gridCol w="1490225"/>
                <a:gridCol w="1421675"/>
                <a:gridCol w="1455950"/>
                <a:gridCol w="1455950"/>
                <a:gridCol w="1455950"/>
              </a:tblGrid>
              <a:tr h="408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184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="1" baseline="-25000" lang="pt-BR" sz="2000" u="none" cap="none" strike="noStrike">
                          <a:solidFill>
                            <a:srgbClr val="00184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184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="1" baseline="-25000" lang="pt-BR" sz="2000" u="none" cap="none" strike="noStrike">
                          <a:solidFill>
                            <a:srgbClr val="00184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184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184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="1" baseline="-25000" lang="pt-BR" sz="2000" u="none" cap="none" strike="noStrike">
                          <a:solidFill>
                            <a:srgbClr val="00184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baseline="-2500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184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 (classe)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</a:tr>
              <a:tr h="408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2FF"/>
                    </a:solidFill>
                  </a:tcPr>
                </a:tc>
              </a:tr>
              <a:tr h="408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FF"/>
                    </a:solidFill>
                  </a:tcPr>
                </a:tc>
              </a:tr>
            </a:tbl>
          </a:graphicData>
        </a:graphic>
      </p:graphicFrame>
      <p:pic>
        <p:nvPicPr>
          <p:cNvPr id="546" name="Google Shape;546;g2f5594a4f43_0_5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664" y="4594352"/>
            <a:ext cx="3431759" cy="2221667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g2f5594a4f43_0_545"/>
          <p:cNvSpPr txBox="1"/>
          <p:nvPr/>
        </p:nvSpPr>
        <p:spPr>
          <a:xfrm>
            <a:off x="803025" y="2878825"/>
            <a:ext cx="8991600" cy="3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Y∈{fraude, normal}	(menos de 1% são transações fraudulentas);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= {X</a:t>
            </a:r>
            <a:r>
              <a:rPr b="0" baseline="-25000" i="0" lang="pt-BR" sz="21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pt-BR" sz="22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X</a:t>
            </a:r>
            <a:r>
              <a:rPr b="0" baseline="-25000" i="0" lang="pt-BR" sz="21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pt-BR" sz="22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,…,X</a:t>
            </a:r>
            <a:r>
              <a:rPr b="0" baseline="-25000" i="0" lang="pt-BR" sz="21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pt-BR" sz="22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}: variáveis descrevendo as transações;</a:t>
            </a:r>
            <a:endParaRPr b="0" i="0" sz="2200" u="none" cap="none" strike="noStrike">
              <a:solidFill>
                <a:srgbClr val="0018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18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953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Diversos modelos – </a:t>
            </a:r>
            <a:r>
              <a:rPr b="0" i="1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</a:t>
            </a:r>
            <a:r>
              <a:rPr b="0" i="0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redes neurais: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089400" marR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Passos principais</a:t>
            </a: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4457700" marR="7493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184D"/>
              </a:buClr>
              <a:buSzPts val="1700"/>
              <a:buFont typeface="Helvetica Neue"/>
              <a:buAutoNum type="arabicParenR"/>
            </a:pP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Aprender/ajustar parâmetros  do modelo a partir de uma  amostra de transações;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4457700" marR="7493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184D"/>
              </a:buClr>
              <a:buSzPts val="1700"/>
              <a:buFont typeface="Helvetica Neue"/>
              <a:buAutoNum type="arabicParenR"/>
            </a:pP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Predição de classes (Y) para  novas transações com base  em {X</a:t>
            </a:r>
            <a:r>
              <a:rPr b="0" baseline="-2500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X</a:t>
            </a:r>
            <a:r>
              <a:rPr b="0" baseline="-2500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,…,X</a:t>
            </a:r>
            <a:r>
              <a:rPr b="0" baseline="-2500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pt-BR" sz="1700" u="none" cap="none" strike="noStrike">
                <a:solidFill>
                  <a:srgbClr val="001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48" name="Google Shape;548;g2f5594a4f43_0_545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f5594a4f43_0_552"/>
          <p:cNvSpPr txBox="1"/>
          <p:nvPr>
            <p:ph type="title"/>
          </p:nvPr>
        </p:nvSpPr>
        <p:spPr>
          <a:xfrm>
            <a:off x="726931" y="1076521"/>
            <a:ext cx="8080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Outras aplicações de classificação incluem: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4" name="Google Shape;554;g2f5594a4f43_0_552"/>
          <p:cNvSpPr txBox="1"/>
          <p:nvPr/>
        </p:nvSpPr>
        <p:spPr>
          <a:xfrm>
            <a:off x="726931" y="1542617"/>
            <a:ext cx="9238800" cy="44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5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Churn prediction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(cliente abandonará serviço/produto?)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Risco de crédito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Recrutamento de profissionais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Abandono de posto de trabalho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Análise de sentimentos sobre produtos/serviços (redes sociais)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Diagnóstico por imagens (doente / saudável)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Predição de </a:t>
            </a:r>
            <a:r>
              <a:rPr b="0" i="1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spam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Há muitas outras aplicações, sendo a maioria envolvendo problemas de  classificação binária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5" name="Google Shape;555;g2f5594a4f43_0_552"/>
          <p:cNvSpPr txBox="1"/>
          <p:nvPr/>
        </p:nvSpPr>
        <p:spPr>
          <a:xfrm>
            <a:off x="138301" y="116985"/>
            <a:ext cx="51459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1" i="0" lang="pt-BR" sz="29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Classificação</a:t>
            </a:r>
            <a:endParaRPr b="1" i="0" sz="2900" u="none" cap="none" strike="noStrike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6" name="Google Shape;556;g2f5594a4f43_0_552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f5594a4f43_0_558"/>
          <p:cNvSpPr txBox="1"/>
          <p:nvPr>
            <p:ph type="title"/>
          </p:nvPr>
        </p:nvSpPr>
        <p:spPr>
          <a:xfrm>
            <a:off x="806227" y="1064347"/>
            <a:ext cx="7190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500"/>
          </a:p>
        </p:txBody>
      </p:sp>
      <p:sp>
        <p:nvSpPr>
          <p:cNvPr id="562" name="Google Shape;562;g2f5594a4f43_0_558"/>
          <p:cNvSpPr txBox="1"/>
          <p:nvPr/>
        </p:nvSpPr>
        <p:spPr>
          <a:xfrm>
            <a:off x="844724" y="1705396"/>
            <a:ext cx="8598300" cy="4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5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Árvores de Decisão</a:t>
            </a:r>
            <a:endParaRPr b="0" i="0" sz="3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Bayes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wrapper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Regressão Logística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(LASSO/Ridge/Elastic Net)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1" lang="pt-BR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Classifier Ensembles </a:t>
            </a:r>
            <a:r>
              <a:rPr b="0" i="1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(Random forests, Boosting, …)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Engenharia de atributos (feature selection)</a:t>
            </a:r>
            <a:endParaRPr b="0" i="0" sz="3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SVMs, redes neurais (</a:t>
            </a:r>
            <a:r>
              <a:rPr b="0" i="1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learning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etc.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3" name="Google Shape;563;g2f5594a4f43_0_558"/>
          <p:cNvSpPr txBox="1"/>
          <p:nvPr/>
        </p:nvSpPr>
        <p:spPr>
          <a:xfrm>
            <a:off x="266201" y="362110"/>
            <a:ext cx="51459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1" i="0" lang="pt-BR" sz="2900" u="none" cap="none" strike="noStrike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Classificação</a:t>
            </a:r>
            <a:endParaRPr b="1" i="0" sz="2900" u="none" cap="none" strike="noStrike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4" name="Google Shape;564;g2f5594a4f43_0_558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Google Shape;569;g2f5594a4f43_0_9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575" y="941100"/>
            <a:ext cx="8096250" cy="60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f5594a4f43_0_1017"/>
          <p:cNvSpPr txBox="1"/>
          <p:nvPr>
            <p:ph idx="4294967295" type="ctrTitle"/>
          </p:nvPr>
        </p:nvSpPr>
        <p:spPr>
          <a:xfrm>
            <a:off x="152641" y="292729"/>
            <a:ext cx="6657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(aula passada)</a:t>
            </a: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Modelos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75" name="Google Shape;575;g2f5594a4f43_0_1017"/>
          <p:cNvSpPr txBox="1"/>
          <p:nvPr/>
        </p:nvSpPr>
        <p:spPr>
          <a:xfrm>
            <a:off x="152641" y="1745706"/>
            <a:ext cx="10388100" cy="56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Funcionam como o "cérebro" das aplicações de IA;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Algoritmos que fazem previsões ou decisões baseadas em dados;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Supervisionados / Supervised Learning</a:t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aprendem com dados etiquetados.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Não supervisionados / Unsupervised Learning</a:t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encontram padrões em dados não etiquetados.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Por reforço / Reinforcement Learning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aprendem por tentativa e erro.</a:t>
            </a:r>
            <a:endParaRPr b="0"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6" name="Google Shape;576;g2f5594a4f43_0_10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0475" y="574175"/>
            <a:ext cx="2572925" cy="17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g2f5594a4f43_0_941"/>
          <p:cNvPicPr preferRelativeResize="0"/>
          <p:nvPr/>
        </p:nvPicPr>
        <p:blipFill rotWithShape="1">
          <a:blip r:embed="rId3">
            <a:alphaModFix/>
          </a:blip>
          <a:srcRect b="1339" l="0" r="0" t="1553"/>
          <a:stretch/>
        </p:blipFill>
        <p:spPr>
          <a:xfrm>
            <a:off x="682100" y="1326925"/>
            <a:ext cx="9158650" cy="490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20570bd03a_0_14"/>
          <p:cNvSpPr txBox="1"/>
          <p:nvPr>
            <p:ph type="title"/>
          </p:nvPr>
        </p:nvSpPr>
        <p:spPr>
          <a:xfrm>
            <a:off x="364441" y="848277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pt-BR"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Hands-on </a:t>
            </a:r>
            <a:r>
              <a:rPr lang="pt-BR"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/ Atividade individual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7" name="Google Shape;587;g220570bd03a_0_14"/>
          <p:cNvSpPr/>
          <p:nvPr/>
        </p:nvSpPr>
        <p:spPr>
          <a:xfrm>
            <a:off x="3347638" y="2717900"/>
            <a:ext cx="3807900" cy="3318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220570bd03a_0_14"/>
          <p:cNvSpPr txBox="1"/>
          <p:nvPr/>
        </p:nvSpPr>
        <p:spPr>
          <a:xfrm>
            <a:off x="3448463" y="2777850"/>
            <a:ext cx="389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pt-BR" sz="1720" u="sng" cap="none" strike="noStrike">
                <a:solidFill>
                  <a:srgbClr val="0097A7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Google's Teachable Machine</a:t>
            </a:r>
            <a:r>
              <a:rPr b="1" i="0" lang="pt-BR" sz="1720" u="none" cap="none" strike="noStrike">
                <a:solidFill>
                  <a:srgbClr val="4285F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i="0" sz="1720" u="none" cap="none" strike="noStrike">
              <a:solidFill>
                <a:srgbClr val="4285F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9" name="Google Shape;589;g220570bd03a_0_14"/>
          <p:cNvSpPr txBox="1"/>
          <p:nvPr/>
        </p:nvSpPr>
        <p:spPr>
          <a:xfrm>
            <a:off x="3477238" y="3235050"/>
            <a:ext cx="3548700" cy="27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Helvetica Neue"/>
              <a:buAutoNum type="arabicPeriod"/>
            </a:pPr>
            <a:r>
              <a:rPr b="0" i="0" lang="pt-BR" sz="15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Crie um modelo de ML para classificar imagens. </a:t>
            </a:r>
            <a:endParaRPr b="0" i="0" sz="1500" u="none" cap="none" strike="noStrike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Helvetica Neue"/>
              <a:buAutoNum type="arabicPeriod"/>
            </a:pPr>
            <a:r>
              <a:rPr b="0" i="0" lang="pt-BR" sz="15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Submeta no Classroom um resumo do processo de treinamento, incluindo os passos seguidos e o objetivo do classificador criado (anexe imagens/vídeo para exemplificar).</a:t>
            </a:r>
            <a:endParaRPr b="0" i="0" sz="1500" u="none" cap="none" strike="noStrike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0" name="Google Shape;590;g220570bd03a_0_14"/>
          <p:cNvSpPr txBox="1"/>
          <p:nvPr/>
        </p:nvSpPr>
        <p:spPr>
          <a:xfrm>
            <a:off x="575500" y="1620025"/>
            <a:ext cx="53610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Nosso primeiro classificador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5f3584e39e_3_150"/>
          <p:cNvSpPr txBox="1"/>
          <p:nvPr>
            <p:ph type="title"/>
          </p:nvPr>
        </p:nvSpPr>
        <p:spPr>
          <a:xfrm>
            <a:off x="626476" y="755100"/>
            <a:ext cx="5496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Próxima aula…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96" name="Google Shape;596;g25f3584e39e_3_15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g25f3584e39e_3_150"/>
          <p:cNvSpPr txBox="1"/>
          <p:nvPr/>
        </p:nvSpPr>
        <p:spPr>
          <a:xfrm>
            <a:off x="581050" y="2056100"/>
            <a:ext cx="9531300" cy="16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19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Vamos conhecer um pouco sobre: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○"/>
            </a:pPr>
            <a:r>
              <a:rPr b="0" i="1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Neural Networks</a:t>
            </a:r>
            <a:endParaRPr b="0" i="1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○"/>
            </a:pPr>
            <a:r>
              <a:rPr b="0" i="1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Learning</a:t>
            </a:r>
            <a:endParaRPr b="0" i="1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1" marL="914400" marR="50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92934"/>
              </a:buClr>
              <a:buSzPts val="2100"/>
              <a:buFont typeface="Helvetica Neue"/>
              <a:buChar char="○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Arquiteturas (</a:t>
            </a:r>
            <a:r>
              <a:rPr b="0" i="1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</a:t>
            </a: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transformers</a:t>
            </a: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e sua relação com </a:t>
            </a:r>
            <a:r>
              <a:rPr b="0" i="1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generative AI</a:t>
            </a:r>
            <a:endParaRPr b="0" i="1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8" name="Google Shape;598;g25f3584e39e_3_15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2023-07-02T21:27:13Z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2015-09-23T00:00:00Z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2023-07-02T00:00:00Z</vt:filetime>
  </property>
</Properties>
</file>