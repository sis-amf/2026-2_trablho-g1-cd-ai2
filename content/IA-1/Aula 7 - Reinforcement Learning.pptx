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7556500" cx="10693400"/>
  <p:notesSz cx="10693400" cy="7556500"/>
  <p:embeddedFontLst>
    <p:embeddedFont>
      <p:font typeface="Montserrat"/>
      <p:regular r:id="rId56"/>
      <p:bold r:id="rId57"/>
      <p:italic r:id="rId58"/>
      <p:boldItalic r:id="rId59"/>
    </p:embeddedFont>
    <p:embeddedFont>
      <p:font typeface="Helvetica Neue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64" roundtripDataSignature="AMtx7mjYvK/8Y52mUv8pKq/FrmhbY+RC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HelveticaNeue-italic.fntdata"/><Relationship Id="rId61" Type="http://schemas.openxmlformats.org/officeDocument/2006/relationships/font" Target="fonts/HelveticaNeue-bold.fntdata"/><Relationship Id="rId20" Type="http://schemas.openxmlformats.org/officeDocument/2006/relationships/slide" Target="slides/slide15.xml"/><Relationship Id="rId64" Type="http://customschemas.google.com/relationships/presentationmetadata" Target="metadata"/><Relationship Id="rId63" Type="http://schemas.openxmlformats.org/officeDocument/2006/relationships/font" Target="fonts/HelveticaNeue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HelveticaNeue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Montserrat-bold.fntdata"/><Relationship Id="rId12" Type="http://schemas.openxmlformats.org/officeDocument/2006/relationships/slide" Target="slides/slide7.xml"/><Relationship Id="rId56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59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58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47119ddfd_1_74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2d47119ddfd_1_74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47119ddfd_1_73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2d47119ddfd_1_73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47119ddfd_1_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2d47119ddfd_1_1:notes"/>
          <p:cNvSpPr/>
          <p:nvPr>
            <p:ph idx="2" type="sldImg"/>
          </p:nvPr>
        </p:nvSpPr>
        <p:spPr>
          <a:xfrm>
            <a:off x="2509750" y="566738"/>
            <a:ext cx="56751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47119ddfd_1_2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2d47119ddfd_1_23:notes"/>
          <p:cNvSpPr/>
          <p:nvPr>
            <p:ph idx="2" type="sldImg"/>
          </p:nvPr>
        </p:nvSpPr>
        <p:spPr>
          <a:xfrm>
            <a:off x="2509750" y="566738"/>
            <a:ext cx="56751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47119ddfd_0_4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2d47119ddfd_0_4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47119ddfd_0_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2d47119ddfd_0_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47119ddfd_0_5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2d47119ddfd_0_5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47119ddfd_1_25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2d47119ddfd_1_254:notes"/>
          <p:cNvSpPr/>
          <p:nvPr>
            <p:ph idx="2" type="sldImg"/>
          </p:nvPr>
        </p:nvSpPr>
        <p:spPr>
          <a:xfrm>
            <a:off x="2509750" y="566738"/>
            <a:ext cx="56751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47119ddfd_1_37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2d47119ddfd_1_371:notes"/>
          <p:cNvSpPr/>
          <p:nvPr>
            <p:ph idx="2" type="sldImg"/>
          </p:nvPr>
        </p:nvSpPr>
        <p:spPr>
          <a:xfrm>
            <a:off x="2509750" y="566738"/>
            <a:ext cx="56751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47119ddfd_0_7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2d47119ddfd_0_7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d47119ddfd_0_1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2d47119ddfd_0_1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47119ddfd_1_26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2d47119ddfd_1_26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d47119ddfd_1_27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2d47119ddfd_1_27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47119ddfd_1_28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2d47119ddfd_1_28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47119ddfd_1_29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2d47119ddfd_1_29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47119ddfd_1_32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2d47119ddfd_1_32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47119ddfd_1_30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2d47119ddfd_1_30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cc3613f94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5cc3613f94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d47119ddfd_0_6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2d47119ddfd_0_6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d47119ddfd_0_3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2d47119ddfd_0_3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47119ddfd_0_2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g2d47119ddfd_0_2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d47119ddfd_1_8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g2d47119ddfd_1_8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47119ddfd_1_38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2d47119ddfd_1_38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cc3613f94_0_1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5cc3613f94_0_1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5cc3613f94_1_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g35cc3613f94_1_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d47119ddfd_1_39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2d47119ddfd_1_39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d47119ddfd_1_40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2d47119ddfd_1_40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d47119ddfd_1_60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2d47119ddfd_1_60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d47119ddfd_1_41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g2d47119ddfd_1_41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d47119ddfd_1_56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g2d47119ddfd_1_56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d47119ddfd_1_42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g2d47119ddfd_1_42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d47119ddfd_1_43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2d47119ddfd_1_43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d47119ddfd_1_45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g2d47119ddfd_1_45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d47119ddfd_1_46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2d47119ddfd_1_46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d47119ddfd_1_46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g2d47119ddfd_1_46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d47119ddfd_1_48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g2d47119ddfd_1_48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d47119ddfd_1_50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g2d47119ddfd_1_50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d47119ddfd_1_51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0" name="Google Shape;450;g2d47119ddfd_1_51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d47119ddfd_1_52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g2d47119ddfd_1_52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d47119ddfd_1_54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g2d47119ddfd_1_54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d47119ddfd_1_57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5" name="Google Shape;485;g2d47119ddfd_1_57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47119ddfd_1_58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g2d47119ddfd_1_58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d47119ddfd_1_61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g2d47119ddfd_1_61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d47119ddfd_1_65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4" name="Google Shape;524;g2d47119ddfd_1_65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d47119ddfd_1_70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7" name="Google Shape;567;g2d47119ddfd_1_70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d47119ddfd_1_79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3" name="Google Shape;583;g2d47119ddfd_1_79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d474a7be80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2" name="Google Shape;592;g2d474a7be80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d47119ddfd_1_81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1" name="Google Shape;601;g2d47119ddfd_1_81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d47119ddfd_1_82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0" name="Google Shape;610;g2d47119ddfd_1_82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2" type="body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0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f174543b14_2_1013"/>
          <p:cNvSpPr txBox="1"/>
          <p:nvPr>
            <p:ph type="title"/>
          </p:nvPr>
        </p:nvSpPr>
        <p:spPr>
          <a:xfrm>
            <a:off x="364516" y="653802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g2f174543b14_2_1013"/>
          <p:cNvSpPr txBox="1"/>
          <p:nvPr>
            <p:ph idx="1" type="body"/>
          </p:nvPr>
        </p:nvSpPr>
        <p:spPr>
          <a:xfrm>
            <a:off x="364516" y="1693142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4" name="Google Shape;34;g2f174543b14_2_1013"/>
          <p:cNvSpPr txBox="1"/>
          <p:nvPr>
            <p:ph idx="12" type="sldNum"/>
          </p:nvPr>
        </p:nvSpPr>
        <p:spPr>
          <a:xfrm>
            <a:off x="9908069" y="68508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f5594a4f43_0_680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5594a4f43_0_680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f5594a4f43_0_680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2f5594a4f43_0_680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2f5594a4f43_0_680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204fabc35a_0_2184"/>
          <p:cNvSpPr txBox="1"/>
          <p:nvPr>
            <p:ph type="title"/>
          </p:nvPr>
        </p:nvSpPr>
        <p:spPr>
          <a:xfrm>
            <a:off x="798410" y="547565"/>
            <a:ext cx="9096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204fabc35a_0_2184"/>
          <p:cNvSpPr txBox="1"/>
          <p:nvPr>
            <p:ph idx="1" type="body"/>
          </p:nvPr>
        </p:nvSpPr>
        <p:spPr>
          <a:xfrm>
            <a:off x="625266" y="1660882"/>
            <a:ext cx="9443100" cy="4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2204fabc35a_0_2184"/>
          <p:cNvSpPr txBox="1"/>
          <p:nvPr>
            <p:ph idx="11" type="ftr"/>
          </p:nvPr>
        </p:nvSpPr>
        <p:spPr>
          <a:xfrm>
            <a:off x="3635756" y="7027545"/>
            <a:ext cx="3422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204fabc35a_0_2184"/>
          <p:cNvSpPr txBox="1"/>
          <p:nvPr>
            <p:ph idx="10" type="dt"/>
          </p:nvPr>
        </p:nvSpPr>
        <p:spPr>
          <a:xfrm>
            <a:off x="534670" y="7027545"/>
            <a:ext cx="2459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204fabc35a_0_2184"/>
          <p:cNvSpPr txBox="1"/>
          <p:nvPr>
            <p:ph idx="12" type="sldNum"/>
          </p:nvPr>
        </p:nvSpPr>
        <p:spPr>
          <a:xfrm>
            <a:off x="7699248" y="7027545"/>
            <a:ext cx="245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/>
          <p:nvPr/>
        </p:nvSpPr>
        <p:spPr>
          <a:xfrm>
            <a:off x="0" y="0"/>
            <a:ext cx="10693400" cy="403225"/>
          </a:xfrm>
          <a:custGeom>
            <a:rect b="b" l="l" r="r" t="t"/>
            <a:pathLst>
              <a:path extrusionOk="0" h="403225" w="10693400">
                <a:moveTo>
                  <a:pt x="10693400" y="0"/>
                </a:moveTo>
                <a:lnTo>
                  <a:pt x="0" y="0"/>
                </a:lnTo>
                <a:lnTo>
                  <a:pt x="0" y="403009"/>
                </a:lnTo>
                <a:lnTo>
                  <a:pt x="10693400" y="403009"/>
                </a:lnTo>
                <a:lnTo>
                  <a:pt x="10693400" y="0"/>
                </a:lnTo>
                <a:close/>
              </a:path>
            </a:pathLst>
          </a:custGeom>
          <a:solidFill>
            <a:srgbClr val="92A1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8"/>
          <p:cNvSpPr/>
          <p:nvPr/>
        </p:nvSpPr>
        <p:spPr>
          <a:xfrm>
            <a:off x="802005" y="3744722"/>
            <a:ext cx="9178925" cy="1905"/>
          </a:xfrm>
          <a:custGeom>
            <a:rect b="b" l="l" r="r" t="t"/>
            <a:pathLst>
              <a:path extrusionOk="0" h="1904" w="9178925">
                <a:moveTo>
                  <a:pt x="0" y="0"/>
                </a:moveTo>
                <a:lnTo>
                  <a:pt x="9178544" y="1650"/>
                </a:lnTo>
              </a:path>
            </a:pathLst>
          </a:custGeom>
          <a:noFill/>
          <a:ln cap="flat" cmpd="sng" w="1905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8"/>
          <p:cNvSpPr txBox="1"/>
          <p:nvPr>
            <p:ph type="ctrTitle"/>
          </p:nvPr>
        </p:nvSpPr>
        <p:spPr>
          <a:xfrm>
            <a:off x="893775" y="2602814"/>
            <a:ext cx="8912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subTitle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5594a4f43_0_312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2f5594a4f43_0_312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2f5594a4f43_0_312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5594a4f43_0_312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2f5594a4f43_0_312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47"/>
          <p:cNvGrpSpPr/>
          <p:nvPr/>
        </p:nvGrpSpPr>
        <p:grpSpPr>
          <a:xfrm>
            <a:off x="-50" y="-163100"/>
            <a:ext cx="10736274" cy="837200"/>
            <a:chOff x="-50" y="-152609"/>
            <a:chExt cx="10693500" cy="837200"/>
          </a:xfrm>
        </p:grpSpPr>
        <p:pic>
          <p:nvPicPr>
            <p:cNvPr id="7" name="Google Shape;7;p4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0" y="-152609"/>
              <a:ext cx="1506924" cy="8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47"/>
            <p:cNvSpPr/>
            <p:nvPr/>
          </p:nvSpPr>
          <p:spPr>
            <a:xfrm>
              <a:off x="-50" y="0"/>
              <a:ext cx="10693500" cy="543000"/>
            </a:xfrm>
            <a:prstGeom prst="rect">
              <a:avLst/>
            </a:prstGeom>
            <a:solidFill>
              <a:srgbClr val="0E71BA"/>
            </a:solidFill>
            <a:ln cap="flat" cmpd="sng" w="9525">
              <a:solidFill>
                <a:srgbClr val="0E71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9;p47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50" y="-139350"/>
            <a:ext cx="1429351" cy="7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/>
          </a:p>
        </p:txBody>
      </p:sp>
      <p:sp>
        <p:nvSpPr>
          <p:cNvPr id="15" name="Google Shape;15;p47"/>
          <p:cNvSpPr txBox="1"/>
          <p:nvPr/>
        </p:nvSpPr>
        <p:spPr>
          <a:xfrm>
            <a:off x="2628039" y="74888"/>
            <a:ext cx="52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Inteligência Artificial I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Google Shape;16;p47"/>
          <p:cNvPicPr preferRelativeResize="0"/>
          <p:nvPr/>
        </p:nvPicPr>
        <p:blipFill rotWithShape="1">
          <a:blip r:embed="rId2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850" y="29376"/>
            <a:ext cx="742650" cy="491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hauani.fazul@amf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4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26.png"/><Relationship Id="rId5" Type="http://schemas.openxmlformats.org/officeDocument/2006/relationships/hyperlink" Target="https://italolelis.com/snak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hyperlink" Target="https://gymnasium.farama.org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23.gif"/><Relationship Id="rId5" Type="http://schemas.openxmlformats.org/officeDocument/2006/relationships/hyperlink" Target="https://www.datacamp.com/pt/tutorial/introduction-q-learning-beginner-tutoria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Relationship Id="rId4" Type="http://schemas.openxmlformats.org/officeDocument/2006/relationships/image" Target="../media/image28.png"/><Relationship Id="rId5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Relationship Id="rId4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Relationship Id="rId4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Relationship Id="rId4" Type="http://schemas.openxmlformats.org/officeDocument/2006/relationships/image" Target="../media/image28.png"/><Relationship Id="rId5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28.png"/><Relationship Id="rId5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2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hyperlink" Target="https://huggingface.co/learn/deep-rl-course/en/unit3/deep-q-algorithm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34.png"/><Relationship Id="rId5" Type="http://schemas.openxmlformats.org/officeDocument/2006/relationships/image" Target="../media/image4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37.png"/><Relationship Id="rId5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43.png"/><Relationship Id="rId5" Type="http://schemas.openxmlformats.org/officeDocument/2006/relationships/image" Target="../media/image35.png"/><Relationship Id="rId6" Type="http://schemas.openxmlformats.org/officeDocument/2006/relationships/image" Target="../media/image4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40.png"/><Relationship Id="rId5" Type="http://schemas.openxmlformats.org/officeDocument/2006/relationships/image" Target="../media/image3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hyperlink" Target="https://www.gymlibrary.dev/environments/toy_text/frozen_lake/" TargetMode="External"/><Relationship Id="rId5" Type="http://schemas.openxmlformats.org/officeDocument/2006/relationships/hyperlink" Target="https://www.gymlibrary.dev/environments/classic_control/cart_pole/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jpg"/><Relationship Id="rId4" Type="http://schemas.openxmlformats.org/officeDocument/2006/relationships/image" Target="../media/image39.png"/><Relationship Id="rId5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/>
        </p:nvSpPr>
        <p:spPr>
          <a:xfrm>
            <a:off x="754739" y="2397798"/>
            <a:ext cx="9183900" cy="1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Aula 7 - </a:t>
            </a:r>
            <a:r>
              <a:rPr b="0" i="1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Reinforcement Learning</a:t>
            </a: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(Aprendizado por Reforço)</a:t>
            </a:r>
            <a:endParaRPr b="0" i="0" sz="3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893775" y="3893312"/>
            <a:ext cx="2273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5656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Rhauani Fazul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803450" y="3742670"/>
            <a:ext cx="9183900" cy="0"/>
          </a:xfrm>
          <a:prstGeom prst="straightConnector1">
            <a:avLst/>
          </a:prstGeom>
          <a:noFill/>
          <a:ln cap="flat" cmpd="sng" w="28575">
            <a:solidFill>
              <a:srgbClr val="0E71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816216" y="4247302"/>
            <a:ext cx="24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rhauani.fazul@amf.edu.br</a:t>
            </a:r>
            <a:r>
              <a:rPr b="0" i="0" lang="pt-BR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812850" y="147545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Inteligência Artificial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12850" y="126270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Informação | AMF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12850" y="1716182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junho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202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47119ddfd_1_744"/>
          <p:cNvSpPr txBox="1"/>
          <p:nvPr>
            <p:ph type="title"/>
          </p:nvPr>
        </p:nvSpPr>
        <p:spPr>
          <a:xfrm>
            <a:off x="626475" y="755100"/>
            <a:ext cx="9107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Agradecimentos &amp;&amp; </a:t>
            </a:r>
            <a:r>
              <a:rPr i="1" lang="pt-BR" sz="4600">
                <a:solidFill>
                  <a:srgbClr val="0E71BA"/>
                </a:solidFill>
              </a:rPr>
              <a:t>disclaimer</a:t>
            </a:r>
            <a:endParaRPr i="1" sz="4600">
              <a:solidFill>
                <a:srgbClr val="0E71BA"/>
              </a:solidFill>
            </a:endParaRPr>
          </a:p>
        </p:txBody>
      </p:sp>
      <p:pic>
        <p:nvPicPr>
          <p:cNvPr id="87" name="Google Shape;87;g2d47119ddfd_1_74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d47119ddfd_1_74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" name="Google Shape;89;g2d47119ddfd_1_7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2d47119ddfd_1_744"/>
          <p:cNvSpPr txBox="1"/>
          <p:nvPr/>
        </p:nvSpPr>
        <p:spPr>
          <a:xfrm>
            <a:off x="563500" y="1830300"/>
            <a:ext cx="97353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Material parcialmente baseado em:</a:t>
            </a:r>
            <a:b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Advanced deep learning and reinforcement learning (Hado van Hasselt @ Google)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Reinforcement Learning: concepts, applications and challenges (Anna Helena Reali Costa @ USP)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Lecture 14: Reinforcement Learning (Fei-Fei Li &amp; Justin Johnson &amp; Serena Yeung @ Stanford)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47119ddfd_1_734"/>
          <p:cNvSpPr txBox="1"/>
          <p:nvPr>
            <p:ph type="title"/>
          </p:nvPr>
        </p:nvSpPr>
        <p:spPr>
          <a:xfrm>
            <a:off x="309300" y="74445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ML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96" name="Google Shape;96;g2d47119ddfd_1_73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2d47119ddfd_1_73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8" name="Google Shape;98;g2d47119ddfd_1_734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g2d47119ddfd_1_7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275" y="1444625"/>
            <a:ext cx="521970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2d47119ddfd_1_7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1975" y="3540450"/>
            <a:ext cx="4798125" cy="2837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47119ddfd_1_1"/>
          <p:cNvSpPr txBox="1"/>
          <p:nvPr>
            <p:ph type="title"/>
          </p:nvPr>
        </p:nvSpPr>
        <p:spPr>
          <a:xfrm>
            <a:off x="663155" y="694625"/>
            <a:ext cx="6776100" cy="14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4800">
                <a:solidFill>
                  <a:schemeClr val="accent1"/>
                </a:solidFill>
              </a:rPr>
              <a:t>Supervised Learning</a:t>
            </a:r>
            <a:endParaRPr sz="4800">
              <a:solidFill>
                <a:schemeClr val="accent1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800">
              <a:solidFill>
                <a:srgbClr val="90C226"/>
              </a:solidFill>
            </a:endParaRPr>
          </a:p>
        </p:txBody>
      </p:sp>
      <p:sp>
        <p:nvSpPr>
          <p:cNvPr id="106" name="Google Shape;106;g2d47119ddfd_1_1"/>
          <p:cNvSpPr txBox="1"/>
          <p:nvPr/>
        </p:nvSpPr>
        <p:spPr>
          <a:xfrm>
            <a:off x="685312" y="1774938"/>
            <a:ext cx="79086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4040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Task of learning a function that maps</a:t>
            </a: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pt-BR" sz="2800" u="none" cap="none" strike="noStrike">
                <a:solidFill>
                  <a:srgbClr val="4040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input to an output based on example input-output pairs.</a:t>
            </a:r>
            <a:endParaRPr b="0" i="0" sz="2800" u="none" cap="none" strike="noStrike">
              <a:solidFill>
                <a:srgbClr val="4040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4040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4040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Labeled data.</a:t>
            </a:r>
            <a:endParaRPr b="0" i="0" sz="2800" u="none" cap="none" strike="noStrike">
              <a:solidFill>
                <a:srgbClr val="4040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g2d47119ddfd_1_1"/>
          <p:cNvSpPr txBox="1"/>
          <p:nvPr/>
        </p:nvSpPr>
        <p:spPr>
          <a:xfrm>
            <a:off x="8565000" y="6742334"/>
            <a:ext cx="753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8" name="Google Shape;108;g2d47119ddfd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778" y="5010872"/>
            <a:ext cx="1592530" cy="188295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2d47119ddfd_1_1"/>
          <p:cNvSpPr txBox="1"/>
          <p:nvPr/>
        </p:nvSpPr>
        <p:spPr>
          <a:xfrm>
            <a:off x="1090527" y="4677750"/>
            <a:ext cx="955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" name="Google Shape;110;g2d47119ddfd_1_1"/>
          <p:cNvSpPr txBox="1"/>
          <p:nvPr/>
        </p:nvSpPr>
        <p:spPr>
          <a:xfrm>
            <a:off x="2328640" y="5247200"/>
            <a:ext cx="18525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27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desired output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873125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CAT</a:t>
            </a:r>
            <a:endParaRPr b="0" i="0" sz="3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g2d47119ddfd_1_1"/>
          <p:cNvSpPr/>
          <p:nvPr/>
        </p:nvSpPr>
        <p:spPr>
          <a:xfrm>
            <a:off x="2142943" y="5850909"/>
            <a:ext cx="907141" cy="192524"/>
          </a:xfrm>
          <a:custGeom>
            <a:rect b="b" l="l" r="r" t="t"/>
            <a:pathLst>
              <a:path extrusionOk="0" h="174625" w="1033779">
                <a:moveTo>
                  <a:pt x="131834" y="73957"/>
                </a:moveTo>
                <a:lnTo>
                  <a:pt x="7773" y="74658"/>
                </a:lnTo>
                <a:lnTo>
                  <a:pt x="0" y="82519"/>
                </a:lnTo>
                <a:lnTo>
                  <a:pt x="109" y="101808"/>
                </a:lnTo>
                <a:lnTo>
                  <a:pt x="7971" y="109581"/>
                </a:lnTo>
                <a:lnTo>
                  <a:pt x="132033" y="108880"/>
                </a:lnTo>
                <a:lnTo>
                  <a:pt x="139806" y="101019"/>
                </a:lnTo>
                <a:lnTo>
                  <a:pt x="139697" y="81730"/>
                </a:lnTo>
                <a:lnTo>
                  <a:pt x="131834" y="73957"/>
                </a:lnTo>
                <a:close/>
              </a:path>
              <a:path extrusionOk="0" h="174625" w="1033779">
                <a:moveTo>
                  <a:pt x="271567" y="73167"/>
                </a:moveTo>
                <a:lnTo>
                  <a:pt x="252244" y="73276"/>
                </a:lnTo>
                <a:lnTo>
                  <a:pt x="244667" y="80940"/>
                </a:lnTo>
                <a:lnTo>
                  <a:pt x="244580" y="100427"/>
                </a:lnTo>
                <a:lnTo>
                  <a:pt x="252441" y="108201"/>
                </a:lnTo>
                <a:lnTo>
                  <a:pt x="271766" y="108092"/>
                </a:lnTo>
                <a:lnTo>
                  <a:pt x="279539" y="100229"/>
                </a:lnTo>
                <a:lnTo>
                  <a:pt x="279430" y="80940"/>
                </a:lnTo>
                <a:lnTo>
                  <a:pt x="271567" y="73167"/>
                </a:lnTo>
                <a:close/>
              </a:path>
              <a:path extrusionOk="0" h="174625" w="1033779">
                <a:moveTo>
                  <a:pt x="516039" y="71786"/>
                </a:moveTo>
                <a:lnTo>
                  <a:pt x="391977" y="72487"/>
                </a:lnTo>
                <a:lnTo>
                  <a:pt x="384204" y="80349"/>
                </a:lnTo>
                <a:lnTo>
                  <a:pt x="384312" y="99637"/>
                </a:lnTo>
                <a:lnTo>
                  <a:pt x="392174" y="107411"/>
                </a:lnTo>
                <a:lnTo>
                  <a:pt x="516237" y="106710"/>
                </a:lnTo>
                <a:lnTo>
                  <a:pt x="524010" y="98849"/>
                </a:lnTo>
                <a:lnTo>
                  <a:pt x="523901" y="79560"/>
                </a:lnTo>
                <a:lnTo>
                  <a:pt x="516039" y="71786"/>
                </a:lnTo>
                <a:close/>
              </a:path>
              <a:path extrusionOk="0" h="174625" w="1033779">
                <a:moveTo>
                  <a:pt x="655772" y="70996"/>
                </a:moveTo>
                <a:lnTo>
                  <a:pt x="636449" y="71106"/>
                </a:lnTo>
                <a:lnTo>
                  <a:pt x="628871" y="78770"/>
                </a:lnTo>
                <a:lnTo>
                  <a:pt x="628783" y="98256"/>
                </a:lnTo>
                <a:lnTo>
                  <a:pt x="636645" y="106031"/>
                </a:lnTo>
                <a:lnTo>
                  <a:pt x="655968" y="105921"/>
                </a:lnTo>
                <a:lnTo>
                  <a:pt x="663742" y="98059"/>
                </a:lnTo>
                <a:lnTo>
                  <a:pt x="663634" y="78770"/>
                </a:lnTo>
                <a:lnTo>
                  <a:pt x="655772" y="70996"/>
                </a:lnTo>
                <a:close/>
              </a:path>
              <a:path extrusionOk="0" h="174625" w="1033779">
                <a:moveTo>
                  <a:pt x="1000033" y="69695"/>
                </a:moveTo>
                <a:lnTo>
                  <a:pt x="886152" y="69695"/>
                </a:lnTo>
                <a:lnTo>
                  <a:pt x="894013" y="77469"/>
                </a:lnTo>
                <a:lnTo>
                  <a:pt x="894123" y="96757"/>
                </a:lnTo>
                <a:lnTo>
                  <a:pt x="886349" y="104620"/>
                </a:lnTo>
                <a:lnTo>
                  <a:pt x="859242" y="104773"/>
                </a:lnTo>
                <a:lnTo>
                  <a:pt x="859637" y="174622"/>
                </a:lnTo>
                <a:lnTo>
                  <a:pt x="1033767" y="86324"/>
                </a:lnTo>
                <a:lnTo>
                  <a:pt x="1000033" y="69695"/>
                </a:lnTo>
                <a:close/>
              </a:path>
              <a:path extrusionOk="0" h="174625" w="1033779">
                <a:moveTo>
                  <a:pt x="859045" y="69848"/>
                </a:moveTo>
                <a:lnTo>
                  <a:pt x="776182" y="70317"/>
                </a:lnTo>
                <a:lnTo>
                  <a:pt x="768407" y="78178"/>
                </a:lnTo>
                <a:lnTo>
                  <a:pt x="768516" y="97467"/>
                </a:lnTo>
                <a:lnTo>
                  <a:pt x="776378" y="105241"/>
                </a:lnTo>
                <a:lnTo>
                  <a:pt x="859242" y="104773"/>
                </a:lnTo>
                <a:lnTo>
                  <a:pt x="859045" y="69848"/>
                </a:lnTo>
                <a:close/>
              </a:path>
              <a:path extrusionOk="0" h="174625" w="1033779">
                <a:moveTo>
                  <a:pt x="886152" y="69695"/>
                </a:moveTo>
                <a:lnTo>
                  <a:pt x="859045" y="69848"/>
                </a:lnTo>
                <a:lnTo>
                  <a:pt x="859242" y="104773"/>
                </a:lnTo>
                <a:lnTo>
                  <a:pt x="886349" y="104620"/>
                </a:lnTo>
                <a:lnTo>
                  <a:pt x="894123" y="96757"/>
                </a:lnTo>
                <a:lnTo>
                  <a:pt x="894013" y="77469"/>
                </a:lnTo>
                <a:lnTo>
                  <a:pt x="886152" y="69695"/>
                </a:lnTo>
                <a:close/>
              </a:path>
              <a:path extrusionOk="0" h="174625" w="1033779">
                <a:moveTo>
                  <a:pt x="858650" y="0"/>
                </a:moveTo>
                <a:lnTo>
                  <a:pt x="859045" y="69848"/>
                </a:lnTo>
                <a:lnTo>
                  <a:pt x="1000033" y="69695"/>
                </a:lnTo>
                <a:lnTo>
                  <a:pt x="85865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2d47119ddfd_1_1"/>
          <p:cNvSpPr txBox="1"/>
          <p:nvPr/>
        </p:nvSpPr>
        <p:spPr>
          <a:xfrm>
            <a:off x="1208125" y="4206025"/>
            <a:ext cx="2000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 Data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" name="Google Shape;113;g2d47119ddfd_1_1"/>
          <p:cNvSpPr txBox="1"/>
          <p:nvPr/>
        </p:nvSpPr>
        <p:spPr>
          <a:xfrm>
            <a:off x="6434527" y="4255400"/>
            <a:ext cx="1271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Execution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4" name="Google Shape;114;g2d47119ddfd_1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7007" y="4791869"/>
            <a:ext cx="1852358" cy="188295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2d47119ddfd_1_1"/>
          <p:cNvSpPr txBox="1"/>
          <p:nvPr/>
        </p:nvSpPr>
        <p:spPr>
          <a:xfrm rot="-5400000">
            <a:off x="6779713" y="5578259"/>
            <a:ext cx="1408500" cy="310500"/>
          </a:xfrm>
          <a:prstGeom prst="rect">
            <a:avLst/>
          </a:prstGeom>
          <a:solidFill>
            <a:srgbClr val="54A02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2876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g2d47119ddfd_1_1"/>
          <p:cNvSpPr txBox="1"/>
          <p:nvPr/>
        </p:nvSpPr>
        <p:spPr>
          <a:xfrm>
            <a:off x="8271044" y="5464450"/>
            <a:ext cx="1592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CAT</a:t>
            </a:r>
            <a:endParaRPr b="0" i="0" sz="3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17" name="Google Shape;117;g2d47119ddfd_1_1"/>
          <p:cNvGrpSpPr/>
          <p:nvPr/>
        </p:nvGrpSpPr>
        <p:grpSpPr>
          <a:xfrm>
            <a:off x="6844262" y="5588702"/>
            <a:ext cx="431643" cy="290378"/>
            <a:chOff x="7147118" y="5095519"/>
            <a:chExt cx="492125" cy="263525"/>
          </a:xfrm>
        </p:grpSpPr>
        <p:sp>
          <p:nvSpPr>
            <p:cNvPr id="118" name="Google Shape;118;g2d47119ddfd_1_1"/>
            <p:cNvSpPr/>
            <p:nvPr/>
          </p:nvSpPr>
          <p:spPr>
            <a:xfrm>
              <a:off x="7147118" y="5095519"/>
              <a:ext cx="492125" cy="263525"/>
            </a:xfrm>
            <a:custGeom>
              <a:rect b="b" l="l" r="r" t="t"/>
              <a:pathLst>
                <a:path extrusionOk="0" h="263525" w="492125">
                  <a:moveTo>
                    <a:pt x="360627" y="0"/>
                  </a:moveTo>
                  <a:lnTo>
                    <a:pt x="360627" y="65749"/>
                  </a:lnTo>
                  <a:lnTo>
                    <a:pt x="0" y="65749"/>
                  </a:lnTo>
                  <a:lnTo>
                    <a:pt x="0" y="197246"/>
                  </a:lnTo>
                  <a:lnTo>
                    <a:pt x="360627" y="197246"/>
                  </a:lnTo>
                  <a:lnTo>
                    <a:pt x="360627" y="262995"/>
                  </a:lnTo>
                  <a:lnTo>
                    <a:pt x="492126" y="131497"/>
                  </a:lnTo>
                  <a:lnTo>
                    <a:pt x="360627" y="0"/>
                  </a:lnTo>
                  <a:close/>
                </a:path>
              </a:pathLst>
            </a:custGeom>
            <a:solidFill>
              <a:srgbClr val="90C22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2d47119ddfd_1_1"/>
            <p:cNvSpPr/>
            <p:nvPr/>
          </p:nvSpPr>
          <p:spPr>
            <a:xfrm>
              <a:off x="7147118" y="5095519"/>
              <a:ext cx="492125" cy="263525"/>
            </a:xfrm>
            <a:custGeom>
              <a:rect b="b" l="l" r="r" t="t"/>
              <a:pathLst>
                <a:path extrusionOk="0" h="263525" w="492125">
                  <a:moveTo>
                    <a:pt x="0" y="65749"/>
                  </a:moveTo>
                  <a:lnTo>
                    <a:pt x="360628" y="65749"/>
                  </a:lnTo>
                  <a:lnTo>
                    <a:pt x="360628" y="0"/>
                  </a:lnTo>
                  <a:lnTo>
                    <a:pt x="492126" y="131498"/>
                  </a:lnTo>
                  <a:lnTo>
                    <a:pt x="360628" y="262996"/>
                  </a:lnTo>
                  <a:lnTo>
                    <a:pt x="360628" y="197247"/>
                  </a:lnTo>
                  <a:lnTo>
                    <a:pt x="0" y="197247"/>
                  </a:lnTo>
                  <a:lnTo>
                    <a:pt x="0" y="65749"/>
                  </a:lnTo>
                  <a:close/>
                </a:path>
              </a:pathLst>
            </a:custGeom>
            <a:noFill/>
            <a:ln cap="flat" cmpd="sng" w="19050">
              <a:solidFill>
                <a:srgbClr val="688E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g2d47119ddfd_1_1"/>
          <p:cNvGrpSpPr/>
          <p:nvPr/>
        </p:nvGrpSpPr>
        <p:grpSpPr>
          <a:xfrm>
            <a:off x="7705717" y="5588702"/>
            <a:ext cx="431643" cy="290378"/>
            <a:chOff x="8129281" y="5095519"/>
            <a:chExt cx="492125" cy="263525"/>
          </a:xfrm>
        </p:grpSpPr>
        <p:sp>
          <p:nvSpPr>
            <p:cNvPr id="121" name="Google Shape;121;g2d47119ddfd_1_1"/>
            <p:cNvSpPr/>
            <p:nvPr/>
          </p:nvSpPr>
          <p:spPr>
            <a:xfrm>
              <a:off x="8129281" y="5095519"/>
              <a:ext cx="492125" cy="263525"/>
            </a:xfrm>
            <a:custGeom>
              <a:rect b="b" l="l" r="r" t="t"/>
              <a:pathLst>
                <a:path extrusionOk="0" h="263525" w="492125">
                  <a:moveTo>
                    <a:pt x="360627" y="0"/>
                  </a:moveTo>
                  <a:lnTo>
                    <a:pt x="360627" y="65749"/>
                  </a:lnTo>
                  <a:lnTo>
                    <a:pt x="0" y="65749"/>
                  </a:lnTo>
                  <a:lnTo>
                    <a:pt x="0" y="197246"/>
                  </a:lnTo>
                  <a:lnTo>
                    <a:pt x="360627" y="197246"/>
                  </a:lnTo>
                  <a:lnTo>
                    <a:pt x="360627" y="262995"/>
                  </a:lnTo>
                  <a:lnTo>
                    <a:pt x="492126" y="131497"/>
                  </a:lnTo>
                  <a:lnTo>
                    <a:pt x="360627" y="0"/>
                  </a:lnTo>
                  <a:close/>
                </a:path>
              </a:pathLst>
            </a:custGeom>
            <a:solidFill>
              <a:srgbClr val="90C22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2d47119ddfd_1_1"/>
            <p:cNvSpPr/>
            <p:nvPr/>
          </p:nvSpPr>
          <p:spPr>
            <a:xfrm>
              <a:off x="8129281" y="5095519"/>
              <a:ext cx="492125" cy="263525"/>
            </a:xfrm>
            <a:custGeom>
              <a:rect b="b" l="l" r="r" t="t"/>
              <a:pathLst>
                <a:path extrusionOk="0" h="263525" w="492125">
                  <a:moveTo>
                    <a:pt x="0" y="65749"/>
                  </a:moveTo>
                  <a:lnTo>
                    <a:pt x="360628" y="65749"/>
                  </a:lnTo>
                  <a:lnTo>
                    <a:pt x="360628" y="0"/>
                  </a:lnTo>
                  <a:lnTo>
                    <a:pt x="492126" y="131498"/>
                  </a:lnTo>
                  <a:lnTo>
                    <a:pt x="360628" y="262996"/>
                  </a:lnTo>
                  <a:lnTo>
                    <a:pt x="360628" y="197247"/>
                  </a:lnTo>
                  <a:lnTo>
                    <a:pt x="0" y="197247"/>
                  </a:lnTo>
                  <a:lnTo>
                    <a:pt x="0" y="65749"/>
                  </a:lnTo>
                  <a:close/>
                </a:path>
              </a:pathLst>
            </a:custGeom>
            <a:noFill/>
            <a:ln cap="flat" cmpd="sng" w="19050">
              <a:solidFill>
                <a:srgbClr val="688E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47119ddfd_1_23"/>
          <p:cNvSpPr txBox="1"/>
          <p:nvPr>
            <p:ph type="title"/>
          </p:nvPr>
        </p:nvSpPr>
        <p:spPr>
          <a:xfrm>
            <a:off x="481981" y="799425"/>
            <a:ext cx="84600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800">
                <a:solidFill>
                  <a:schemeClr val="accent1"/>
                </a:solidFill>
              </a:rPr>
              <a:t>Unsupervised Learning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128" name="Google Shape;128;g2d47119ddfd_1_23"/>
          <p:cNvSpPr txBox="1"/>
          <p:nvPr/>
        </p:nvSpPr>
        <p:spPr>
          <a:xfrm>
            <a:off x="701575" y="1858900"/>
            <a:ext cx="9007800" cy="12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4040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Looks for previously undetected patterns in a data set with no pre-existing labels and with a minimum of human supervision.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9" name="Google Shape;129;g2d47119ddfd_1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3196" y="3791679"/>
            <a:ext cx="2376220" cy="2836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2d47119ddfd_1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5881" y="3736167"/>
            <a:ext cx="2373061" cy="2836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g2d47119ddfd_1_23"/>
          <p:cNvGrpSpPr/>
          <p:nvPr/>
        </p:nvGrpSpPr>
        <p:grpSpPr>
          <a:xfrm>
            <a:off x="4560926" y="4912784"/>
            <a:ext cx="780856" cy="558365"/>
            <a:chOff x="4069919" y="4901519"/>
            <a:chExt cx="890270" cy="506729"/>
          </a:xfrm>
        </p:grpSpPr>
        <p:sp>
          <p:nvSpPr>
            <p:cNvPr id="132" name="Google Shape;132;g2d47119ddfd_1_23"/>
            <p:cNvSpPr/>
            <p:nvPr/>
          </p:nvSpPr>
          <p:spPr>
            <a:xfrm>
              <a:off x="4069919" y="4901519"/>
              <a:ext cx="890270" cy="506729"/>
            </a:xfrm>
            <a:custGeom>
              <a:rect b="b" l="l" r="r" t="t"/>
              <a:pathLst>
                <a:path extrusionOk="0" h="506729" w="890270">
                  <a:moveTo>
                    <a:pt x="636535" y="0"/>
                  </a:moveTo>
                  <a:lnTo>
                    <a:pt x="636535" y="126578"/>
                  </a:lnTo>
                  <a:lnTo>
                    <a:pt x="0" y="126578"/>
                  </a:lnTo>
                  <a:lnTo>
                    <a:pt x="0" y="379735"/>
                  </a:lnTo>
                  <a:lnTo>
                    <a:pt x="636535" y="379735"/>
                  </a:lnTo>
                  <a:lnTo>
                    <a:pt x="636535" y="506314"/>
                  </a:lnTo>
                  <a:lnTo>
                    <a:pt x="889692" y="253156"/>
                  </a:lnTo>
                  <a:lnTo>
                    <a:pt x="636535" y="0"/>
                  </a:lnTo>
                  <a:close/>
                </a:path>
              </a:pathLst>
            </a:custGeom>
            <a:solidFill>
              <a:srgbClr val="90C22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2d47119ddfd_1_23"/>
            <p:cNvSpPr/>
            <p:nvPr/>
          </p:nvSpPr>
          <p:spPr>
            <a:xfrm>
              <a:off x="4069919" y="4901519"/>
              <a:ext cx="890270" cy="506729"/>
            </a:xfrm>
            <a:custGeom>
              <a:rect b="b" l="l" r="r" t="t"/>
              <a:pathLst>
                <a:path extrusionOk="0" h="506729" w="890270">
                  <a:moveTo>
                    <a:pt x="0" y="126578"/>
                  </a:moveTo>
                  <a:lnTo>
                    <a:pt x="636534" y="126578"/>
                  </a:lnTo>
                  <a:lnTo>
                    <a:pt x="636534" y="0"/>
                  </a:lnTo>
                  <a:lnTo>
                    <a:pt x="889692" y="253157"/>
                  </a:lnTo>
                  <a:lnTo>
                    <a:pt x="636534" y="506315"/>
                  </a:lnTo>
                  <a:lnTo>
                    <a:pt x="636534" y="379736"/>
                  </a:lnTo>
                  <a:lnTo>
                    <a:pt x="0" y="379736"/>
                  </a:lnTo>
                  <a:lnTo>
                    <a:pt x="0" y="126578"/>
                  </a:lnTo>
                  <a:close/>
                </a:path>
              </a:pathLst>
            </a:custGeom>
            <a:noFill/>
            <a:ln cap="flat" cmpd="sng" w="19050">
              <a:solidFill>
                <a:srgbClr val="688E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47119ddfd_0_47"/>
          <p:cNvSpPr txBox="1"/>
          <p:nvPr>
            <p:ph type="title"/>
          </p:nvPr>
        </p:nvSpPr>
        <p:spPr>
          <a:xfrm>
            <a:off x="511575" y="691175"/>
            <a:ext cx="10180800" cy="28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Reinforcement Learning (RL)</a:t>
            </a:r>
            <a:endParaRPr sz="4600">
              <a:solidFill>
                <a:srgbClr val="0E71B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39" name="Google Shape;139;g2d47119ddfd_0_4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2d47119ddfd_0_4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1" name="Google Shape;141;g2d47119ddfd_0_4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2" name="Google Shape;142;g2d47119ddfd_0_47"/>
          <p:cNvPicPr preferRelativeResize="0"/>
          <p:nvPr/>
        </p:nvPicPr>
        <p:blipFill rotWithShape="1">
          <a:blip r:embed="rId4">
            <a:alphaModFix/>
          </a:blip>
          <a:srcRect b="29661" l="0" r="0" t="0"/>
          <a:stretch/>
        </p:blipFill>
        <p:spPr>
          <a:xfrm>
            <a:off x="439100" y="1533380"/>
            <a:ext cx="10693401" cy="365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d47119ddfd_0_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6625" y="3149725"/>
            <a:ext cx="4916775" cy="4396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47119ddfd_0_5"/>
          <p:cNvSpPr txBox="1"/>
          <p:nvPr>
            <p:ph type="title"/>
          </p:nvPr>
        </p:nvSpPr>
        <p:spPr>
          <a:xfrm>
            <a:off x="309300" y="74445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Reinforcement Learning (RL)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49" name="Google Shape;149;g2d47119ddfd_0_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2d47119ddfd_0_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1" name="Google Shape;151;g2d47119ddfd_0_5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2" name="Google Shape;152;g2d47119ddfd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500" y="2434725"/>
            <a:ext cx="10231901" cy="2855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47119ddfd_0_57"/>
          <p:cNvSpPr txBox="1"/>
          <p:nvPr>
            <p:ph type="title"/>
          </p:nvPr>
        </p:nvSpPr>
        <p:spPr>
          <a:xfrm>
            <a:off x="309300" y="74445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Motivação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58" name="Google Shape;158;g2d47119ddfd_0_5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2d47119ddfd_0_5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0" name="Google Shape;160;g2d47119ddfd_0_5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1" name="Google Shape;161;g2d47119ddfd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300" y="2436450"/>
            <a:ext cx="9200200" cy="30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47119ddfd_1_254"/>
          <p:cNvSpPr txBox="1"/>
          <p:nvPr>
            <p:ph type="title"/>
          </p:nvPr>
        </p:nvSpPr>
        <p:spPr>
          <a:xfrm>
            <a:off x="481981" y="799425"/>
            <a:ext cx="84600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800">
                <a:solidFill>
                  <a:schemeClr val="accent1"/>
                </a:solidFill>
              </a:rPr>
              <a:t>Reinforcement Learning</a:t>
            </a:r>
            <a:endParaRPr sz="4800">
              <a:solidFill>
                <a:schemeClr val="accent1"/>
              </a:solidFill>
            </a:endParaRPr>
          </a:p>
        </p:txBody>
      </p:sp>
      <p:pic>
        <p:nvPicPr>
          <p:cNvPr id="167" name="Google Shape;167;g2d47119ddfd_1_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275" y="2311125"/>
            <a:ext cx="9037775" cy="357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47119ddfd_1_371"/>
          <p:cNvSpPr txBox="1"/>
          <p:nvPr>
            <p:ph type="title"/>
          </p:nvPr>
        </p:nvSpPr>
        <p:spPr>
          <a:xfrm>
            <a:off x="481981" y="799425"/>
            <a:ext cx="84600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800">
                <a:solidFill>
                  <a:schemeClr val="accent1"/>
                </a:solidFill>
              </a:rPr>
              <a:t>Reinforcement Learning</a:t>
            </a:r>
            <a:endParaRPr sz="4800">
              <a:solidFill>
                <a:schemeClr val="accent1"/>
              </a:solidFill>
            </a:endParaRPr>
          </a:p>
        </p:txBody>
      </p:sp>
      <p:pic>
        <p:nvPicPr>
          <p:cNvPr id="173" name="Google Shape;173;g2d47119ddfd_1_371"/>
          <p:cNvPicPr preferRelativeResize="0"/>
          <p:nvPr/>
        </p:nvPicPr>
        <p:blipFill rotWithShape="1">
          <a:blip r:embed="rId3">
            <a:alphaModFix/>
          </a:blip>
          <a:srcRect b="10975" l="3328" r="2118" t="5102"/>
          <a:stretch/>
        </p:blipFill>
        <p:spPr>
          <a:xfrm>
            <a:off x="319750" y="1950400"/>
            <a:ext cx="9869276" cy="437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47119ddfd_0_78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Core concepts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79" name="Google Shape;179;g2d47119ddfd_0_7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2d47119ddfd_0_7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1" name="Google Shape;181;g2d47119ddfd_0_7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2" name="Google Shape;182;g2d47119ddfd_0_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4775" y="1724675"/>
            <a:ext cx="7736725" cy="45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2d47119ddfd_0_78"/>
          <p:cNvSpPr txBox="1"/>
          <p:nvPr/>
        </p:nvSpPr>
        <p:spPr>
          <a:xfrm>
            <a:off x="3229375" y="5638050"/>
            <a:ext cx="386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(do ambiente)</a:t>
            </a:r>
            <a:endParaRPr b="0" i="0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g2d47119ddfd_0_78"/>
          <p:cNvSpPr txBox="1"/>
          <p:nvPr/>
        </p:nvSpPr>
        <p:spPr>
          <a:xfrm>
            <a:off x="6831700" y="4401750"/>
            <a:ext cx="3000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função de valor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estima o valor de estar em um determinado estado ou de tomar uma determinada ação em um estado. Isso ajuda o agente a avaliar quais ações são mais vantajosas a longo prazo.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47119ddfd_0_15"/>
          <p:cNvSpPr txBox="1"/>
          <p:nvPr>
            <p:ph type="title"/>
          </p:nvPr>
        </p:nvSpPr>
        <p:spPr>
          <a:xfrm>
            <a:off x="309300" y="74445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Interaction Loop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90" name="Google Shape;190;g2d47119ddfd_0_1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2d47119ddfd_0_1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2" name="Google Shape;192;g2d47119ddfd_0_15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3" name="Google Shape;193;g2d47119ddfd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9525" y="1962750"/>
            <a:ext cx="8286750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47119ddfd_1_265"/>
          <p:cNvSpPr txBox="1"/>
          <p:nvPr>
            <p:ph type="title"/>
          </p:nvPr>
        </p:nvSpPr>
        <p:spPr>
          <a:xfrm>
            <a:off x="309300" y="74445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Interaction Loop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99" name="Google Shape;199;g2d47119ddfd_1_26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2d47119ddfd_1_26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1" name="Google Shape;201;g2d47119ddfd_1_265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2" name="Google Shape;202;g2d47119ddfd_1_2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2425" y="2244600"/>
            <a:ext cx="5283450" cy="36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2d47119ddfd_1_265"/>
          <p:cNvSpPr txBox="1"/>
          <p:nvPr/>
        </p:nvSpPr>
        <p:spPr>
          <a:xfrm>
            <a:off x="7108875" y="1321925"/>
            <a:ext cx="3000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agente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"tomador de decisões" no sistema. Ele interage com o ambiente, escolhe ações com base em uma política, e seu objetivo é maximizar a recompensa ao longo do tempo.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2d47119ddfd_1_265"/>
          <p:cNvSpPr txBox="1"/>
          <p:nvPr/>
        </p:nvSpPr>
        <p:spPr>
          <a:xfrm>
            <a:off x="7351525" y="4414300"/>
            <a:ext cx="30000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ambiente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mundo com o qual o agente interage. Ele contém todas as condições e regras que definem as possíveis situações (ou estados) que o agente pode encontrar. O ambiente responde às ações do agente com novos estados e recompensas.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47119ddfd_1_274"/>
          <p:cNvSpPr txBox="1"/>
          <p:nvPr>
            <p:ph type="title"/>
          </p:nvPr>
        </p:nvSpPr>
        <p:spPr>
          <a:xfrm>
            <a:off x="309300" y="74445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Interaction Loop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10" name="Google Shape;210;g2d47119ddfd_1_27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2d47119ddfd_1_27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2" name="Google Shape;212;g2d47119ddfd_1_274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3" name="Google Shape;213;g2d47119ddfd_1_2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075" y="1959175"/>
            <a:ext cx="6476849" cy="36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d47119ddfd_1_274"/>
          <p:cNvSpPr txBox="1"/>
          <p:nvPr/>
        </p:nvSpPr>
        <p:spPr>
          <a:xfrm>
            <a:off x="309300" y="4806750"/>
            <a:ext cx="3000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estado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representação da situação atual do ambiente. Ele descreve o contexto em que o agente está, fornecendo informações que o agente utiliza para decidir suas ações.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d47119ddfd_1_283"/>
          <p:cNvSpPr txBox="1"/>
          <p:nvPr>
            <p:ph type="title"/>
          </p:nvPr>
        </p:nvSpPr>
        <p:spPr>
          <a:xfrm>
            <a:off x="309300" y="74445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Interaction Loop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20" name="Google Shape;220;g2d47119ddfd_1_28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2d47119ddfd_1_28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2" name="Google Shape;222;g2d47119ddfd_1_283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3" name="Google Shape;223;g2d47119ddfd_1_2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525" y="2108800"/>
            <a:ext cx="9269250" cy="36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2d47119ddfd_1_283"/>
          <p:cNvSpPr txBox="1"/>
          <p:nvPr/>
        </p:nvSpPr>
        <p:spPr>
          <a:xfrm>
            <a:off x="7385975" y="4636225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ação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que o agente faz em resposta ao estado atual. Cada ação pode alterar o estado do ambiente.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d47119ddfd_1_292"/>
          <p:cNvSpPr txBox="1"/>
          <p:nvPr>
            <p:ph type="title"/>
          </p:nvPr>
        </p:nvSpPr>
        <p:spPr>
          <a:xfrm>
            <a:off x="309300" y="74445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Interaction Loop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30" name="Google Shape;230;g2d47119ddfd_1_29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2d47119ddfd_1_29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2" name="Google Shape;232;g2d47119ddfd_1_292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3" name="Google Shape;233;g2d47119ddfd_1_2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000" y="2387375"/>
            <a:ext cx="9647001" cy="326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2d47119ddfd_1_292"/>
          <p:cNvSpPr txBox="1"/>
          <p:nvPr/>
        </p:nvSpPr>
        <p:spPr>
          <a:xfrm>
            <a:off x="1151050" y="5265025"/>
            <a:ext cx="30000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recompensa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feedback que o agente recebe do ambiente após tomar uma ação. Ela pode ser positiva ou negativa, dependendo de como a ação do agente aproxima (ou afasta) seu objetivo. O agente tenta maximizar a soma das recompensas ao longo do tempo.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d47119ddfd_1_328"/>
          <p:cNvSpPr txBox="1"/>
          <p:nvPr>
            <p:ph type="title"/>
          </p:nvPr>
        </p:nvSpPr>
        <p:spPr>
          <a:xfrm>
            <a:off x="309300" y="74445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Interaction Loop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40" name="Google Shape;240;g2d47119ddfd_1_32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2d47119ddfd_1_32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2" name="Google Shape;242;g2d47119ddfd_1_32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3" name="Google Shape;243;g2d47119ddfd_1_3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200" y="1929100"/>
            <a:ext cx="6207425" cy="47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2d47119ddfd_1_328"/>
          <p:cNvSpPr txBox="1"/>
          <p:nvPr/>
        </p:nvSpPr>
        <p:spPr>
          <a:xfrm>
            <a:off x="6607875" y="2035700"/>
            <a:ext cx="30000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política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a estratégia que o agente segue para escolher suas ações com base no estado atual. Ela pode ser determinística (sempre toma a mesma ação para um dado estado) ou estocástica (escolhe ações de forma probabilística).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47119ddfd_1_301"/>
          <p:cNvSpPr txBox="1"/>
          <p:nvPr>
            <p:ph type="title"/>
          </p:nvPr>
        </p:nvSpPr>
        <p:spPr>
          <a:xfrm>
            <a:off x="309300" y="74445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Interaction Loop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50" name="Google Shape;250;g2d47119ddfd_1_30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2d47119ddfd_1_30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2" name="Google Shape;252;g2d47119ddfd_1_301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3" name="Google Shape;253;g2d47119ddfd_1_3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216575"/>
            <a:ext cx="10047276" cy="339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cc3613f94_0_0"/>
          <p:cNvSpPr txBox="1"/>
          <p:nvPr>
            <p:ph type="title"/>
          </p:nvPr>
        </p:nvSpPr>
        <p:spPr>
          <a:xfrm>
            <a:off x="511575" y="691175"/>
            <a:ext cx="10180800" cy="28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Markov Decision Process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59" name="Google Shape;259;g35cc3613f94_0_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5cc3613f94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1" name="Google Shape;261;g35cc3613f94_0_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2" name="Google Shape;262;g35cc3613f94_0_0"/>
          <p:cNvSpPr txBox="1"/>
          <p:nvPr/>
        </p:nvSpPr>
        <p:spPr>
          <a:xfrm>
            <a:off x="437000" y="1724675"/>
            <a:ext cx="9677400" cy="3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g35cc3613f94_0_0"/>
          <p:cNvSpPr txBox="1"/>
          <p:nvPr/>
        </p:nvSpPr>
        <p:spPr>
          <a:xfrm>
            <a:off x="398350" y="1724675"/>
            <a:ext cx="98967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 matemático usado em RL que descreve como o agente interage com o ambiente. Fundação teórica para quase todos os algoritmos.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estado futuro depende apenas do estado atual e da ação atual.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4" name="Google Shape;264;g35cc3613f9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7398" y="2593638"/>
            <a:ext cx="4794625" cy="17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5cc3613f94_0_0"/>
          <p:cNvPicPr preferRelativeResize="0"/>
          <p:nvPr/>
        </p:nvPicPr>
        <p:blipFill rotWithShape="1">
          <a:blip r:embed="rId5">
            <a:alphaModFix/>
          </a:blip>
          <a:srcRect b="11381" l="12588" r="14263" t="14522"/>
          <a:stretch/>
        </p:blipFill>
        <p:spPr>
          <a:xfrm>
            <a:off x="3110750" y="5003100"/>
            <a:ext cx="4182176" cy="238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g2d47119ddfd_0_6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2d47119ddfd_0_6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2" name="Google Shape;272;g2d47119ddfd_0_6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3" name="Google Shape;273;g2d47119ddfd_0_68"/>
          <p:cNvPicPr preferRelativeResize="0"/>
          <p:nvPr/>
        </p:nvPicPr>
        <p:blipFill rotWithShape="1">
          <a:blip r:embed="rId4">
            <a:alphaModFix/>
          </a:blip>
          <a:srcRect b="0" l="2074" r="3612" t="23453"/>
          <a:stretch/>
        </p:blipFill>
        <p:spPr>
          <a:xfrm>
            <a:off x="309850" y="1540825"/>
            <a:ext cx="10180250" cy="2494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d47119ddfd_0_34"/>
          <p:cNvSpPr txBox="1"/>
          <p:nvPr>
            <p:ph type="title"/>
          </p:nvPr>
        </p:nvSpPr>
        <p:spPr>
          <a:xfrm>
            <a:off x="309300" y="74445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Reinforcement Learning (RL)</a:t>
            </a:r>
            <a:endParaRPr sz="4600">
              <a:solidFill>
                <a:srgbClr val="0E71B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79" name="Google Shape;279;g2d47119ddfd_0_3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2d47119ddfd_0_3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1" name="Google Shape;281;g2d47119ddfd_0_34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2" name="Google Shape;282;g2d47119ddfd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925" y="1704350"/>
            <a:ext cx="10079400" cy="49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d47119ddfd_0_25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(“online” solutions)</a:t>
            </a:r>
            <a:endParaRPr sz="4600">
              <a:solidFill>
                <a:srgbClr val="0E71B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88" name="Google Shape;288;g2d47119ddfd_0_2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2d47119ddfd_0_2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0" name="Google Shape;290;g2d47119ddfd_0_25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1" name="Google Shape;291;g2d47119ddfd_0_25"/>
          <p:cNvSpPr txBox="1"/>
          <p:nvPr/>
        </p:nvSpPr>
        <p:spPr>
          <a:xfrm>
            <a:off x="511575" y="1875825"/>
            <a:ext cx="8952600" cy="28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RL, the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constantly balancing between exploring new actions (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exploration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and using what it already knows to make decisions (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exploitation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the agent encounters an unforeseen circumstance (like a robot navigating an unexpected terrain), it can try different actions and observe their outcomes. 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Keywords:</a:t>
            </a:r>
            <a:endParaRPr b="1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Rewards and Feedback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Continuous Learning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47119ddfd_1_87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Atari example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97" name="Google Shape;297;g2d47119ddfd_1_8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2d47119ddfd_1_8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9" name="Google Shape;299;g2d47119ddfd_1_8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0" name="Google Shape;300;g2d47119ddfd_1_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550" y="1724675"/>
            <a:ext cx="9915549" cy="476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d47119ddfd_1_381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Q-Learning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06" name="Google Shape;306;g2d47119ddfd_1_38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2d47119ddfd_1_38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8" name="Google Shape;308;g2d47119ddfd_1_381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9" name="Google Shape;309;g2d47119ddfd_1_381"/>
          <p:cNvSpPr txBox="1"/>
          <p:nvPr/>
        </p:nvSpPr>
        <p:spPr>
          <a:xfrm>
            <a:off x="437000" y="1724675"/>
            <a:ext cx="9677400" cy="3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Algoritmo de RL sem modelo, que se baseia em valores e não depende de uma política fixa. 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Visa encontrar a melhor sequência de ações a partir do estado atual do agente, onde "Q" indica a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qualidade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uma ação específica, ajudando a maximizar as recompensas futuras ao longo do tempo.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cc3613f94_0_15"/>
          <p:cNvSpPr txBox="1"/>
          <p:nvPr>
            <p:ph type="title"/>
          </p:nvPr>
        </p:nvSpPr>
        <p:spPr>
          <a:xfrm>
            <a:off x="511575" y="691175"/>
            <a:ext cx="10180800" cy="28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Q-Learning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15" name="Google Shape;315;g35cc3613f94_0_1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5cc3613f94_0_1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7" name="Google Shape;317;g35cc3613f94_0_15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g35cc3613f94_0_15"/>
          <p:cNvSpPr txBox="1"/>
          <p:nvPr/>
        </p:nvSpPr>
        <p:spPr>
          <a:xfrm>
            <a:off x="437000" y="1724675"/>
            <a:ext cx="9677400" cy="3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●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 preditivo (</a:t>
            </a:r>
            <a:r>
              <a:rPr b="0" i="1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model-Free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sem MDP explícito).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●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Embora seja fundamentados em MDPs, não precisa conhecer o modelo MDP (P e R).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●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Seguem a lógica de um MDP, mas aprendem diretamente das experiências, sem saber o modelo de transição ou recompensa.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500"/>
              <a:buFont typeface="Helvetica Neue"/>
              <a:buChar char="○"/>
            </a:pPr>
            <a:r>
              <a:rPr b="0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Mesmo sem conhecer P(s′∣s,a) nem R(s,a), pode usar Q-learning para </a:t>
            </a:r>
            <a:r>
              <a:rPr b="1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aprender empiricamente</a:t>
            </a:r>
            <a:r>
              <a:rPr b="0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os valores Q(s,a) por tentativa e erro.</a:t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500"/>
              <a:buFont typeface="Helvetica Neue"/>
              <a:buChar char="○"/>
            </a:pPr>
            <a:r>
              <a:rPr b="0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agente </a:t>
            </a:r>
            <a:r>
              <a:rPr b="1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aprende a política ótima</a:t>
            </a:r>
            <a:r>
              <a:rPr b="0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 base nos valores de Q (sem conhecer o MDP completo).</a:t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cc3613f94_1_1"/>
          <p:cNvSpPr txBox="1"/>
          <p:nvPr>
            <p:ph type="title"/>
          </p:nvPr>
        </p:nvSpPr>
        <p:spPr>
          <a:xfrm>
            <a:off x="511575" y="691175"/>
            <a:ext cx="10180800" cy="28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(model-free)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24" name="Google Shape;324;g35cc3613f94_1_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5cc3613f94_1_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6" name="Google Shape;326;g35cc3613f94_1_1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g35cc3613f94_1_1"/>
          <p:cNvSpPr txBox="1"/>
          <p:nvPr/>
        </p:nvSpPr>
        <p:spPr>
          <a:xfrm>
            <a:off x="437000" y="1724675"/>
            <a:ext cx="9677400" cy="3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</a:t>
            </a:r>
            <a:r>
              <a:rPr b="1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RL</a:t>
            </a: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um algoritmo é considerado </a:t>
            </a:r>
            <a:r>
              <a:rPr b="1" i="1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model-free</a:t>
            </a: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quando:</a:t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 </a:t>
            </a:r>
            <a:r>
              <a:rPr b="1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tenta aprender</a:t>
            </a: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nem usa explicitamente o </a:t>
            </a:r>
            <a:r>
              <a:rPr b="1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 do ambiente</a:t>
            </a: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ou seja:</a:t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○"/>
            </a:pPr>
            <a:r>
              <a:rPr b="1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estima</a:t>
            </a: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probabilidades de transição.</a:t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○"/>
            </a:pPr>
            <a:r>
              <a:rPr b="1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Nem estima</a:t>
            </a: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função de recompensa.</a:t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 aprende </a:t>
            </a:r>
            <a:r>
              <a:rPr b="1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apenas com base nas interações reais</a:t>
            </a: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b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(s,a,r,s′) observados diretamente.</a:t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Helvetica Neue"/>
              <a:buChar char="●"/>
            </a:pPr>
            <a:r>
              <a:rPr b="0" i="1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Model-free</a:t>
            </a: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é adequado para ambientes estocásticos; </a:t>
            </a:r>
            <a:r>
              <a:rPr b="0" i="1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model-based</a:t>
            </a:r>
            <a:r>
              <a:rPr b="0" i="0" lang="pt-BR" sz="2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é ideal quando o ambiente é previsível ou relativamente determinístico.</a:t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d47119ddfd_1_391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Modelo x Valor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33" name="Google Shape;333;g2d47119ddfd_1_39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2d47119ddfd_1_39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5" name="Google Shape;335;g2d47119ddfd_1_391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6" name="Google Shape;336;g2d47119ddfd_1_391"/>
          <p:cNvSpPr txBox="1"/>
          <p:nvPr/>
        </p:nvSpPr>
        <p:spPr>
          <a:xfrm>
            <a:off x="437000" y="1724675"/>
            <a:ext cx="9677400" cy="3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Algoritmos baseados em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usam funções de transição e recompensa para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estimar a política ideal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criar o modelo. 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outro lado, os algoritmos sem modelo aprendem as consequências de suas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 por meio da experiência 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 transição e função de recompensa. 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método baseado em valor treina a função de valor para saber qual estado é mais valioso e tomar medidas. Por outro lado, os métodos baseados em políticas treinam a política diretamente para aprender qual ação deve ser tomada em um determinado estado.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d47119ddfd_1_400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Função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42" name="Google Shape;342;g2d47119ddfd_1_40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2d47119ddfd_1_40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4" name="Google Shape;344;g2d47119ddfd_1_40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5" name="Google Shape;345;g2d47119ddfd_1_400"/>
          <p:cNvSpPr txBox="1"/>
          <p:nvPr/>
        </p:nvSpPr>
        <p:spPr>
          <a:xfrm>
            <a:off x="437000" y="1724675"/>
            <a:ext cx="9677400" cy="3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função Q usa a equação de Bellman e usa estado(s) e ação(a) como entrada. 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6" name="Google Shape;346;g2d47119ddfd_1_4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9200" y="2935400"/>
            <a:ext cx="8424525" cy="3540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2d47119ddfd_1_400"/>
          <p:cNvSpPr txBox="1"/>
          <p:nvPr/>
        </p:nvSpPr>
        <p:spPr>
          <a:xfrm>
            <a:off x="543550" y="6458725"/>
            <a:ext cx="8473200" cy="650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 de aplicação: </a:t>
            </a:r>
            <a:r>
              <a:rPr b="0" i="0" lang="pt-BR" sz="27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https://italolelis.com/snake</a:t>
            </a:r>
            <a:endParaRPr b="0" i="0" sz="27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d47119ddfd_1_600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Hora da prática!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53" name="Google Shape;353;g2d47119ddfd_1_60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2d47119ddfd_1_60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5" name="Google Shape;355;g2d47119ddfd_1_60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6" name="Google Shape;356;g2d47119ddfd_1_600"/>
          <p:cNvSpPr txBox="1"/>
          <p:nvPr/>
        </p:nvSpPr>
        <p:spPr>
          <a:xfrm>
            <a:off x="607500" y="1811850"/>
            <a:ext cx="9882600" cy="3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Vamos criar nosso primeiro “</a:t>
            </a:r>
            <a:r>
              <a:rPr b="0" i="1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self-solving game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usando RL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isso vamos usar </a:t>
            </a:r>
            <a:r>
              <a:rPr b="1" i="0" lang="pt-BR" sz="27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Gymnasium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um </a:t>
            </a:r>
            <a:r>
              <a:rPr b="0" i="1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ativo da biblioteca/</a:t>
            </a:r>
            <a:r>
              <a:rPr b="0" i="1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toolkit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open-source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Gym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desenvolvida pela OpenAI que fornece um conjunto de ambientes padronizados para o treinamento e avaliação de algoritmos de RL.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d47119ddfd_1_413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Algoritmo de aprendizado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62" name="Google Shape;362;g2d47119ddfd_1_41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2d47119ddfd_1_41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4" name="Google Shape;364;g2d47119ddfd_1_413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5" name="Google Shape;365;g2d47119ddfd_1_4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1250" y="2066225"/>
            <a:ext cx="4046850" cy="45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d47119ddfd_1_564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Exemplo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71" name="Google Shape;371;g2d47119ddfd_1_56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2d47119ddfd_1_56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3" name="Google Shape;373;g2d47119ddfd_1_564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4" name="Google Shape;374;g2d47119ddfd_1_5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425" y="1893675"/>
            <a:ext cx="3575175" cy="35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2d47119ddfd_1_564"/>
          <p:cNvSpPr txBox="1"/>
          <p:nvPr/>
        </p:nvSpPr>
        <p:spPr>
          <a:xfrm>
            <a:off x="1809025" y="5574100"/>
            <a:ext cx="186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accent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Fonte</a:t>
            </a:r>
            <a:endParaRPr b="0" i="0" sz="16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d47119ddfd_1_424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Algoritmo de aprendizado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81" name="Google Shape;381;g2d47119ddfd_1_42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2d47119ddfd_1_42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3" name="Google Shape;383;g2d47119ddfd_1_424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4" name="Google Shape;384;g2d47119ddfd_1_424"/>
          <p:cNvPicPr preferRelativeResize="0"/>
          <p:nvPr/>
        </p:nvPicPr>
        <p:blipFill rotWithShape="1">
          <a:blip r:embed="rId4">
            <a:alphaModFix/>
          </a:blip>
          <a:srcRect b="84038" l="0" r="0" t="0"/>
          <a:stretch/>
        </p:blipFill>
        <p:spPr>
          <a:xfrm>
            <a:off x="-423150" y="1728300"/>
            <a:ext cx="4046850" cy="7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2d47119ddfd_1_4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7800" y="2617450"/>
            <a:ext cx="5648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2d47119ddfd_1_424"/>
          <p:cNvSpPr txBox="1"/>
          <p:nvPr/>
        </p:nvSpPr>
        <p:spPr>
          <a:xfrm>
            <a:off x="149725" y="6671925"/>
            <a:ext cx="9549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Tabela com colunas baseadas no número de ações e linhas baseadas no número de estados.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ator pode se mover para cima, para baixo, para a esquerda e para a direita. Temos quatro ações possíveis e quatro estados (início, ocioso, caminho errado (buraco) e fim). 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d47119ddfd_1_436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Algoritmo de aprendizado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92" name="Google Shape;392;g2d47119ddfd_1_43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2d47119ddfd_1_43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4" name="Google Shape;394;g2d47119ddfd_1_436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5" name="Google Shape;395;g2d47119ddfd_1_436"/>
          <p:cNvPicPr preferRelativeResize="0"/>
          <p:nvPr/>
        </p:nvPicPr>
        <p:blipFill rotWithShape="1">
          <a:blip r:embed="rId4">
            <a:alphaModFix/>
          </a:blip>
          <a:srcRect b="62595" l="29498" r="0" t="0"/>
          <a:stretch/>
        </p:blipFill>
        <p:spPr>
          <a:xfrm>
            <a:off x="436975" y="1605900"/>
            <a:ext cx="2853150" cy="17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2d47119ddfd_1_436"/>
          <p:cNvSpPr txBox="1"/>
          <p:nvPr/>
        </p:nvSpPr>
        <p:spPr>
          <a:xfrm>
            <a:off x="3791125" y="1939750"/>
            <a:ext cx="59076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segunda etapa é bastante simples. No início, o agente escolherá tomar a ação aleatória (para baixo ou para a direita) e, na segunda execução, usará um Q-Table atualizado para selecionar a ação.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d47119ddfd_1_450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Algoritmo de aprendizado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02" name="Google Shape;402;g2d47119ddfd_1_45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2d47119ddfd_1_45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4" name="Google Shape;404;g2d47119ddfd_1_45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5" name="Google Shape;405;g2d47119ddfd_1_450"/>
          <p:cNvPicPr preferRelativeResize="0"/>
          <p:nvPr/>
        </p:nvPicPr>
        <p:blipFill rotWithShape="1">
          <a:blip r:embed="rId4">
            <a:alphaModFix/>
          </a:blip>
          <a:srcRect b="42888" l="29498" r="0" t="0"/>
          <a:stretch/>
        </p:blipFill>
        <p:spPr>
          <a:xfrm>
            <a:off x="436975" y="1605900"/>
            <a:ext cx="2853150" cy="26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2d47119ddfd_1_450"/>
          <p:cNvSpPr txBox="1"/>
          <p:nvPr/>
        </p:nvSpPr>
        <p:spPr>
          <a:xfrm>
            <a:off x="3791125" y="1939750"/>
            <a:ext cx="59076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escolha de uma ação e a execução da ação serão repetidas várias vezes até que o loop de treinamento seja interrompido. A primeira ação e o primeiro estado são selecionados usando o Q-Table. Em nosso caso, todos os valores do Q-Table são zero.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seguida, o agente se moverá para baixo e atualizará o Q-Table usando a equação de Bellman. A cada jogada, atualizaremos os valores no Q-Table e também o usaremos para determinar o melhor curso de ação.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d47119ddfd_1_460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Algoritmo de aprendizado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12" name="Google Shape;412;g2d47119ddfd_1_46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2d47119ddfd_1_46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4" name="Google Shape;414;g2d47119ddfd_1_46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5" name="Google Shape;415;g2d47119ddfd_1_460"/>
          <p:cNvPicPr preferRelativeResize="0"/>
          <p:nvPr/>
        </p:nvPicPr>
        <p:blipFill rotWithShape="1">
          <a:blip r:embed="rId4">
            <a:alphaModFix/>
          </a:blip>
          <a:srcRect b="42888" l="29498" r="0" t="0"/>
          <a:stretch/>
        </p:blipFill>
        <p:spPr>
          <a:xfrm>
            <a:off x="436975" y="1605900"/>
            <a:ext cx="2853150" cy="26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2d47119ddfd_1_460"/>
          <p:cNvSpPr txBox="1"/>
          <p:nvPr/>
        </p:nvSpPr>
        <p:spPr>
          <a:xfrm>
            <a:off x="3791125" y="1939750"/>
            <a:ext cx="59076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Inicialmente, o agente está no modo de exploração e escolhe uma ação aleatória para explorar o ambiente. A estratégia Epsilon Greedy é um método simples para equilibrar a exploração e o aproveitamento. O epsilon representa a probabilidade de escolher explorar e explora quando há menos chances de explorar. </a:t>
            </a:r>
            <a:endParaRPr b="0" i="0" sz="19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início, a taxa de epsilon é mais alta, o que significa que o agente está no modo de exploração. Ao explorar o ambiente, o epsilon diminui e os agentes começam a explorar o ambiente. Durante a exploração, a cada iteração, o agente se torna mais confiante na estimativa dos valores Q.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d47119ddfd_1_469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Algoritmo de aprendizado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22" name="Google Shape;422;g2d47119ddfd_1_46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2d47119ddfd_1_46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4" name="Google Shape;424;g2d47119ddfd_1_46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25" name="Google Shape;425;g2d47119ddfd_1_469"/>
          <p:cNvPicPr preferRelativeResize="0"/>
          <p:nvPr/>
        </p:nvPicPr>
        <p:blipFill rotWithShape="1">
          <a:blip r:embed="rId4">
            <a:alphaModFix/>
          </a:blip>
          <a:srcRect b="42888" l="29498" r="0" t="0"/>
          <a:stretch/>
        </p:blipFill>
        <p:spPr>
          <a:xfrm>
            <a:off x="436975" y="1605900"/>
            <a:ext cx="2853150" cy="26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2d47119ddfd_1_4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98300" y="2191175"/>
            <a:ext cx="5648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2d47119ddfd_1_469"/>
          <p:cNvSpPr txBox="1"/>
          <p:nvPr/>
        </p:nvSpPr>
        <p:spPr>
          <a:xfrm>
            <a:off x="1508700" y="6192275"/>
            <a:ext cx="64374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5192D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No exemplo do lago congelado, o agente não tem conhecimento do ambiente e, portanto, toma uma ação aleatória (mover-se para baixo) para começar. Como podemos ver na imagem acima, o Q-Table é atualizado usando a equação de Bellman.</a:t>
            </a:r>
            <a:endParaRPr b="0" i="0" sz="1100" u="none" cap="none" strike="noStrike">
              <a:solidFill>
                <a:srgbClr val="05192D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d47119ddfd_1_482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Algoritmo de aprendizado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33" name="Google Shape;433;g2d47119ddfd_1_48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2d47119ddfd_1_48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5" name="Google Shape;435;g2d47119ddfd_1_482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6" name="Google Shape;436;g2d47119ddfd_1_482"/>
          <p:cNvPicPr preferRelativeResize="0"/>
          <p:nvPr/>
        </p:nvPicPr>
        <p:blipFill rotWithShape="1">
          <a:blip r:embed="rId4">
            <a:alphaModFix/>
          </a:blip>
          <a:srcRect b="21789" l="29498" r="0" t="0"/>
          <a:stretch/>
        </p:blipFill>
        <p:spPr>
          <a:xfrm>
            <a:off x="436975" y="1605900"/>
            <a:ext cx="2853150" cy="359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2d47119ddfd_1_482"/>
          <p:cNvSpPr txBox="1"/>
          <p:nvPr/>
        </p:nvSpPr>
        <p:spPr>
          <a:xfrm>
            <a:off x="3846700" y="2214900"/>
            <a:ext cx="64596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Depois de realizar a ação, mediremos o resultado e a recompensa.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recompensa por atingir a meta é +1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recompensa por seguir o caminho errado (cair no buraco) é 0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recompensa por ficar ocioso ou se mover no lago congelado também é 0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É possível aplicar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reward shaping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47119ddfd_1_500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Algoritmo de aprendizado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43" name="Google Shape;443;g2d47119ddfd_1_50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2d47119ddfd_1_50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5" name="Google Shape;445;g2d47119ddfd_1_50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46" name="Google Shape;446;g2d47119ddfd_1_500"/>
          <p:cNvPicPr preferRelativeResize="0"/>
          <p:nvPr/>
        </p:nvPicPr>
        <p:blipFill rotWithShape="1">
          <a:blip r:embed="rId4">
            <a:alphaModFix/>
          </a:blip>
          <a:srcRect b="2085" l="29498" r="0" t="0"/>
          <a:stretch/>
        </p:blipFill>
        <p:spPr>
          <a:xfrm>
            <a:off x="436975" y="1605900"/>
            <a:ext cx="2853150" cy="450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2d47119ddfd_1_500"/>
          <p:cNvSpPr txBox="1"/>
          <p:nvPr/>
        </p:nvSpPr>
        <p:spPr>
          <a:xfrm>
            <a:off x="3846700" y="2214900"/>
            <a:ext cx="6459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Atualizaremos a função Q(St,At) usando a equação. Ele usa os valores Q estimados do episódio anterior, a taxa de aprendizado e o erro de diferenças temporais. O erro de diferenças temporais é calculado usando a recompensa imediata, a recompensa futura máxima esperada descontada e o valor Q da estimativa anterior.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processo é repetido várias vezes até que o Q-Table seja atualizado e a função de valor Q seja maximizada.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47119ddfd_1_510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Algoritmo de aprendizado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53" name="Google Shape;453;g2d47119ddfd_1_51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2d47119ddfd_1_51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5" name="Google Shape;455;g2d47119ddfd_1_51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56" name="Google Shape;456;g2d47119ddfd_1_510"/>
          <p:cNvPicPr preferRelativeResize="0"/>
          <p:nvPr/>
        </p:nvPicPr>
        <p:blipFill rotWithShape="1">
          <a:blip r:embed="rId4">
            <a:alphaModFix/>
          </a:blip>
          <a:srcRect b="2085" l="29498" r="0" t="0"/>
          <a:stretch/>
        </p:blipFill>
        <p:spPr>
          <a:xfrm>
            <a:off x="436975" y="1605900"/>
            <a:ext cx="2853150" cy="450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g2d47119ddfd_1_510"/>
          <p:cNvPicPr preferRelativeResize="0"/>
          <p:nvPr/>
        </p:nvPicPr>
        <p:blipFill rotWithShape="1">
          <a:blip r:embed="rId5">
            <a:alphaModFix/>
          </a:blip>
          <a:srcRect b="49150" l="0" r="0" t="0"/>
          <a:stretch/>
        </p:blipFill>
        <p:spPr>
          <a:xfrm>
            <a:off x="3429000" y="2372375"/>
            <a:ext cx="7002200" cy="213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g2d47119ddfd_1_510"/>
          <p:cNvSpPr/>
          <p:nvPr/>
        </p:nvSpPr>
        <p:spPr>
          <a:xfrm>
            <a:off x="3290125" y="3538425"/>
            <a:ext cx="767400" cy="110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g2d47119ddfd_1_510"/>
          <p:cNvSpPr/>
          <p:nvPr/>
        </p:nvSpPr>
        <p:spPr>
          <a:xfrm>
            <a:off x="3808050" y="3754800"/>
            <a:ext cx="767400" cy="110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d47119ddfd_1_522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Algoritmo de aprendizado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65" name="Google Shape;465;g2d47119ddfd_1_52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g2d47119ddfd_1_52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7" name="Google Shape;467;g2d47119ddfd_1_522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68" name="Google Shape;468;g2d47119ddfd_1_522"/>
          <p:cNvPicPr preferRelativeResize="0"/>
          <p:nvPr/>
        </p:nvPicPr>
        <p:blipFill rotWithShape="1">
          <a:blip r:embed="rId4">
            <a:alphaModFix/>
          </a:blip>
          <a:srcRect b="2085" l="29498" r="0" t="0"/>
          <a:stretch/>
        </p:blipFill>
        <p:spPr>
          <a:xfrm>
            <a:off x="436975" y="1605900"/>
            <a:ext cx="2853150" cy="450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2d47119ddfd_1_522"/>
          <p:cNvSpPr/>
          <p:nvPr/>
        </p:nvSpPr>
        <p:spPr>
          <a:xfrm>
            <a:off x="3290125" y="3538425"/>
            <a:ext cx="767400" cy="110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0" name="Google Shape;470;g2d47119ddfd_1_522"/>
          <p:cNvSpPr/>
          <p:nvPr/>
        </p:nvSpPr>
        <p:spPr>
          <a:xfrm>
            <a:off x="3808050" y="3754800"/>
            <a:ext cx="767400" cy="110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1" name="Google Shape;471;g2d47119ddfd_1_522"/>
          <p:cNvSpPr txBox="1"/>
          <p:nvPr/>
        </p:nvSpPr>
        <p:spPr>
          <a:xfrm>
            <a:off x="3542000" y="2020775"/>
            <a:ext cx="715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início, o agente está explorando o ambiente para atualizar o Q-table. E quando o Q-Table estiver pronto, o agente começará a explorar e a tomar decisões melhores.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72" name="Google Shape;472;g2d47119ddfd_1_5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3425" y="2827475"/>
            <a:ext cx="5364453" cy="36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2d47119ddfd_1_522"/>
          <p:cNvSpPr txBox="1"/>
          <p:nvPr/>
        </p:nvSpPr>
        <p:spPr>
          <a:xfrm>
            <a:off x="4153750" y="6697200"/>
            <a:ext cx="51507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5192D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No caso de um lago congelado, o agente aprenderá a seguir o caminho mais curto para atingir a meta e evitar pular nos buracos. </a:t>
            </a:r>
            <a:endParaRPr b="0" i="0" sz="1100" u="none" cap="none" strike="noStrike">
              <a:solidFill>
                <a:srgbClr val="05192D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d47119ddfd_1_543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Algoritmo de aprendizado Q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79" name="Google Shape;479;g2d47119ddfd_1_54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2d47119ddfd_1_54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1" name="Google Shape;481;g2d47119ddfd_1_543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82" name="Google Shape;482;g2d47119ddfd_1_543"/>
          <p:cNvPicPr preferRelativeResize="0"/>
          <p:nvPr/>
        </p:nvPicPr>
        <p:blipFill rotWithShape="1">
          <a:blip r:embed="rId4">
            <a:alphaModFix/>
          </a:blip>
          <a:srcRect b="2085" l="-13959" r="0" t="0"/>
          <a:stretch/>
        </p:blipFill>
        <p:spPr>
          <a:xfrm>
            <a:off x="511575" y="1797750"/>
            <a:ext cx="4611725" cy="450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d47119ddfd_1_575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Deep Q-Learning (DQN)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88" name="Google Shape;488;g2d47119ddfd_1_57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g2d47119ddfd_1_57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0" name="Google Shape;490;g2d47119ddfd_1_575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1" name="Google Shape;491;g2d47119ddfd_1_575"/>
          <p:cNvSpPr txBox="1"/>
          <p:nvPr/>
        </p:nvSpPr>
        <p:spPr>
          <a:xfrm>
            <a:off x="511575" y="1993050"/>
            <a:ext cx="100398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Deep Q-Learning</a:t>
            </a:r>
            <a:r>
              <a:rPr b="0" i="0" lang="pt-BR" sz="17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a deep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neural network</a:t>
            </a: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approximate the different Q-values for each possible action at a state (value-function estimation).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create a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loss function</a:t>
            </a: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compares our Q-value prediction and the Q-target and uses gradient descent to update the weights of our Deep Q-Network to approximate our Q-values better.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Q-Learning usa uma tabela Q para armazenar os valores de recompensas esperadas para cada estado-ação.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DQN usa redes neurais para aproximar a função Q quando o espaço de estados é muito grande.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Deep Reinforcement Learning (DRL)</a:t>
            </a:r>
            <a:endParaRPr b="1" i="0" sz="2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d47119ddfd_1_589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Deep Reinforcement Learning (DRL)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97" name="Google Shape;497;g2d47119ddfd_1_58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2d47119ddfd_1_58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9" name="Google Shape;499;g2d47119ddfd_1_58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00" name="Google Shape;500;g2d47119ddfd_1_5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7231" y="1568113"/>
            <a:ext cx="5823594" cy="278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2d47119ddfd_1_5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200" y="4507625"/>
            <a:ext cx="6369975" cy="303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d47119ddfd_1_614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Transfer Learning 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07" name="Google Shape;507;g2d47119ddfd_1_61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2d47119ddfd_1_61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9" name="Google Shape;509;g2d47119ddfd_1_614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0" name="Google Shape;510;g2d47119ddfd_1_614"/>
          <p:cNvSpPr txBox="1"/>
          <p:nvPr/>
        </p:nvSpPr>
        <p:spPr>
          <a:xfrm>
            <a:off x="594800" y="1648938"/>
            <a:ext cx="100986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183515" rtl="0" algn="l">
              <a:lnSpc>
                <a:spcPct val="1184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RL often requires </a:t>
            </a:r>
            <a:r>
              <a:rPr b="1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 samples</a:t>
            </a:r>
            <a:endParaRPr b="0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935355" rtl="0" algn="l">
              <a:lnSpc>
                <a:spcPct val="119375"/>
              </a:lnSpc>
              <a:spcBef>
                <a:spcPts val="108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takes </a:t>
            </a:r>
            <a:r>
              <a:rPr b="1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 long </a:t>
            </a:r>
            <a:r>
              <a:rPr b="0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learn</a:t>
            </a:r>
            <a:endParaRPr b="0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solution can only be  applied to </a:t>
            </a:r>
            <a:r>
              <a:rPr b="1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specific task</a:t>
            </a:r>
            <a:endParaRPr b="0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1" name="Google Shape;511;g2d47119ddfd_1_614"/>
          <p:cNvSpPr txBox="1"/>
          <p:nvPr/>
        </p:nvSpPr>
        <p:spPr>
          <a:xfrm rot="-5400000">
            <a:off x="3547300" y="5017578"/>
            <a:ext cx="193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1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2d47119ddfd_1_614"/>
          <p:cNvSpPr txBox="1"/>
          <p:nvPr/>
        </p:nvSpPr>
        <p:spPr>
          <a:xfrm>
            <a:off x="5867715" y="6698505"/>
            <a:ext cx="14823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2d47119ddfd_1_614"/>
          <p:cNvSpPr txBox="1"/>
          <p:nvPr/>
        </p:nvSpPr>
        <p:spPr>
          <a:xfrm>
            <a:off x="5680410" y="3712125"/>
            <a:ext cx="14163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Curve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4" name="Google Shape;514;g2d47119ddfd_1_614"/>
          <p:cNvGrpSpPr/>
          <p:nvPr/>
        </p:nvGrpSpPr>
        <p:grpSpPr>
          <a:xfrm>
            <a:off x="4773417" y="3758111"/>
            <a:ext cx="4339591" cy="2826746"/>
            <a:chOff x="5718420" y="2410967"/>
            <a:chExt cx="5385444" cy="3008777"/>
          </a:xfrm>
        </p:grpSpPr>
        <p:sp>
          <p:nvSpPr>
            <p:cNvPr id="515" name="Google Shape;515;g2d47119ddfd_1_614"/>
            <p:cNvSpPr/>
            <p:nvPr/>
          </p:nvSpPr>
          <p:spPr>
            <a:xfrm>
              <a:off x="5718420" y="3292553"/>
              <a:ext cx="4276090" cy="2034539"/>
            </a:xfrm>
            <a:custGeom>
              <a:rect b="b" l="l" r="r" t="t"/>
              <a:pathLst>
                <a:path extrusionOk="0" h="2034539" w="4276090">
                  <a:moveTo>
                    <a:pt x="0" y="2034009"/>
                  </a:moveTo>
                  <a:lnTo>
                    <a:pt x="43442" y="1914620"/>
                  </a:lnTo>
                  <a:lnTo>
                    <a:pt x="86161" y="1801090"/>
                  </a:lnTo>
                  <a:lnTo>
                    <a:pt x="129604" y="1694885"/>
                  </a:lnTo>
                  <a:lnTo>
                    <a:pt x="173046" y="1595272"/>
                  </a:lnTo>
                  <a:lnTo>
                    <a:pt x="215765" y="1500786"/>
                  </a:lnTo>
                  <a:lnTo>
                    <a:pt x="259208" y="1412892"/>
                  </a:lnTo>
                  <a:lnTo>
                    <a:pt x="302651" y="1329393"/>
                  </a:lnTo>
                  <a:lnTo>
                    <a:pt x="345369" y="1251021"/>
                  </a:lnTo>
                  <a:lnTo>
                    <a:pt x="388812" y="1177044"/>
                  </a:lnTo>
                  <a:lnTo>
                    <a:pt x="431531" y="1107461"/>
                  </a:lnTo>
                  <a:lnTo>
                    <a:pt x="474974" y="1042274"/>
                  </a:lnTo>
                  <a:lnTo>
                    <a:pt x="518416" y="980748"/>
                  </a:lnTo>
                  <a:lnTo>
                    <a:pt x="561135" y="922884"/>
                  </a:lnTo>
                  <a:lnTo>
                    <a:pt x="604578" y="867951"/>
                  </a:lnTo>
                  <a:lnTo>
                    <a:pt x="648021" y="816679"/>
                  </a:lnTo>
                  <a:lnTo>
                    <a:pt x="690739" y="768338"/>
                  </a:lnTo>
                  <a:lnTo>
                    <a:pt x="734182" y="722926"/>
                  </a:lnTo>
                  <a:lnTo>
                    <a:pt x="777625" y="680444"/>
                  </a:lnTo>
                  <a:lnTo>
                    <a:pt x="820344" y="640159"/>
                  </a:lnTo>
                  <a:lnTo>
                    <a:pt x="863786" y="602072"/>
                  </a:lnTo>
                  <a:lnTo>
                    <a:pt x="907229" y="566182"/>
                  </a:lnTo>
                  <a:lnTo>
                    <a:pt x="949948" y="532489"/>
                  </a:lnTo>
                  <a:lnTo>
                    <a:pt x="993391" y="500994"/>
                  </a:lnTo>
                  <a:lnTo>
                    <a:pt x="1036833" y="470964"/>
                  </a:lnTo>
                  <a:lnTo>
                    <a:pt x="1079552" y="443131"/>
                  </a:lnTo>
                  <a:lnTo>
                    <a:pt x="1122995" y="416763"/>
                  </a:lnTo>
                  <a:lnTo>
                    <a:pt x="1165714" y="391859"/>
                  </a:lnTo>
                  <a:lnTo>
                    <a:pt x="1209156" y="369153"/>
                  </a:lnTo>
                  <a:lnTo>
                    <a:pt x="1252599" y="347180"/>
                  </a:lnTo>
                  <a:lnTo>
                    <a:pt x="1295318" y="325939"/>
                  </a:lnTo>
                  <a:lnTo>
                    <a:pt x="1338761" y="306895"/>
                  </a:lnTo>
                  <a:lnTo>
                    <a:pt x="1382203" y="288584"/>
                  </a:lnTo>
                  <a:lnTo>
                    <a:pt x="1424922" y="271005"/>
                  </a:lnTo>
                  <a:lnTo>
                    <a:pt x="1468365" y="254892"/>
                  </a:lnTo>
                  <a:lnTo>
                    <a:pt x="1511808" y="239510"/>
                  </a:lnTo>
                  <a:lnTo>
                    <a:pt x="1554526" y="225594"/>
                  </a:lnTo>
                  <a:lnTo>
                    <a:pt x="1597969" y="211677"/>
                  </a:lnTo>
                  <a:lnTo>
                    <a:pt x="1641412" y="199225"/>
                  </a:lnTo>
                  <a:lnTo>
                    <a:pt x="1684131" y="186774"/>
                  </a:lnTo>
                  <a:lnTo>
                    <a:pt x="1771016" y="164800"/>
                  </a:lnTo>
                  <a:lnTo>
                    <a:pt x="1813735" y="155279"/>
                  </a:lnTo>
                  <a:lnTo>
                    <a:pt x="1857178" y="145757"/>
                  </a:lnTo>
                  <a:lnTo>
                    <a:pt x="1899896" y="136967"/>
                  </a:lnTo>
                  <a:lnTo>
                    <a:pt x="1943339" y="128178"/>
                  </a:lnTo>
                  <a:lnTo>
                    <a:pt x="1986782" y="120853"/>
                  </a:lnTo>
                  <a:lnTo>
                    <a:pt x="2029500" y="113529"/>
                  </a:lnTo>
                  <a:lnTo>
                    <a:pt x="2072943" y="106205"/>
                  </a:lnTo>
                  <a:lnTo>
                    <a:pt x="2116386" y="99612"/>
                  </a:lnTo>
                  <a:lnTo>
                    <a:pt x="2159105" y="93753"/>
                  </a:lnTo>
                  <a:lnTo>
                    <a:pt x="2202547" y="87893"/>
                  </a:lnTo>
                  <a:lnTo>
                    <a:pt x="2245990" y="82766"/>
                  </a:lnTo>
                  <a:lnTo>
                    <a:pt x="2288709" y="77639"/>
                  </a:lnTo>
                  <a:lnTo>
                    <a:pt x="2332152" y="72512"/>
                  </a:lnTo>
                  <a:lnTo>
                    <a:pt x="2375594" y="68117"/>
                  </a:lnTo>
                  <a:lnTo>
                    <a:pt x="2418313" y="63723"/>
                  </a:lnTo>
                  <a:lnTo>
                    <a:pt x="2461756" y="59328"/>
                  </a:lnTo>
                  <a:lnTo>
                    <a:pt x="2504475" y="55666"/>
                  </a:lnTo>
                  <a:lnTo>
                    <a:pt x="2547917" y="52003"/>
                  </a:lnTo>
                  <a:lnTo>
                    <a:pt x="2591360" y="49074"/>
                  </a:lnTo>
                  <a:lnTo>
                    <a:pt x="2634079" y="45411"/>
                  </a:lnTo>
                  <a:lnTo>
                    <a:pt x="2677522" y="42482"/>
                  </a:lnTo>
                  <a:lnTo>
                    <a:pt x="2720964" y="40284"/>
                  </a:lnTo>
                  <a:lnTo>
                    <a:pt x="2763683" y="37354"/>
                  </a:lnTo>
                  <a:lnTo>
                    <a:pt x="2807126" y="35157"/>
                  </a:lnTo>
                  <a:lnTo>
                    <a:pt x="2850569" y="32227"/>
                  </a:lnTo>
                  <a:lnTo>
                    <a:pt x="2893287" y="30030"/>
                  </a:lnTo>
                  <a:lnTo>
                    <a:pt x="2936730" y="28565"/>
                  </a:lnTo>
                  <a:lnTo>
                    <a:pt x="2980173" y="26368"/>
                  </a:lnTo>
                  <a:lnTo>
                    <a:pt x="3022892" y="24170"/>
                  </a:lnTo>
                  <a:lnTo>
                    <a:pt x="3066334" y="22705"/>
                  </a:lnTo>
                  <a:lnTo>
                    <a:pt x="3109777" y="21241"/>
                  </a:lnTo>
                  <a:lnTo>
                    <a:pt x="3152496" y="19776"/>
                  </a:lnTo>
                  <a:lnTo>
                    <a:pt x="3195939" y="18311"/>
                  </a:lnTo>
                  <a:lnTo>
                    <a:pt x="3238657" y="16846"/>
                  </a:lnTo>
                  <a:lnTo>
                    <a:pt x="3282100" y="15381"/>
                  </a:lnTo>
                  <a:lnTo>
                    <a:pt x="3325543" y="14648"/>
                  </a:lnTo>
                  <a:lnTo>
                    <a:pt x="3368262" y="13184"/>
                  </a:lnTo>
                  <a:lnTo>
                    <a:pt x="3411704" y="12451"/>
                  </a:lnTo>
                  <a:lnTo>
                    <a:pt x="3455147" y="10986"/>
                  </a:lnTo>
                  <a:lnTo>
                    <a:pt x="3497866" y="10254"/>
                  </a:lnTo>
                  <a:lnTo>
                    <a:pt x="3584751" y="8789"/>
                  </a:lnTo>
                  <a:lnTo>
                    <a:pt x="3627470" y="8056"/>
                  </a:lnTo>
                  <a:lnTo>
                    <a:pt x="3670913" y="7324"/>
                  </a:lnTo>
                  <a:lnTo>
                    <a:pt x="3714356" y="6592"/>
                  </a:lnTo>
                  <a:lnTo>
                    <a:pt x="3757074" y="5859"/>
                  </a:lnTo>
                  <a:lnTo>
                    <a:pt x="3800517" y="5127"/>
                  </a:lnTo>
                  <a:lnTo>
                    <a:pt x="3843960" y="4394"/>
                  </a:lnTo>
                  <a:lnTo>
                    <a:pt x="3886678" y="3662"/>
                  </a:lnTo>
                  <a:lnTo>
                    <a:pt x="3930121" y="3662"/>
                  </a:lnTo>
                  <a:lnTo>
                    <a:pt x="3972840" y="2929"/>
                  </a:lnTo>
                  <a:lnTo>
                    <a:pt x="4016283" y="2197"/>
                  </a:lnTo>
                  <a:lnTo>
                    <a:pt x="4059725" y="2197"/>
                  </a:lnTo>
                  <a:lnTo>
                    <a:pt x="4102444" y="1464"/>
                  </a:lnTo>
                  <a:lnTo>
                    <a:pt x="4145887" y="1464"/>
                  </a:lnTo>
                  <a:lnTo>
                    <a:pt x="4189330" y="732"/>
                  </a:lnTo>
                  <a:lnTo>
                    <a:pt x="4232048" y="732"/>
                  </a:lnTo>
                  <a:lnTo>
                    <a:pt x="4275491" y="0"/>
                  </a:lnTo>
                </a:path>
              </a:pathLst>
            </a:custGeom>
            <a:noFill/>
            <a:ln cap="flat" cmpd="sng" w="29225">
              <a:solidFill>
                <a:srgbClr val="00F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g2d47119ddfd_1_614"/>
            <p:cNvSpPr/>
            <p:nvPr/>
          </p:nvSpPr>
          <p:spPr>
            <a:xfrm>
              <a:off x="5718420" y="2881649"/>
              <a:ext cx="4276090" cy="2538095"/>
            </a:xfrm>
            <a:custGeom>
              <a:rect b="b" l="l" r="r" t="t"/>
              <a:pathLst>
                <a:path extrusionOk="0" h="2538095" w="4276090">
                  <a:moveTo>
                    <a:pt x="0" y="0"/>
                  </a:moveTo>
                  <a:lnTo>
                    <a:pt x="0" y="2537933"/>
                  </a:lnTo>
                  <a:lnTo>
                    <a:pt x="4275491" y="253793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7" name="Google Shape;517;g2d47119ddfd_1_6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979664" y="2410967"/>
              <a:ext cx="3124200" cy="2084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g2d47119ddfd_1_6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607552" y="2944367"/>
              <a:ext cx="1828800" cy="975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" name="Google Shape;519;g2d47119ddfd_1_614"/>
            <p:cNvSpPr/>
            <p:nvPr/>
          </p:nvSpPr>
          <p:spPr>
            <a:xfrm>
              <a:off x="8024451" y="2432192"/>
              <a:ext cx="3034665" cy="1993900"/>
            </a:xfrm>
            <a:custGeom>
              <a:rect b="b" l="l" r="r" t="t"/>
              <a:pathLst>
                <a:path extrusionOk="0" h="1993900" w="3034665">
                  <a:moveTo>
                    <a:pt x="2040191" y="0"/>
                  </a:moveTo>
                  <a:lnTo>
                    <a:pt x="1517289" y="535322"/>
                  </a:lnTo>
                  <a:lnTo>
                    <a:pt x="1173369" y="211820"/>
                  </a:lnTo>
                  <a:lnTo>
                    <a:pt x="1027261" y="583316"/>
                  </a:lnTo>
                  <a:lnTo>
                    <a:pt x="51981" y="211820"/>
                  </a:lnTo>
                  <a:lnTo>
                    <a:pt x="650045" y="703026"/>
                  </a:lnTo>
                  <a:lnTo>
                    <a:pt x="0" y="795138"/>
                  </a:lnTo>
                  <a:lnTo>
                    <a:pt x="522903" y="1086797"/>
                  </a:lnTo>
                  <a:lnTo>
                    <a:pt x="18966" y="1346335"/>
                  </a:lnTo>
                  <a:lnTo>
                    <a:pt x="796155" y="1286342"/>
                  </a:lnTo>
                  <a:lnTo>
                    <a:pt x="669011" y="1625996"/>
                  </a:lnTo>
                  <a:lnTo>
                    <a:pt x="1083877" y="1442325"/>
                  </a:lnTo>
                  <a:lnTo>
                    <a:pt x="1192055" y="1993614"/>
                  </a:lnTo>
                  <a:lnTo>
                    <a:pt x="1479637" y="1378455"/>
                  </a:lnTo>
                  <a:lnTo>
                    <a:pt x="1861066" y="1821665"/>
                  </a:lnTo>
                  <a:lnTo>
                    <a:pt x="1969665" y="1334336"/>
                  </a:lnTo>
                  <a:lnTo>
                    <a:pt x="2549185" y="1670113"/>
                  </a:lnTo>
                  <a:lnTo>
                    <a:pt x="2365424" y="1194507"/>
                  </a:lnTo>
                  <a:lnTo>
                    <a:pt x="3034577" y="1226626"/>
                  </a:lnTo>
                  <a:lnTo>
                    <a:pt x="2473601" y="966810"/>
                  </a:lnTo>
                  <a:lnTo>
                    <a:pt x="2963910" y="751020"/>
                  </a:lnTo>
                  <a:lnTo>
                    <a:pt x="2346458" y="675152"/>
                  </a:lnTo>
                  <a:lnTo>
                    <a:pt x="2582200" y="411366"/>
                  </a:lnTo>
                  <a:lnTo>
                    <a:pt x="1988632" y="491481"/>
                  </a:lnTo>
                  <a:lnTo>
                    <a:pt x="2040191" y="0"/>
                  </a:lnTo>
                  <a:close/>
                </a:path>
              </a:pathLst>
            </a:custGeom>
            <a:solidFill>
              <a:srgbClr val="54A0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2d47119ddfd_1_614"/>
            <p:cNvSpPr/>
            <p:nvPr/>
          </p:nvSpPr>
          <p:spPr>
            <a:xfrm>
              <a:off x="8024451" y="2432192"/>
              <a:ext cx="3034665" cy="1993900"/>
            </a:xfrm>
            <a:custGeom>
              <a:rect b="b" l="l" r="r" t="t"/>
              <a:pathLst>
                <a:path extrusionOk="0" h="1993900" w="3034665">
                  <a:moveTo>
                    <a:pt x="1517289" y="535322"/>
                  </a:moveTo>
                  <a:lnTo>
                    <a:pt x="2040191" y="0"/>
                  </a:lnTo>
                  <a:lnTo>
                    <a:pt x="1988631" y="491481"/>
                  </a:lnTo>
                  <a:lnTo>
                    <a:pt x="2582200" y="411367"/>
                  </a:lnTo>
                  <a:lnTo>
                    <a:pt x="2346459" y="675152"/>
                  </a:lnTo>
                  <a:lnTo>
                    <a:pt x="2963911" y="751020"/>
                  </a:lnTo>
                  <a:lnTo>
                    <a:pt x="2473602" y="966811"/>
                  </a:lnTo>
                  <a:lnTo>
                    <a:pt x="3034577" y="1226627"/>
                  </a:lnTo>
                  <a:lnTo>
                    <a:pt x="2365425" y="1194508"/>
                  </a:lnTo>
                  <a:lnTo>
                    <a:pt x="2549185" y="1670114"/>
                  </a:lnTo>
                  <a:lnTo>
                    <a:pt x="1969665" y="1334338"/>
                  </a:lnTo>
                  <a:lnTo>
                    <a:pt x="1861067" y="1821666"/>
                  </a:lnTo>
                  <a:lnTo>
                    <a:pt x="1479637" y="1378456"/>
                  </a:lnTo>
                  <a:lnTo>
                    <a:pt x="1192055" y="1993615"/>
                  </a:lnTo>
                  <a:lnTo>
                    <a:pt x="1083878" y="1442325"/>
                  </a:lnTo>
                  <a:lnTo>
                    <a:pt x="669011" y="1625996"/>
                  </a:lnTo>
                  <a:lnTo>
                    <a:pt x="796155" y="1286343"/>
                  </a:lnTo>
                  <a:lnTo>
                    <a:pt x="18966" y="1346336"/>
                  </a:lnTo>
                  <a:lnTo>
                    <a:pt x="522902" y="1086797"/>
                  </a:lnTo>
                  <a:lnTo>
                    <a:pt x="0" y="795138"/>
                  </a:lnTo>
                  <a:lnTo>
                    <a:pt x="650045" y="703026"/>
                  </a:lnTo>
                  <a:lnTo>
                    <a:pt x="51981" y="211821"/>
                  </a:lnTo>
                  <a:lnTo>
                    <a:pt x="1027261" y="583317"/>
                  </a:lnTo>
                  <a:lnTo>
                    <a:pt x="1173370" y="211821"/>
                  </a:lnTo>
                  <a:lnTo>
                    <a:pt x="1517289" y="535322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1" name="Google Shape;521;g2d47119ddfd_1_614"/>
          <p:cNvSpPr txBox="1"/>
          <p:nvPr/>
        </p:nvSpPr>
        <p:spPr>
          <a:xfrm>
            <a:off x="7149151" y="4386392"/>
            <a:ext cx="14163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425450" lvl="0" marL="12700" marR="5080" rtl="0" algn="l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Very  inefficient!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g2d47119ddfd_1_65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g2d47119ddfd_1_65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28" name="Google Shape;528;g2d47119ddfd_1_650"/>
          <p:cNvSpPr txBox="1"/>
          <p:nvPr/>
        </p:nvSpPr>
        <p:spPr>
          <a:xfrm>
            <a:off x="7149151" y="4386392"/>
            <a:ext cx="14163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425450" lvl="0" marL="12700" marR="5080" rtl="0" algn="l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Very  inefficient!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9" name="Google Shape;529;g2d47119ddfd_1_650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Knowledge Transfer: 3 improvements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530" name="Google Shape;530;g2d47119ddfd_1_65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31" name="Google Shape;531;g2d47119ddfd_1_650"/>
          <p:cNvGrpSpPr/>
          <p:nvPr/>
        </p:nvGrpSpPr>
        <p:grpSpPr>
          <a:xfrm>
            <a:off x="7042852" y="2256650"/>
            <a:ext cx="3076639" cy="3339698"/>
            <a:chOff x="8029702" y="2047963"/>
            <a:chExt cx="3507740" cy="3030854"/>
          </a:xfrm>
        </p:grpSpPr>
        <p:sp>
          <p:nvSpPr>
            <p:cNvPr id="532" name="Google Shape;532;g2d47119ddfd_1_650"/>
            <p:cNvSpPr/>
            <p:nvPr/>
          </p:nvSpPr>
          <p:spPr>
            <a:xfrm>
              <a:off x="8029702" y="2047963"/>
              <a:ext cx="3507740" cy="3030854"/>
            </a:xfrm>
            <a:custGeom>
              <a:rect b="b" l="l" r="r" t="t"/>
              <a:pathLst>
                <a:path extrusionOk="0" h="3030854" w="3507740">
                  <a:moveTo>
                    <a:pt x="3507305" y="0"/>
                  </a:moveTo>
                  <a:lnTo>
                    <a:pt x="0" y="0"/>
                  </a:lnTo>
                  <a:lnTo>
                    <a:pt x="0" y="3030795"/>
                  </a:lnTo>
                  <a:lnTo>
                    <a:pt x="3507305" y="3030795"/>
                  </a:lnTo>
                  <a:lnTo>
                    <a:pt x="35073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2d47119ddfd_1_650"/>
            <p:cNvSpPr/>
            <p:nvPr/>
          </p:nvSpPr>
          <p:spPr>
            <a:xfrm>
              <a:off x="8370690" y="2679379"/>
              <a:ext cx="2876550" cy="2084070"/>
            </a:xfrm>
            <a:custGeom>
              <a:rect b="b" l="l" r="r" t="t"/>
              <a:pathLst>
                <a:path extrusionOk="0" h="2084070" w="2876550">
                  <a:moveTo>
                    <a:pt x="0" y="0"/>
                  </a:moveTo>
                  <a:lnTo>
                    <a:pt x="0" y="2083672"/>
                  </a:lnTo>
                  <a:lnTo>
                    <a:pt x="2876477" y="208367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4" name="Google Shape;534;g2d47119ddfd_1_650"/>
          <p:cNvSpPr txBox="1"/>
          <p:nvPr/>
        </p:nvSpPr>
        <p:spPr>
          <a:xfrm rot="-5400000">
            <a:off x="6541480" y="3996773"/>
            <a:ext cx="1356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40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2d47119ddfd_1_650"/>
          <p:cNvSpPr txBox="1"/>
          <p:nvPr/>
        </p:nvSpPr>
        <p:spPr>
          <a:xfrm>
            <a:off x="8217832" y="5311044"/>
            <a:ext cx="7701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pt-BR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2d47119ddfd_1_650"/>
          <p:cNvSpPr txBox="1"/>
          <p:nvPr/>
        </p:nvSpPr>
        <p:spPr>
          <a:xfrm>
            <a:off x="7652686" y="2435374"/>
            <a:ext cx="1902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pt-BR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Generalization Improvement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7" name="Google Shape;537;g2d47119ddfd_1_650"/>
          <p:cNvGrpSpPr/>
          <p:nvPr/>
        </p:nvGrpSpPr>
        <p:grpSpPr>
          <a:xfrm>
            <a:off x="7341931" y="2643211"/>
            <a:ext cx="2771543" cy="2605633"/>
            <a:chOff x="8370689" y="2398776"/>
            <a:chExt cx="3159894" cy="2364673"/>
          </a:xfrm>
        </p:grpSpPr>
        <p:sp>
          <p:nvSpPr>
            <p:cNvPr id="538" name="Google Shape;538;g2d47119ddfd_1_650"/>
            <p:cNvSpPr/>
            <p:nvPr/>
          </p:nvSpPr>
          <p:spPr>
            <a:xfrm>
              <a:off x="8370689" y="3016735"/>
              <a:ext cx="2876550" cy="1670050"/>
            </a:xfrm>
            <a:custGeom>
              <a:rect b="b" l="l" r="r" t="t"/>
              <a:pathLst>
                <a:path extrusionOk="0" h="1670050" w="2876550">
                  <a:moveTo>
                    <a:pt x="0" y="1669944"/>
                  </a:moveTo>
                  <a:lnTo>
                    <a:pt x="29227" y="1571924"/>
                  </a:lnTo>
                  <a:lnTo>
                    <a:pt x="57967" y="1478715"/>
                  </a:lnTo>
                  <a:lnTo>
                    <a:pt x="87195" y="1391520"/>
                  </a:lnTo>
                  <a:lnTo>
                    <a:pt x="116423" y="1309736"/>
                  </a:lnTo>
                  <a:lnTo>
                    <a:pt x="145163" y="1232162"/>
                  </a:lnTo>
                  <a:lnTo>
                    <a:pt x="174391" y="1160000"/>
                  </a:lnTo>
                  <a:lnTo>
                    <a:pt x="203618" y="1091447"/>
                  </a:lnTo>
                  <a:lnTo>
                    <a:pt x="232359" y="1027102"/>
                  </a:lnTo>
                  <a:lnTo>
                    <a:pt x="261586" y="966366"/>
                  </a:lnTo>
                  <a:lnTo>
                    <a:pt x="290326" y="909238"/>
                  </a:lnTo>
                  <a:lnTo>
                    <a:pt x="319554" y="855718"/>
                  </a:lnTo>
                  <a:lnTo>
                    <a:pt x="348782" y="805205"/>
                  </a:lnTo>
                  <a:lnTo>
                    <a:pt x="377522" y="757698"/>
                  </a:lnTo>
                  <a:lnTo>
                    <a:pt x="406750" y="712597"/>
                  </a:lnTo>
                  <a:lnTo>
                    <a:pt x="435977" y="670503"/>
                  </a:lnTo>
                  <a:lnTo>
                    <a:pt x="464718" y="630814"/>
                  </a:lnTo>
                  <a:lnTo>
                    <a:pt x="493945" y="593530"/>
                  </a:lnTo>
                  <a:lnTo>
                    <a:pt x="523173" y="558652"/>
                  </a:lnTo>
                  <a:lnTo>
                    <a:pt x="551913" y="525578"/>
                  </a:lnTo>
                  <a:lnTo>
                    <a:pt x="581141" y="494308"/>
                  </a:lnTo>
                  <a:lnTo>
                    <a:pt x="610368" y="464842"/>
                  </a:lnTo>
                  <a:lnTo>
                    <a:pt x="639109" y="437180"/>
                  </a:lnTo>
                  <a:lnTo>
                    <a:pt x="668336" y="411322"/>
                  </a:lnTo>
                  <a:lnTo>
                    <a:pt x="697564" y="386666"/>
                  </a:lnTo>
                  <a:lnTo>
                    <a:pt x="755532" y="342167"/>
                  </a:lnTo>
                  <a:lnTo>
                    <a:pt x="813500" y="303079"/>
                  </a:lnTo>
                  <a:lnTo>
                    <a:pt x="871468" y="267600"/>
                  </a:lnTo>
                  <a:lnTo>
                    <a:pt x="929923" y="236931"/>
                  </a:lnTo>
                  <a:lnTo>
                    <a:pt x="987891" y="209269"/>
                  </a:lnTo>
                  <a:lnTo>
                    <a:pt x="1045859" y="185215"/>
                  </a:lnTo>
                  <a:lnTo>
                    <a:pt x="1104314" y="163566"/>
                  </a:lnTo>
                  <a:lnTo>
                    <a:pt x="1133054" y="153343"/>
                  </a:lnTo>
                  <a:lnTo>
                    <a:pt x="1191509" y="135303"/>
                  </a:lnTo>
                  <a:lnTo>
                    <a:pt x="1249477" y="119668"/>
                  </a:lnTo>
                  <a:lnTo>
                    <a:pt x="1307445" y="105235"/>
                  </a:lnTo>
                  <a:lnTo>
                    <a:pt x="1336673" y="99222"/>
                  </a:lnTo>
                  <a:lnTo>
                    <a:pt x="1365413" y="93208"/>
                  </a:lnTo>
                  <a:lnTo>
                    <a:pt x="1423868" y="81783"/>
                  </a:lnTo>
                  <a:lnTo>
                    <a:pt x="1481836" y="72161"/>
                  </a:lnTo>
                  <a:lnTo>
                    <a:pt x="1511064" y="67952"/>
                  </a:lnTo>
                  <a:lnTo>
                    <a:pt x="1539804" y="63742"/>
                  </a:lnTo>
                  <a:lnTo>
                    <a:pt x="1569032" y="59533"/>
                  </a:lnTo>
                  <a:lnTo>
                    <a:pt x="1598259" y="55925"/>
                  </a:lnTo>
                  <a:lnTo>
                    <a:pt x="1627000" y="52317"/>
                  </a:lnTo>
                  <a:lnTo>
                    <a:pt x="1656227" y="48709"/>
                  </a:lnTo>
                  <a:lnTo>
                    <a:pt x="1684968" y="45702"/>
                  </a:lnTo>
                  <a:lnTo>
                    <a:pt x="1714195" y="42695"/>
                  </a:lnTo>
                  <a:lnTo>
                    <a:pt x="1743423" y="40290"/>
                  </a:lnTo>
                  <a:lnTo>
                    <a:pt x="1772163" y="37283"/>
                  </a:lnTo>
                  <a:lnTo>
                    <a:pt x="1801391" y="34878"/>
                  </a:lnTo>
                  <a:lnTo>
                    <a:pt x="1830618" y="33074"/>
                  </a:lnTo>
                  <a:lnTo>
                    <a:pt x="1859359" y="30668"/>
                  </a:lnTo>
                  <a:lnTo>
                    <a:pt x="1888586" y="28864"/>
                  </a:lnTo>
                  <a:lnTo>
                    <a:pt x="1917814" y="26459"/>
                  </a:lnTo>
                  <a:lnTo>
                    <a:pt x="1946554" y="24655"/>
                  </a:lnTo>
                  <a:lnTo>
                    <a:pt x="1975782" y="23452"/>
                  </a:lnTo>
                  <a:lnTo>
                    <a:pt x="2005009" y="21648"/>
                  </a:lnTo>
                  <a:lnTo>
                    <a:pt x="2033750" y="19844"/>
                  </a:lnTo>
                  <a:lnTo>
                    <a:pt x="2062977" y="18641"/>
                  </a:lnTo>
                  <a:lnTo>
                    <a:pt x="2092205" y="17439"/>
                  </a:lnTo>
                  <a:lnTo>
                    <a:pt x="2120945" y="16236"/>
                  </a:lnTo>
                  <a:lnTo>
                    <a:pt x="2150173" y="15033"/>
                  </a:lnTo>
                  <a:lnTo>
                    <a:pt x="2178913" y="13831"/>
                  </a:lnTo>
                  <a:lnTo>
                    <a:pt x="2208141" y="12628"/>
                  </a:lnTo>
                  <a:lnTo>
                    <a:pt x="2237368" y="12026"/>
                  </a:lnTo>
                  <a:lnTo>
                    <a:pt x="2266109" y="10824"/>
                  </a:lnTo>
                  <a:lnTo>
                    <a:pt x="2295336" y="10222"/>
                  </a:lnTo>
                  <a:lnTo>
                    <a:pt x="2324564" y="9020"/>
                  </a:lnTo>
                  <a:lnTo>
                    <a:pt x="2353304" y="8418"/>
                  </a:lnTo>
                  <a:lnTo>
                    <a:pt x="2411759" y="7216"/>
                  </a:lnTo>
                  <a:lnTo>
                    <a:pt x="2440500" y="6614"/>
                  </a:lnTo>
                  <a:lnTo>
                    <a:pt x="2469727" y="6013"/>
                  </a:lnTo>
                  <a:lnTo>
                    <a:pt x="2498955" y="5412"/>
                  </a:lnTo>
                  <a:lnTo>
                    <a:pt x="2527695" y="4810"/>
                  </a:lnTo>
                  <a:lnTo>
                    <a:pt x="2556923" y="4209"/>
                  </a:lnTo>
                  <a:lnTo>
                    <a:pt x="2586150" y="3608"/>
                  </a:lnTo>
                  <a:lnTo>
                    <a:pt x="2614891" y="3006"/>
                  </a:lnTo>
                  <a:lnTo>
                    <a:pt x="2644118" y="3006"/>
                  </a:lnTo>
                  <a:lnTo>
                    <a:pt x="2672859" y="2405"/>
                  </a:lnTo>
                  <a:lnTo>
                    <a:pt x="2702086" y="1804"/>
                  </a:lnTo>
                  <a:lnTo>
                    <a:pt x="2731314" y="1804"/>
                  </a:lnTo>
                  <a:lnTo>
                    <a:pt x="2760054" y="1202"/>
                  </a:lnTo>
                  <a:lnTo>
                    <a:pt x="2789282" y="1202"/>
                  </a:lnTo>
                  <a:lnTo>
                    <a:pt x="2818509" y="601"/>
                  </a:lnTo>
                  <a:lnTo>
                    <a:pt x="2847250" y="601"/>
                  </a:lnTo>
                  <a:lnTo>
                    <a:pt x="2876477" y="0"/>
                  </a:lnTo>
                </a:path>
              </a:pathLst>
            </a:custGeom>
            <a:noFill/>
            <a:ln cap="flat" cmpd="sng" w="22900">
              <a:solidFill>
                <a:srgbClr val="00F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2d47119ddfd_1_650"/>
            <p:cNvSpPr/>
            <p:nvPr/>
          </p:nvSpPr>
          <p:spPr>
            <a:xfrm>
              <a:off x="8370689" y="2767777"/>
              <a:ext cx="2876550" cy="1940560"/>
            </a:xfrm>
            <a:custGeom>
              <a:rect b="b" l="l" r="r" t="t"/>
              <a:pathLst>
                <a:path extrusionOk="0" h="1940560" w="2876550">
                  <a:moveTo>
                    <a:pt x="0" y="1939949"/>
                  </a:moveTo>
                  <a:lnTo>
                    <a:pt x="29227" y="1825693"/>
                  </a:lnTo>
                  <a:lnTo>
                    <a:pt x="57967" y="1718052"/>
                  </a:lnTo>
                  <a:lnTo>
                    <a:pt x="87195" y="1616424"/>
                  </a:lnTo>
                  <a:lnTo>
                    <a:pt x="116423" y="1521411"/>
                  </a:lnTo>
                  <a:lnTo>
                    <a:pt x="145163" y="1431209"/>
                  </a:lnTo>
                  <a:lnTo>
                    <a:pt x="174391" y="1347020"/>
                  </a:lnTo>
                  <a:lnTo>
                    <a:pt x="203618" y="1267642"/>
                  </a:lnTo>
                  <a:lnTo>
                    <a:pt x="232359" y="1192473"/>
                  </a:lnTo>
                  <a:lnTo>
                    <a:pt x="261586" y="1122116"/>
                  </a:lnTo>
                  <a:lnTo>
                    <a:pt x="290326" y="1055967"/>
                  </a:lnTo>
                  <a:lnTo>
                    <a:pt x="319554" y="993427"/>
                  </a:lnTo>
                  <a:lnTo>
                    <a:pt x="348782" y="935096"/>
                  </a:lnTo>
                  <a:lnTo>
                    <a:pt x="377522" y="879772"/>
                  </a:lnTo>
                  <a:lnTo>
                    <a:pt x="406750" y="827455"/>
                  </a:lnTo>
                  <a:lnTo>
                    <a:pt x="435977" y="778746"/>
                  </a:lnTo>
                  <a:lnTo>
                    <a:pt x="464718" y="732442"/>
                  </a:lnTo>
                  <a:lnTo>
                    <a:pt x="493945" y="689145"/>
                  </a:lnTo>
                  <a:lnTo>
                    <a:pt x="523173" y="648253"/>
                  </a:lnTo>
                  <a:lnTo>
                    <a:pt x="551913" y="609767"/>
                  </a:lnTo>
                  <a:lnTo>
                    <a:pt x="581141" y="573686"/>
                  </a:lnTo>
                  <a:lnTo>
                    <a:pt x="610368" y="539409"/>
                  </a:lnTo>
                  <a:lnTo>
                    <a:pt x="639109" y="507538"/>
                  </a:lnTo>
                  <a:lnTo>
                    <a:pt x="668336" y="477470"/>
                  </a:lnTo>
                  <a:lnTo>
                    <a:pt x="697564" y="449207"/>
                  </a:lnTo>
                  <a:lnTo>
                    <a:pt x="726304" y="422146"/>
                  </a:lnTo>
                  <a:lnTo>
                    <a:pt x="755532" y="397491"/>
                  </a:lnTo>
                  <a:lnTo>
                    <a:pt x="813500" y="351187"/>
                  </a:lnTo>
                  <a:lnTo>
                    <a:pt x="871468" y="310897"/>
                  </a:lnTo>
                  <a:lnTo>
                    <a:pt x="929923" y="274816"/>
                  </a:lnTo>
                  <a:lnTo>
                    <a:pt x="1017118" y="227911"/>
                  </a:lnTo>
                  <a:lnTo>
                    <a:pt x="1075086" y="201451"/>
                  </a:lnTo>
                  <a:lnTo>
                    <a:pt x="1133054" y="177999"/>
                  </a:lnTo>
                  <a:lnTo>
                    <a:pt x="1191509" y="156951"/>
                  </a:lnTo>
                  <a:lnTo>
                    <a:pt x="1249477" y="138310"/>
                  </a:lnTo>
                  <a:lnTo>
                    <a:pt x="1307445" y="122073"/>
                  </a:lnTo>
                  <a:lnTo>
                    <a:pt x="1336673" y="114857"/>
                  </a:lnTo>
                  <a:lnTo>
                    <a:pt x="1365413" y="107641"/>
                  </a:lnTo>
                  <a:lnTo>
                    <a:pt x="1394641" y="101026"/>
                  </a:lnTo>
                  <a:lnTo>
                    <a:pt x="1423868" y="95013"/>
                  </a:lnTo>
                  <a:lnTo>
                    <a:pt x="1452609" y="88999"/>
                  </a:lnTo>
                  <a:lnTo>
                    <a:pt x="1511064" y="78175"/>
                  </a:lnTo>
                  <a:lnTo>
                    <a:pt x="1539804" y="73364"/>
                  </a:lnTo>
                  <a:lnTo>
                    <a:pt x="1569032" y="68553"/>
                  </a:lnTo>
                  <a:lnTo>
                    <a:pt x="1598259" y="64344"/>
                  </a:lnTo>
                  <a:lnTo>
                    <a:pt x="1627000" y="60134"/>
                  </a:lnTo>
                  <a:lnTo>
                    <a:pt x="1656227" y="56526"/>
                  </a:lnTo>
                  <a:lnTo>
                    <a:pt x="1684968" y="52918"/>
                  </a:lnTo>
                  <a:lnTo>
                    <a:pt x="1714195" y="49310"/>
                  </a:lnTo>
                  <a:lnTo>
                    <a:pt x="1743423" y="46303"/>
                  </a:lnTo>
                  <a:lnTo>
                    <a:pt x="1772163" y="43297"/>
                  </a:lnTo>
                  <a:lnTo>
                    <a:pt x="1801391" y="40290"/>
                  </a:lnTo>
                  <a:lnTo>
                    <a:pt x="1830618" y="37884"/>
                  </a:lnTo>
                  <a:lnTo>
                    <a:pt x="1859359" y="34878"/>
                  </a:lnTo>
                  <a:lnTo>
                    <a:pt x="1888586" y="33074"/>
                  </a:lnTo>
                  <a:lnTo>
                    <a:pt x="1917814" y="30668"/>
                  </a:lnTo>
                  <a:lnTo>
                    <a:pt x="1946554" y="28263"/>
                  </a:lnTo>
                  <a:lnTo>
                    <a:pt x="2005009" y="24655"/>
                  </a:lnTo>
                  <a:lnTo>
                    <a:pt x="2033750" y="22851"/>
                  </a:lnTo>
                  <a:lnTo>
                    <a:pt x="2062977" y="21047"/>
                  </a:lnTo>
                  <a:lnTo>
                    <a:pt x="2092205" y="19844"/>
                  </a:lnTo>
                  <a:lnTo>
                    <a:pt x="2120945" y="18040"/>
                  </a:lnTo>
                  <a:lnTo>
                    <a:pt x="2150173" y="16837"/>
                  </a:lnTo>
                  <a:lnTo>
                    <a:pt x="2178913" y="15635"/>
                  </a:lnTo>
                  <a:lnTo>
                    <a:pt x="2208141" y="14432"/>
                  </a:lnTo>
                  <a:lnTo>
                    <a:pt x="2237368" y="13229"/>
                  </a:lnTo>
                  <a:lnTo>
                    <a:pt x="2266109" y="12026"/>
                  </a:lnTo>
                  <a:lnTo>
                    <a:pt x="2295336" y="11425"/>
                  </a:lnTo>
                  <a:lnTo>
                    <a:pt x="2324564" y="10222"/>
                  </a:lnTo>
                  <a:lnTo>
                    <a:pt x="2353304" y="9020"/>
                  </a:lnTo>
                  <a:lnTo>
                    <a:pt x="2411759" y="7817"/>
                  </a:lnTo>
                  <a:lnTo>
                    <a:pt x="2440500" y="6614"/>
                  </a:lnTo>
                  <a:lnTo>
                    <a:pt x="2469727" y="6013"/>
                  </a:lnTo>
                  <a:lnTo>
                    <a:pt x="2498955" y="5412"/>
                  </a:lnTo>
                  <a:lnTo>
                    <a:pt x="2527695" y="4810"/>
                  </a:lnTo>
                  <a:lnTo>
                    <a:pt x="2586150" y="3608"/>
                  </a:lnTo>
                  <a:lnTo>
                    <a:pt x="2614891" y="3006"/>
                  </a:lnTo>
                  <a:lnTo>
                    <a:pt x="2644118" y="3006"/>
                  </a:lnTo>
                  <a:lnTo>
                    <a:pt x="2672859" y="2405"/>
                  </a:lnTo>
                  <a:lnTo>
                    <a:pt x="2731314" y="1202"/>
                  </a:lnTo>
                  <a:lnTo>
                    <a:pt x="2760054" y="1202"/>
                  </a:lnTo>
                  <a:lnTo>
                    <a:pt x="2789282" y="601"/>
                  </a:lnTo>
                  <a:lnTo>
                    <a:pt x="2818509" y="601"/>
                  </a:lnTo>
                  <a:lnTo>
                    <a:pt x="2847250" y="0"/>
                  </a:lnTo>
                  <a:lnTo>
                    <a:pt x="2876477" y="0"/>
                  </a:lnTo>
                </a:path>
              </a:pathLst>
            </a:custGeom>
            <a:noFill/>
            <a:ln cap="flat" cmpd="sng" w="22625">
              <a:solidFill>
                <a:srgbClr val="0A3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g2d47119ddfd_1_650"/>
            <p:cNvSpPr/>
            <p:nvPr/>
          </p:nvSpPr>
          <p:spPr>
            <a:xfrm>
              <a:off x="8370689" y="2679379"/>
              <a:ext cx="2876550" cy="2084070"/>
            </a:xfrm>
            <a:custGeom>
              <a:rect b="b" l="l" r="r" t="t"/>
              <a:pathLst>
                <a:path extrusionOk="0" h="2084070" w="2876550">
                  <a:moveTo>
                    <a:pt x="0" y="0"/>
                  </a:moveTo>
                  <a:lnTo>
                    <a:pt x="0" y="2083672"/>
                  </a:lnTo>
                  <a:lnTo>
                    <a:pt x="2876477" y="208367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1" name="Google Shape;541;g2d47119ddfd_1_6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762487" y="2398776"/>
              <a:ext cx="768096" cy="1161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2" name="Google Shape;542;g2d47119ddfd_1_650"/>
            <p:cNvSpPr/>
            <p:nvPr/>
          </p:nvSpPr>
          <p:spPr>
            <a:xfrm>
              <a:off x="10822556" y="2432244"/>
              <a:ext cx="649604" cy="1042670"/>
            </a:xfrm>
            <a:custGeom>
              <a:rect b="b" l="l" r="r" t="t"/>
              <a:pathLst>
                <a:path extrusionOk="0" h="1042670" w="649604">
                  <a:moveTo>
                    <a:pt x="0" y="521283"/>
                  </a:moveTo>
                  <a:lnTo>
                    <a:pt x="1905" y="464483"/>
                  </a:lnTo>
                  <a:lnTo>
                    <a:pt x="7490" y="409455"/>
                  </a:lnTo>
                  <a:lnTo>
                    <a:pt x="16556" y="356517"/>
                  </a:lnTo>
                  <a:lnTo>
                    <a:pt x="28904" y="305986"/>
                  </a:lnTo>
                  <a:lnTo>
                    <a:pt x="44337" y="258181"/>
                  </a:lnTo>
                  <a:lnTo>
                    <a:pt x="62658" y="213420"/>
                  </a:lnTo>
                  <a:lnTo>
                    <a:pt x="83666" y="172020"/>
                  </a:lnTo>
                  <a:lnTo>
                    <a:pt x="107165" y="134300"/>
                  </a:lnTo>
                  <a:lnTo>
                    <a:pt x="132957" y="100577"/>
                  </a:lnTo>
                  <a:lnTo>
                    <a:pt x="160842" y="71170"/>
                  </a:lnTo>
                  <a:lnTo>
                    <a:pt x="190624" y="46397"/>
                  </a:lnTo>
                  <a:lnTo>
                    <a:pt x="255083" y="12023"/>
                  </a:lnTo>
                  <a:lnTo>
                    <a:pt x="324750" y="0"/>
                  </a:lnTo>
                  <a:lnTo>
                    <a:pt x="360135" y="3058"/>
                  </a:lnTo>
                  <a:lnTo>
                    <a:pt x="427396" y="26575"/>
                  </a:lnTo>
                  <a:lnTo>
                    <a:pt x="488658" y="71170"/>
                  </a:lnTo>
                  <a:lnTo>
                    <a:pt x="516543" y="100577"/>
                  </a:lnTo>
                  <a:lnTo>
                    <a:pt x="542335" y="134300"/>
                  </a:lnTo>
                  <a:lnTo>
                    <a:pt x="565834" y="172020"/>
                  </a:lnTo>
                  <a:lnTo>
                    <a:pt x="586842" y="213420"/>
                  </a:lnTo>
                  <a:lnTo>
                    <a:pt x="605163" y="258181"/>
                  </a:lnTo>
                  <a:lnTo>
                    <a:pt x="620596" y="305986"/>
                  </a:lnTo>
                  <a:lnTo>
                    <a:pt x="632945" y="356517"/>
                  </a:lnTo>
                  <a:lnTo>
                    <a:pt x="642010" y="409455"/>
                  </a:lnTo>
                  <a:lnTo>
                    <a:pt x="647595" y="464483"/>
                  </a:lnTo>
                  <a:lnTo>
                    <a:pt x="649501" y="521283"/>
                  </a:lnTo>
                  <a:lnTo>
                    <a:pt x="647595" y="578083"/>
                  </a:lnTo>
                  <a:lnTo>
                    <a:pt x="642010" y="633111"/>
                  </a:lnTo>
                  <a:lnTo>
                    <a:pt x="632945" y="686049"/>
                  </a:lnTo>
                  <a:lnTo>
                    <a:pt x="620596" y="736580"/>
                  </a:lnTo>
                  <a:lnTo>
                    <a:pt x="605163" y="784385"/>
                  </a:lnTo>
                  <a:lnTo>
                    <a:pt x="586842" y="829146"/>
                  </a:lnTo>
                  <a:lnTo>
                    <a:pt x="565834" y="870546"/>
                  </a:lnTo>
                  <a:lnTo>
                    <a:pt x="542335" y="908266"/>
                  </a:lnTo>
                  <a:lnTo>
                    <a:pt x="516543" y="941989"/>
                  </a:lnTo>
                  <a:lnTo>
                    <a:pt x="488658" y="971396"/>
                  </a:lnTo>
                  <a:lnTo>
                    <a:pt x="458876" y="996169"/>
                  </a:lnTo>
                  <a:lnTo>
                    <a:pt x="394417" y="1030543"/>
                  </a:lnTo>
                  <a:lnTo>
                    <a:pt x="324750" y="1042567"/>
                  </a:lnTo>
                  <a:lnTo>
                    <a:pt x="289365" y="1039508"/>
                  </a:lnTo>
                  <a:lnTo>
                    <a:pt x="222104" y="1015991"/>
                  </a:lnTo>
                  <a:lnTo>
                    <a:pt x="160842" y="971396"/>
                  </a:lnTo>
                  <a:lnTo>
                    <a:pt x="132957" y="941989"/>
                  </a:lnTo>
                  <a:lnTo>
                    <a:pt x="107165" y="908266"/>
                  </a:lnTo>
                  <a:lnTo>
                    <a:pt x="83666" y="870546"/>
                  </a:lnTo>
                  <a:lnTo>
                    <a:pt x="62658" y="829146"/>
                  </a:lnTo>
                  <a:lnTo>
                    <a:pt x="44337" y="784385"/>
                  </a:lnTo>
                  <a:lnTo>
                    <a:pt x="28904" y="736580"/>
                  </a:lnTo>
                  <a:lnTo>
                    <a:pt x="16556" y="686049"/>
                  </a:lnTo>
                  <a:lnTo>
                    <a:pt x="7490" y="633111"/>
                  </a:lnTo>
                  <a:lnTo>
                    <a:pt x="1905" y="578083"/>
                  </a:lnTo>
                  <a:lnTo>
                    <a:pt x="0" y="521283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3" name="Google Shape;543;g2d47119ddfd_1_650"/>
          <p:cNvGrpSpPr/>
          <p:nvPr/>
        </p:nvGrpSpPr>
        <p:grpSpPr>
          <a:xfrm>
            <a:off x="3714213" y="2274327"/>
            <a:ext cx="3111169" cy="3339698"/>
            <a:chOff x="4234652" y="2064005"/>
            <a:chExt cx="3547109" cy="3030854"/>
          </a:xfrm>
        </p:grpSpPr>
        <p:sp>
          <p:nvSpPr>
            <p:cNvPr id="544" name="Google Shape;544;g2d47119ddfd_1_650"/>
            <p:cNvSpPr/>
            <p:nvPr/>
          </p:nvSpPr>
          <p:spPr>
            <a:xfrm>
              <a:off x="4234652" y="2064005"/>
              <a:ext cx="3547109" cy="3030854"/>
            </a:xfrm>
            <a:custGeom>
              <a:rect b="b" l="l" r="r" t="t"/>
              <a:pathLst>
                <a:path extrusionOk="0" h="3030854" w="3547109">
                  <a:moveTo>
                    <a:pt x="3546552" y="0"/>
                  </a:moveTo>
                  <a:lnTo>
                    <a:pt x="0" y="0"/>
                  </a:lnTo>
                  <a:lnTo>
                    <a:pt x="0" y="3030796"/>
                  </a:lnTo>
                  <a:lnTo>
                    <a:pt x="3546552" y="3030796"/>
                  </a:lnTo>
                  <a:lnTo>
                    <a:pt x="35465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2d47119ddfd_1_650"/>
            <p:cNvSpPr/>
            <p:nvPr/>
          </p:nvSpPr>
          <p:spPr>
            <a:xfrm>
              <a:off x="4579456" y="2695421"/>
              <a:ext cx="2908934" cy="2084070"/>
            </a:xfrm>
            <a:custGeom>
              <a:rect b="b" l="l" r="r" t="t"/>
              <a:pathLst>
                <a:path extrusionOk="0" h="2084070" w="2908934">
                  <a:moveTo>
                    <a:pt x="0" y="0"/>
                  </a:moveTo>
                  <a:lnTo>
                    <a:pt x="0" y="2083672"/>
                  </a:lnTo>
                  <a:lnTo>
                    <a:pt x="2908665" y="208367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6" name="Google Shape;546;g2d47119ddfd_1_650"/>
          <p:cNvSpPr txBox="1"/>
          <p:nvPr/>
        </p:nvSpPr>
        <p:spPr>
          <a:xfrm rot="-5400000">
            <a:off x="3213845" y="4014450"/>
            <a:ext cx="1356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48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2d47119ddfd_1_650"/>
          <p:cNvSpPr txBox="1"/>
          <p:nvPr/>
        </p:nvSpPr>
        <p:spPr>
          <a:xfrm>
            <a:off x="4902532" y="5328721"/>
            <a:ext cx="778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pt-BR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2d47119ddfd_1_650"/>
          <p:cNvSpPr txBox="1"/>
          <p:nvPr/>
        </p:nvSpPr>
        <p:spPr>
          <a:xfrm>
            <a:off x="4599963" y="2453051"/>
            <a:ext cx="1384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pt-BR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Speed Improvement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g2d47119ddfd_1_650"/>
          <p:cNvGrpSpPr/>
          <p:nvPr/>
        </p:nvGrpSpPr>
        <p:grpSpPr>
          <a:xfrm>
            <a:off x="4016641" y="2970084"/>
            <a:ext cx="2551426" cy="2296437"/>
            <a:chOff x="4579456" y="2695421"/>
            <a:chExt cx="2908934" cy="2084070"/>
          </a:xfrm>
        </p:grpSpPr>
        <p:sp>
          <p:nvSpPr>
            <p:cNvPr id="550" name="Google Shape;550;g2d47119ddfd_1_650"/>
            <p:cNvSpPr/>
            <p:nvPr/>
          </p:nvSpPr>
          <p:spPr>
            <a:xfrm>
              <a:off x="4579456" y="3032778"/>
              <a:ext cx="2908934" cy="1670050"/>
            </a:xfrm>
            <a:custGeom>
              <a:rect b="b" l="l" r="r" t="t"/>
              <a:pathLst>
                <a:path extrusionOk="0" h="1670050" w="2908934">
                  <a:moveTo>
                    <a:pt x="0" y="1669944"/>
                  </a:moveTo>
                  <a:lnTo>
                    <a:pt x="29554" y="1571924"/>
                  </a:lnTo>
                  <a:lnTo>
                    <a:pt x="58616" y="1478715"/>
                  </a:lnTo>
                  <a:lnTo>
                    <a:pt x="88171" y="1391520"/>
                  </a:lnTo>
                  <a:lnTo>
                    <a:pt x="117725" y="1309736"/>
                  </a:lnTo>
                  <a:lnTo>
                    <a:pt x="146787" y="1232162"/>
                  </a:lnTo>
                  <a:lnTo>
                    <a:pt x="176342" y="1160000"/>
                  </a:lnTo>
                  <a:lnTo>
                    <a:pt x="205897" y="1091447"/>
                  </a:lnTo>
                  <a:lnTo>
                    <a:pt x="234959" y="1027102"/>
                  </a:lnTo>
                  <a:lnTo>
                    <a:pt x="264513" y="966366"/>
                  </a:lnTo>
                  <a:lnTo>
                    <a:pt x="293575" y="909238"/>
                  </a:lnTo>
                  <a:lnTo>
                    <a:pt x="323130" y="855718"/>
                  </a:lnTo>
                  <a:lnTo>
                    <a:pt x="352684" y="805205"/>
                  </a:lnTo>
                  <a:lnTo>
                    <a:pt x="381746" y="757698"/>
                  </a:lnTo>
                  <a:lnTo>
                    <a:pt x="411301" y="712597"/>
                  </a:lnTo>
                  <a:lnTo>
                    <a:pt x="440856" y="670503"/>
                  </a:lnTo>
                  <a:lnTo>
                    <a:pt x="469918" y="630814"/>
                  </a:lnTo>
                  <a:lnTo>
                    <a:pt x="499472" y="593530"/>
                  </a:lnTo>
                  <a:lnTo>
                    <a:pt x="529027" y="558652"/>
                  </a:lnTo>
                  <a:lnTo>
                    <a:pt x="558089" y="525578"/>
                  </a:lnTo>
                  <a:lnTo>
                    <a:pt x="587643" y="494308"/>
                  </a:lnTo>
                  <a:lnTo>
                    <a:pt x="617198" y="464842"/>
                  </a:lnTo>
                  <a:lnTo>
                    <a:pt x="646260" y="437180"/>
                  </a:lnTo>
                  <a:lnTo>
                    <a:pt x="675815" y="411322"/>
                  </a:lnTo>
                  <a:lnTo>
                    <a:pt x="705369" y="386666"/>
                  </a:lnTo>
                  <a:lnTo>
                    <a:pt x="763986" y="342167"/>
                  </a:lnTo>
                  <a:lnTo>
                    <a:pt x="822603" y="303079"/>
                  </a:lnTo>
                  <a:lnTo>
                    <a:pt x="881219" y="267600"/>
                  </a:lnTo>
                  <a:lnTo>
                    <a:pt x="940328" y="236931"/>
                  </a:lnTo>
                  <a:lnTo>
                    <a:pt x="998945" y="209269"/>
                  </a:lnTo>
                  <a:lnTo>
                    <a:pt x="1057562" y="185215"/>
                  </a:lnTo>
                  <a:lnTo>
                    <a:pt x="1116671" y="163566"/>
                  </a:lnTo>
                  <a:lnTo>
                    <a:pt x="1145733" y="153343"/>
                  </a:lnTo>
                  <a:lnTo>
                    <a:pt x="1204842" y="135303"/>
                  </a:lnTo>
                  <a:lnTo>
                    <a:pt x="1263459" y="119668"/>
                  </a:lnTo>
                  <a:lnTo>
                    <a:pt x="1322075" y="105235"/>
                  </a:lnTo>
                  <a:lnTo>
                    <a:pt x="1351630" y="99222"/>
                  </a:lnTo>
                  <a:lnTo>
                    <a:pt x="1380692" y="93208"/>
                  </a:lnTo>
                  <a:lnTo>
                    <a:pt x="1439801" y="81783"/>
                  </a:lnTo>
                  <a:lnTo>
                    <a:pt x="1498418" y="72161"/>
                  </a:lnTo>
                  <a:lnTo>
                    <a:pt x="1527972" y="67952"/>
                  </a:lnTo>
                  <a:lnTo>
                    <a:pt x="1557034" y="63742"/>
                  </a:lnTo>
                  <a:lnTo>
                    <a:pt x="1586589" y="59533"/>
                  </a:lnTo>
                  <a:lnTo>
                    <a:pt x="1616144" y="55925"/>
                  </a:lnTo>
                  <a:lnTo>
                    <a:pt x="1645206" y="52317"/>
                  </a:lnTo>
                  <a:lnTo>
                    <a:pt x="1674760" y="48709"/>
                  </a:lnTo>
                  <a:lnTo>
                    <a:pt x="1703822" y="45702"/>
                  </a:lnTo>
                  <a:lnTo>
                    <a:pt x="1733377" y="42695"/>
                  </a:lnTo>
                  <a:lnTo>
                    <a:pt x="1762931" y="40290"/>
                  </a:lnTo>
                  <a:lnTo>
                    <a:pt x="1791993" y="37283"/>
                  </a:lnTo>
                  <a:lnTo>
                    <a:pt x="1821548" y="34878"/>
                  </a:lnTo>
                  <a:lnTo>
                    <a:pt x="1851103" y="33074"/>
                  </a:lnTo>
                  <a:lnTo>
                    <a:pt x="1880165" y="30668"/>
                  </a:lnTo>
                  <a:lnTo>
                    <a:pt x="1909719" y="28864"/>
                  </a:lnTo>
                  <a:lnTo>
                    <a:pt x="1939274" y="26459"/>
                  </a:lnTo>
                  <a:lnTo>
                    <a:pt x="1968336" y="24655"/>
                  </a:lnTo>
                  <a:lnTo>
                    <a:pt x="1997890" y="23452"/>
                  </a:lnTo>
                  <a:lnTo>
                    <a:pt x="2027445" y="21648"/>
                  </a:lnTo>
                  <a:lnTo>
                    <a:pt x="2056507" y="19844"/>
                  </a:lnTo>
                  <a:lnTo>
                    <a:pt x="2086062" y="18641"/>
                  </a:lnTo>
                  <a:lnTo>
                    <a:pt x="2115616" y="17439"/>
                  </a:lnTo>
                  <a:lnTo>
                    <a:pt x="2144678" y="16236"/>
                  </a:lnTo>
                  <a:lnTo>
                    <a:pt x="2174233" y="15033"/>
                  </a:lnTo>
                  <a:lnTo>
                    <a:pt x="2203295" y="13831"/>
                  </a:lnTo>
                  <a:lnTo>
                    <a:pt x="2232850" y="12628"/>
                  </a:lnTo>
                  <a:lnTo>
                    <a:pt x="2262404" y="12026"/>
                  </a:lnTo>
                  <a:lnTo>
                    <a:pt x="2291466" y="10824"/>
                  </a:lnTo>
                  <a:lnTo>
                    <a:pt x="2321021" y="10222"/>
                  </a:lnTo>
                  <a:lnTo>
                    <a:pt x="2350575" y="9020"/>
                  </a:lnTo>
                  <a:lnTo>
                    <a:pt x="2379637" y="8418"/>
                  </a:lnTo>
                  <a:lnTo>
                    <a:pt x="2438747" y="7216"/>
                  </a:lnTo>
                  <a:lnTo>
                    <a:pt x="2467809" y="6614"/>
                  </a:lnTo>
                  <a:lnTo>
                    <a:pt x="2497363" y="6013"/>
                  </a:lnTo>
                  <a:lnTo>
                    <a:pt x="2526918" y="5412"/>
                  </a:lnTo>
                  <a:lnTo>
                    <a:pt x="2555980" y="4810"/>
                  </a:lnTo>
                  <a:lnTo>
                    <a:pt x="2585534" y="4209"/>
                  </a:lnTo>
                  <a:lnTo>
                    <a:pt x="2615089" y="3608"/>
                  </a:lnTo>
                  <a:lnTo>
                    <a:pt x="2644151" y="3006"/>
                  </a:lnTo>
                  <a:lnTo>
                    <a:pt x="2673706" y="3006"/>
                  </a:lnTo>
                  <a:lnTo>
                    <a:pt x="2702768" y="2405"/>
                  </a:lnTo>
                  <a:lnTo>
                    <a:pt x="2732322" y="1804"/>
                  </a:lnTo>
                  <a:lnTo>
                    <a:pt x="2761877" y="1804"/>
                  </a:lnTo>
                  <a:lnTo>
                    <a:pt x="2790939" y="1202"/>
                  </a:lnTo>
                  <a:lnTo>
                    <a:pt x="2820494" y="1202"/>
                  </a:lnTo>
                  <a:lnTo>
                    <a:pt x="2850048" y="601"/>
                  </a:lnTo>
                  <a:lnTo>
                    <a:pt x="2879110" y="601"/>
                  </a:lnTo>
                  <a:lnTo>
                    <a:pt x="2908665" y="0"/>
                  </a:lnTo>
                </a:path>
              </a:pathLst>
            </a:custGeom>
            <a:noFill/>
            <a:ln cap="flat" cmpd="sng" w="22975">
              <a:solidFill>
                <a:srgbClr val="00F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2d47119ddfd_1_650"/>
            <p:cNvSpPr/>
            <p:nvPr/>
          </p:nvSpPr>
          <p:spPr>
            <a:xfrm>
              <a:off x="4579456" y="3028568"/>
              <a:ext cx="2908934" cy="1699895"/>
            </a:xfrm>
            <a:custGeom>
              <a:rect b="b" l="l" r="r" t="t"/>
              <a:pathLst>
                <a:path extrusionOk="0" h="1699895" w="2908934">
                  <a:moveTo>
                    <a:pt x="0" y="1699410"/>
                  </a:moveTo>
                  <a:lnTo>
                    <a:pt x="29554" y="1417378"/>
                  </a:lnTo>
                  <a:lnTo>
                    <a:pt x="58616" y="1181649"/>
                  </a:lnTo>
                  <a:lnTo>
                    <a:pt x="88171" y="985008"/>
                  </a:lnTo>
                  <a:lnTo>
                    <a:pt x="117725" y="821441"/>
                  </a:lnTo>
                  <a:lnTo>
                    <a:pt x="146787" y="684935"/>
                  </a:lnTo>
                  <a:lnTo>
                    <a:pt x="176342" y="571280"/>
                  </a:lnTo>
                  <a:lnTo>
                    <a:pt x="205897" y="476267"/>
                  </a:lnTo>
                  <a:lnTo>
                    <a:pt x="234959" y="396889"/>
                  </a:lnTo>
                  <a:lnTo>
                    <a:pt x="264513" y="331342"/>
                  </a:lnTo>
                  <a:lnTo>
                    <a:pt x="293575" y="276018"/>
                  </a:lnTo>
                  <a:lnTo>
                    <a:pt x="323130" y="230316"/>
                  </a:lnTo>
                  <a:lnTo>
                    <a:pt x="352684" y="191830"/>
                  </a:lnTo>
                  <a:lnTo>
                    <a:pt x="381746" y="159958"/>
                  </a:lnTo>
                  <a:lnTo>
                    <a:pt x="411301" y="133499"/>
                  </a:lnTo>
                  <a:lnTo>
                    <a:pt x="469918" y="92607"/>
                  </a:lnTo>
                  <a:lnTo>
                    <a:pt x="529027" y="64945"/>
                  </a:lnTo>
                  <a:lnTo>
                    <a:pt x="587643" y="45101"/>
                  </a:lnTo>
                  <a:lnTo>
                    <a:pt x="646260" y="31270"/>
                  </a:lnTo>
                  <a:lnTo>
                    <a:pt x="705369" y="21648"/>
                  </a:lnTo>
                  <a:lnTo>
                    <a:pt x="763986" y="15033"/>
                  </a:lnTo>
                  <a:lnTo>
                    <a:pt x="852157" y="9020"/>
                  </a:lnTo>
                  <a:lnTo>
                    <a:pt x="881219" y="7216"/>
                  </a:lnTo>
                  <a:lnTo>
                    <a:pt x="910774" y="6013"/>
                  </a:lnTo>
                  <a:lnTo>
                    <a:pt x="940328" y="5412"/>
                  </a:lnTo>
                  <a:lnTo>
                    <a:pt x="969390" y="4209"/>
                  </a:lnTo>
                  <a:lnTo>
                    <a:pt x="998945" y="3608"/>
                  </a:lnTo>
                  <a:lnTo>
                    <a:pt x="1028500" y="3006"/>
                  </a:lnTo>
                  <a:lnTo>
                    <a:pt x="1057562" y="2405"/>
                  </a:lnTo>
                  <a:lnTo>
                    <a:pt x="1087116" y="2405"/>
                  </a:lnTo>
                  <a:lnTo>
                    <a:pt x="1116671" y="1804"/>
                  </a:lnTo>
                  <a:lnTo>
                    <a:pt x="1145733" y="1804"/>
                  </a:lnTo>
                  <a:lnTo>
                    <a:pt x="1175287" y="1202"/>
                  </a:lnTo>
                  <a:lnTo>
                    <a:pt x="1263459" y="1202"/>
                  </a:lnTo>
                  <a:lnTo>
                    <a:pt x="1292521" y="601"/>
                  </a:lnTo>
                  <a:lnTo>
                    <a:pt x="1645206" y="601"/>
                  </a:lnTo>
                  <a:lnTo>
                    <a:pt x="1674760" y="0"/>
                  </a:lnTo>
                  <a:lnTo>
                    <a:pt x="2908665" y="0"/>
                  </a:lnTo>
                </a:path>
              </a:pathLst>
            </a:custGeom>
            <a:noFill/>
            <a:ln cap="flat" cmpd="sng" w="22925">
              <a:solidFill>
                <a:srgbClr val="0A3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2d47119ddfd_1_650"/>
            <p:cNvSpPr/>
            <p:nvPr/>
          </p:nvSpPr>
          <p:spPr>
            <a:xfrm>
              <a:off x="4579456" y="2695421"/>
              <a:ext cx="2908934" cy="2084070"/>
            </a:xfrm>
            <a:custGeom>
              <a:rect b="b" l="l" r="r" t="t"/>
              <a:pathLst>
                <a:path extrusionOk="0" h="2084070" w="2908934">
                  <a:moveTo>
                    <a:pt x="0" y="0"/>
                  </a:moveTo>
                  <a:lnTo>
                    <a:pt x="0" y="2083672"/>
                  </a:lnTo>
                  <a:lnTo>
                    <a:pt x="2908665" y="208367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3" name="Google Shape;553;g2d47119ddfd_1_6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23815" y="2822447"/>
              <a:ext cx="969263" cy="9966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g2d47119ddfd_1_650"/>
            <p:cNvSpPr/>
            <p:nvPr/>
          </p:nvSpPr>
          <p:spPr>
            <a:xfrm>
              <a:off x="4681242" y="2854284"/>
              <a:ext cx="854075" cy="882650"/>
            </a:xfrm>
            <a:custGeom>
              <a:rect b="b" l="l" r="r" t="t"/>
              <a:pathLst>
                <a:path extrusionOk="0" h="882650" w="854075">
                  <a:moveTo>
                    <a:pt x="0" y="441086"/>
                  </a:moveTo>
                  <a:lnTo>
                    <a:pt x="2504" y="393024"/>
                  </a:lnTo>
                  <a:lnTo>
                    <a:pt x="9846" y="346462"/>
                  </a:lnTo>
                  <a:lnTo>
                    <a:pt x="21763" y="301668"/>
                  </a:lnTo>
                  <a:lnTo>
                    <a:pt x="37996" y="258911"/>
                  </a:lnTo>
                  <a:lnTo>
                    <a:pt x="58284" y="218461"/>
                  </a:lnTo>
                  <a:lnTo>
                    <a:pt x="82366" y="180586"/>
                  </a:lnTo>
                  <a:lnTo>
                    <a:pt x="109983" y="145555"/>
                  </a:lnTo>
                  <a:lnTo>
                    <a:pt x="140874" y="113638"/>
                  </a:lnTo>
                  <a:lnTo>
                    <a:pt x="174778" y="85104"/>
                  </a:lnTo>
                  <a:lnTo>
                    <a:pt x="211435" y="60221"/>
                  </a:lnTo>
                  <a:lnTo>
                    <a:pt x="250584" y="39259"/>
                  </a:lnTo>
                  <a:lnTo>
                    <a:pt x="291966" y="22486"/>
                  </a:lnTo>
                  <a:lnTo>
                    <a:pt x="335319" y="10173"/>
                  </a:lnTo>
                  <a:lnTo>
                    <a:pt x="380384" y="2588"/>
                  </a:lnTo>
                  <a:lnTo>
                    <a:pt x="426900" y="0"/>
                  </a:lnTo>
                  <a:lnTo>
                    <a:pt x="473415" y="2588"/>
                  </a:lnTo>
                  <a:lnTo>
                    <a:pt x="518480" y="10173"/>
                  </a:lnTo>
                  <a:lnTo>
                    <a:pt x="561833" y="22486"/>
                  </a:lnTo>
                  <a:lnTo>
                    <a:pt x="603215" y="39259"/>
                  </a:lnTo>
                  <a:lnTo>
                    <a:pt x="642364" y="60221"/>
                  </a:lnTo>
                  <a:lnTo>
                    <a:pt x="679021" y="85104"/>
                  </a:lnTo>
                  <a:lnTo>
                    <a:pt x="712925" y="113638"/>
                  </a:lnTo>
                  <a:lnTo>
                    <a:pt x="743816" y="145555"/>
                  </a:lnTo>
                  <a:lnTo>
                    <a:pt x="771433" y="180586"/>
                  </a:lnTo>
                  <a:lnTo>
                    <a:pt x="795515" y="218461"/>
                  </a:lnTo>
                  <a:lnTo>
                    <a:pt x="815803" y="258911"/>
                  </a:lnTo>
                  <a:lnTo>
                    <a:pt x="832036" y="301668"/>
                  </a:lnTo>
                  <a:lnTo>
                    <a:pt x="843953" y="346462"/>
                  </a:lnTo>
                  <a:lnTo>
                    <a:pt x="851295" y="393024"/>
                  </a:lnTo>
                  <a:lnTo>
                    <a:pt x="853800" y="441086"/>
                  </a:lnTo>
                  <a:lnTo>
                    <a:pt x="851295" y="489147"/>
                  </a:lnTo>
                  <a:lnTo>
                    <a:pt x="843953" y="535709"/>
                  </a:lnTo>
                  <a:lnTo>
                    <a:pt x="832036" y="580503"/>
                  </a:lnTo>
                  <a:lnTo>
                    <a:pt x="815803" y="623260"/>
                  </a:lnTo>
                  <a:lnTo>
                    <a:pt x="795515" y="663710"/>
                  </a:lnTo>
                  <a:lnTo>
                    <a:pt x="771433" y="701585"/>
                  </a:lnTo>
                  <a:lnTo>
                    <a:pt x="743816" y="736616"/>
                  </a:lnTo>
                  <a:lnTo>
                    <a:pt x="712925" y="768533"/>
                  </a:lnTo>
                  <a:lnTo>
                    <a:pt x="679021" y="797068"/>
                  </a:lnTo>
                  <a:lnTo>
                    <a:pt x="642364" y="821950"/>
                  </a:lnTo>
                  <a:lnTo>
                    <a:pt x="603215" y="842912"/>
                  </a:lnTo>
                  <a:lnTo>
                    <a:pt x="561833" y="859685"/>
                  </a:lnTo>
                  <a:lnTo>
                    <a:pt x="518480" y="871998"/>
                  </a:lnTo>
                  <a:lnTo>
                    <a:pt x="473415" y="879583"/>
                  </a:lnTo>
                  <a:lnTo>
                    <a:pt x="426900" y="882172"/>
                  </a:lnTo>
                  <a:lnTo>
                    <a:pt x="380384" y="879583"/>
                  </a:lnTo>
                  <a:lnTo>
                    <a:pt x="335319" y="871998"/>
                  </a:lnTo>
                  <a:lnTo>
                    <a:pt x="291966" y="859685"/>
                  </a:lnTo>
                  <a:lnTo>
                    <a:pt x="250584" y="842912"/>
                  </a:lnTo>
                  <a:lnTo>
                    <a:pt x="211435" y="821950"/>
                  </a:lnTo>
                  <a:lnTo>
                    <a:pt x="174778" y="797068"/>
                  </a:lnTo>
                  <a:lnTo>
                    <a:pt x="140874" y="768533"/>
                  </a:lnTo>
                  <a:lnTo>
                    <a:pt x="109983" y="736616"/>
                  </a:lnTo>
                  <a:lnTo>
                    <a:pt x="82366" y="701585"/>
                  </a:lnTo>
                  <a:lnTo>
                    <a:pt x="58284" y="663710"/>
                  </a:lnTo>
                  <a:lnTo>
                    <a:pt x="37996" y="623260"/>
                  </a:lnTo>
                  <a:lnTo>
                    <a:pt x="21763" y="580503"/>
                  </a:lnTo>
                  <a:lnTo>
                    <a:pt x="9846" y="535709"/>
                  </a:lnTo>
                  <a:lnTo>
                    <a:pt x="2504" y="489147"/>
                  </a:lnTo>
                  <a:lnTo>
                    <a:pt x="0" y="441086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g2d47119ddfd_1_650"/>
          <p:cNvSpPr/>
          <p:nvPr/>
        </p:nvSpPr>
        <p:spPr>
          <a:xfrm>
            <a:off x="687989" y="3010634"/>
            <a:ext cx="2552590" cy="2159770"/>
          </a:xfrm>
          <a:custGeom>
            <a:rect b="b" l="l" r="r" t="t"/>
            <a:pathLst>
              <a:path extrusionOk="0" h="1958975" w="2908935">
                <a:moveTo>
                  <a:pt x="0" y="0"/>
                </a:moveTo>
                <a:lnTo>
                  <a:pt x="0" y="1958835"/>
                </a:lnTo>
                <a:lnTo>
                  <a:pt x="2908665" y="195883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2d47119ddfd_1_650"/>
          <p:cNvSpPr txBox="1"/>
          <p:nvPr/>
        </p:nvSpPr>
        <p:spPr>
          <a:xfrm rot="-5400000">
            <a:off x="-74830" y="3986240"/>
            <a:ext cx="12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48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2d47119ddfd_1_650"/>
          <p:cNvSpPr txBox="1"/>
          <p:nvPr/>
        </p:nvSpPr>
        <p:spPr>
          <a:xfrm>
            <a:off x="1573958" y="5227244"/>
            <a:ext cx="778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pt-BR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2d47119ddfd_1_650"/>
          <p:cNvSpPr txBox="1"/>
          <p:nvPr/>
        </p:nvSpPr>
        <p:spPr>
          <a:xfrm>
            <a:off x="1288332" y="2523859"/>
            <a:ext cx="13512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pt-BR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Offset Improvement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9" name="Google Shape;559;g2d47119ddfd_1_650"/>
          <p:cNvGrpSpPr/>
          <p:nvPr/>
        </p:nvGrpSpPr>
        <p:grpSpPr>
          <a:xfrm>
            <a:off x="350216" y="3010765"/>
            <a:ext cx="2889214" cy="2332753"/>
            <a:chOff x="399288" y="2732340"/>
            <a:chExt cx="3294053" cy="2117028"/>
          </a:xfrm>
        </p:grpSpPr>
        <p:sp>
          <p:nvSpPr>
            <p:cNvPr id="560" name="Google Shape;560;g2d47119ddfd_1_650"/>
            <p:cNvSpPr/>
            <p:nvPr/>
          </p:nvSpPr>
          <p:spPr>
            <a:xfrm>
              <a:off x="784406" y="3049485"/>
              <a:ext cx="2908935" cy="1570354"/>
            </a:xfrm>
            <a:custGeom>
              <a:rect b="b" l="l" r="r" t="t"/>
              <a:pathLst>
                <a:path extrusionOk="0" h="1570354" w="2908935">
                  <a:moveTo>
                    <a:pt x="0" y="1569895"/>
                  </a:moveTo>
                  <a:lnTo>
                    <a:pt x="29554" y="1477748"/>
                  </a:lnTo>
                  <a:lnTo>
                    <a:pt x="58616" y="1390123"/>
                  </a:lnTo>
                  <a:lnTo>
                    <a:pt x="88171" y="1308151"/>
                  </a:lnTo>
                  <a:lnTo>
                    <a:pt x="117725" y="1231268"/>
                  </a:lnTo>
                  <a:lnTo>
                    <a:pt x="146787" y="1158341"/>
                  </a:lnTo>
                  <a:lnTo>
                    <a:pt x="176342" y="1090503"/>
                  </a:lnTo>
                  <a:lnTo>
                    <a:pt x="205897" y="1026056"/>
                  </a:lnTo>
                  <a:lnTo>
                    <a:pt x="234959" y="965567"/>
                  </a:lnTo>
                  <a:lnTo>
                    <a:pt x="264513" y="908470"/>
                  </a:lnTo>
                  <a:lnTo>
                    <a:pt x="293575" y="854764"/>
                  </a:lnTo>
                  <a:lnTo>
                    <a:pt x="323130" y="804451"/>
                  </a:lnTo>
                  <a:lnTo>
                    <a:pt x="352684" y="756964"/>
                  </a:lnTo>
                  <a:lnTo>
                    <a:pt x="381746" y="712303"/>
                  </a:lnTo>
                  <a:lnTo>
                    <a:pt x="411301" y="669904"/>
                  </a:lnTo>
                  <a:lnTo>
                    <a:pt x="440856" y="630332"/>
                  </a:lnTo>
                  <a:lnTo>
                    <a:pt x="469918" y="593021"/>
                  </a:lnTo>
                  <a:lnTo>
                    <a:pt x="499472" y="557971"/>
                  </a:lnTo>
                  <a:lnTo>
                    <a:pt x="529027" y="525182"/>
                  </a:lnTo>
                  <a:lnTo>
                    <a:pt x="558089" y="494090"/>
                  </a:lnTo>
                  <a:lnTo>
                    <a:pt x="587643" y="464693"/>
                  </a:lnTo>
                  <a:lnTo>
                    <a:pt x="617198" y="436992"/>
                  </a:lnTo>
                  <a:lnTo>
                    <a:pt x="646260" y="410988"/>
                  </a:lnTo>
                  <a:lnTo>
                    <a:pt x="675815" y="386679"/>
                  </a:lnTo>
                  <a:lnTo>
                    <a:pt x="734431" y="342018"/>
                  </a:lnTo>
                  <a:lnTo>
                    <a:pt x="793048" y="302446"/>
                  </a:lnTo>
                  <a:lnTo>
                    <a:pt x="852157" y="267961"/>
                  </a:lnTo>
                  <a:lnTo>
                    <a:pt x="910774" y="236869"/>
                  </a:lnTo>
                  <a:lnTo>
                    <a:pt x="969390" y="209168"/>
                  </a:lnTo>
                  <a:lnTo>
                    <a:pt x="1028500" y="184859"/>
                  </a:lnTo>
                  <a:lnTo>
                    <a:pt x="1087116" y="163377"/>
                  </a:lnTo>
                  <a:lnTo>
                    <a:pt x="1116671" y="153767"/>
                  </a:lnTo>
                  <a:lnTo>
                    <a:pt x="1145733" y="144156"/>
                  </a:lnTo>
                  <a:lnTo>
                    <a:pt x="1204842" y="127197"/>
                  </a:lnTo>
                  <a:lnTo>
                    <a:pt x="1263459" y="112498"/>
                  </a:lnTo>
                  <a:lnTo>
                    <a:pt x="1322075" y="98931"/>
                  </a:lnTo>
                  <a:lnTo>
                    <a:pt x="1351630" y="93277"/>
                  </a:lnTo>
                  <a:lnTo>
                    <a:pt x="1380692" y="87624"/>
                  </a:lnTo>
                  <a:lnTo>
                    <a:pt x="1439801" y="76883"/>
                  </a:lnTo>
                  <a:lnTo>
                    <a:pt x="1498418" y="67838"/>
                  </a:lnTo>
                  <a:lnTo>
                    <a:pt x="1527972" y="63881"/>
                  </a:lnTo>
                  <a:lnTo>
                    <a:pt x="1557034" y="59923"/>
                  </a:lnTo>
                  <a:lnTo>
                    <a:pt x="1586589" y="55966"/>
                  </a:lnTo>
                  <a:lnTo>
                    <a:pt x="1616144" y="52574"/>
                  </a:lnTo>
                  <a:lnTo>
                    <a:pt x="1645206" y="49182"/>
                  </a:lnTo>
                  <a:lnTo>
                    <a:pt x="1674760" y="45790"/>
                  </a:lnTo>
                  <a:lnTo>
                    <a:pt x="1703822" y="42964"/>
                  </a:lnTo>
                  <a:lnTo>
                    <a:pt x="1733377" y="40137"/>
                  </a:lnTo>
                  <a:lnTo>
                    <a:pt x="1762931" y="37876"/>
                  </a:lnTo>
                  <a:lnTo>
                    <a:pt x="1791993" y="35049"/>
                  </a:lnTo>
                  <a:lnTo>
                    <a:pt x="1821548" y="32788"/>
                  </a:lnTo>
                  <a:lnTo>
                    <a:pt x="1851103" y="31092"/>
                  </a:lnTo>
                  <a:lnTo>
                    <a:pt x="1880165" y="28831"/>
                  </a:lnTo>
                  <a:lnTo>
                    <a:pt x="1909719" y="27135"/>
                  </a:lnTo>
                  <a:lnTo>
                    <a:pt x="1939274" y="24874"/>
                  </a:lnTo>
                  <a:lnTo>
                    <a:pt x="1968336" y="23178"/>
                  </a:lnTo>
                  <a:lnTo>
                    <a:pt x="1997890" y="22047"/>
                  </a:lnTo>
                  <a:lnTo>
                    <a:pt x="2027445" y="20351"/>
                  </a:lnTo>
                  <a:lnTo>
                    <a:pt x="2056507" y="18655"/>
                  </a:lnTo>
                  <a:lnTo>
                    <a:pt x="2086062" y="17524"/>
                  </a:lnTo>
                  <a:lnTo>
                    <a:pt x="2115616" y="16394"/>
                  </a:lnTo>
                  <a:lnTo>
                    <a:pt x="2144678" y="15263"/>
                  </a:lnTo>
                  <a:lnTo>
                    <a:pt x="2174233" y="14133"/>
                  </a:lnTo>
                  <a:lnTo>
                    <a:pt x="2203295" y="13002"/>
                  </a:lnTo>
                  <a:lnTo>
                    <a:pt x="2232850" y="11871"/>
                  </a:lnTo>
                  <a:lnTo>
                    <a:pt x="2262404" y="11306"/>
                  </a:lnTo>
                  <a:lnTo>
                    <a:pt x="2291466" y="10175"/>
                  </a:lnTo>
                  <a:lnTo>
                    <a:pt x="2321021" y="9610"/>
                  </a:lnTo>
                  <a:lnTo>
                    <a:pt x="2350575" y="8479"/>
                  </a:lnTo>
                  <a:lnTo>
                    <a:pt x="2379637" y="7914"/>
                  </a:lnTo>
                  <a:lnTo>
                    <a:pt x="2438747" y="6783"/>
                  </a:lnTo>
                  <a:lnTo>
                    <a:pt x="2467809" y="6218"/>
                  </a:lnTo>
                  <a:lnTo>
                    <a:pt x="2497363" y="5653"/>
                  </a:lnTo>
                  <a:lnTo>
                    <a:pt x="2526918" y="5087"/>
                  </a:lnTo>
                  <a:lnTo>
                    <a:pt x="2555980" y="4522"/>
                  </a:lnTo>
                  <a:lnTo>
                    <a:pt x="2585534" y="3957"/>
                  </a:lnTo>
                  <a:lnTo>
                    <a:pt x="2615089" y="3391"/>
                  </a:lnTo>
                  <a:lnTo>
                    <a:pt x="2644151" y="2826"/>
                  </a:lnTo>
                  <a:lnTo>
                    <a:pt x="2673706" y="2826"/>
                  </a:lnTo>
                  <a:lnTo>
                    <a:pt x="2702768" y="2261"/>
                  </a:lnTo>
                  <a:lnTo>
                    <a:pt x="2732322" y="1695"/>
                  </a:lnTo>
                  <a:lnTo>
                    <a:pt x="2761877" y="1695"/>
                  </a:lnTo>
                  <a:lnTo>
                    <a:pt x="2790939" y="1130"/>
                  </a:lnTo>
                  <a:lnTo>
                    <a:pt x="2820494" y="1130"/>
                  </a:lnTo>
                  <a:lnTo>
                    <a:pt x="2850048" y="565"/>
                  </a:lnTo>
                  <a:lnTo>
                    <a:pt x="2879110" y="565"/>
                  </a:lnTo>
                  <a:lnTo>
                    <a:pt x="2908665" y="0"/>
                  </a:lnTo>
                </a:path>
              </a:pathLst>
            </a:custGeom>
            <a:noFill/>
            <a:ln cap="flat" cmpd="sng" w="21950">
              <a:solidFill>
                <a:srgbClr val="00F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2d47119ddfd_1_650"/>
            <p:cNvSpPr/>
            <p:nvPr/>
          </p:nvSpPr>
          <p:spPr>
            <a:xfrm>
              <a:off x="784406" y="3048354"/>
              <a:ext cx="2908935" cy="942339"/>
            </a:xfrm>
            <a:custGeom>
              <a:rect b="b" l="l" r="r" t="t"/>
              <a:pathLst>
                <a:path extrusionOk="0" h="942339" w="2908935">
                  <a:moveTo>
                    <a:pt x="0" y="941824"/>
                  </a:moveTo>
                  <a:lnTo>
                    <a:pt x="29554" y="885857"/>
                  </a:lnTo>
                  <a:lnTo>
                    <a:pt x="58616" y="833847"/>
                  </a:lnTo>
                  <a:lnTo>
                    <a:pt x="88171" y="784665"/>
                  </a:lnTo>
                  <a:lnTo>
                    <a:pt x="117725" y="738308"/>
                  </a:lnTo>
                  <a:lnTo>
                    <a:pt x="146787" y="694779"/>
                  </a:lnTo>
                  <a:lnTo>
                    <a:pt x="176342" y="654075"/>
                  </a:lnTo>
                  <a:lnTo>
                    <a:pt x="205897" y="615068"/>
                  </a:lnTo>
                  <a:lnTo>
                    <a:pt x="234959" y="578888"/>
                  </a:lnTo>
                  <a:lnTo>
                    <a:pt x="264513" y="544403"/>
                  </a:lnTo>
                  <a:lnTo>
                    <a:pt x="293575" y="512745"/>
                  </a:lnTo>
                  <a:lnTo>
                    <a:pt x="323130" y="482218"/>
                  </a:lnTo>
                  <a:lnTo>
                    <a:pt x="352684" y="453952"/>
                  </a:lnTo>
                  <a:lnTo>
                    <a:pt x="381746" y="426817"/>
                  </a:lnTo>
                  <a:lnTo>
                    <a:pt x="411301" y="401377"/>
                  </a:lnTo>
                  <a:lnTo>
                    <a:pt x="469918" y="355586"/>
                  </a:lnTo>
                  <a:lnTo>
                    <a:pt x="529027" y="314318"/>
                  </a:lnTo>
                  <a:lnTo>
                    <a:pt x="587643" y="278137"/>
                  </a:lnTo>
                  <a:lnTo>
                    <a:pt x="646260" y="246479"/>
                  </a:lnTo>
                  <a:lnTo>
                    <a:pt x="705369" y="217648"/>
                  </a:lnTo>
                  <a:lnTo>
                    <a:pt x="763986" y="192774"/>
                  </a:lnTo>
                  <a:lnTo>
                    <a:pt x="822603" y="170161"/>
                  </a:lnTo>
                  <a:lnTo>
                    <a:pt x="881219" y="150940"/>
                  </a:lnTo>
                  <a:lnTo>
                    <a:pt x="940328" y="133415"/>
                  </a:lnTo>
                  <a:lnTo>
                    <a:pt x="969390" y="124935"/>
                  </a:lnTo>
                  <a:lnTo>
                    <a:pt x="998945" y="117586"/>
                  </a:lnTo>
                  <a:lnTo>
                    <a:pt x="1028500" y="110802"/>
                  </a:lnTo>
                  <a:lnTo>
                    <a:pt x="1057562" y="104018"/>
                  </a:lnTo>
                  <a:lnTo>
                    <a:pt x="1116671" y="91581"/>
                  </a:lnTo>
                  <a:lnTo>
                    <a:pt x="1145733" y="86494"/>
                  </a:lnTo>
                  <a:lnTo>
                    <a:pt x="1175287" y="80840"/>
                  </a:lnTo>
                  <a:lnTo>
                    <a:pt x="1204842" y="76318"/>
                  </a:lnTo>
                  <a:lnTo>
                    <a:pt x="1233904" y="71230"/>
                  </a:lnTo>
                  <a:lnTo>
                    <a:pt x="1263459" y="67273"/>
                  </a:lnTo>
                  <a:lnTo>
                    <a:pt x="1292521" y="62750"/>
                  </a:lnTo>
                  <a:lnTo>
                    <a:pt x="1322075" y="59358"/>
                  </a:lnTo>
                  <a:lnTo>
                    <a:pt x="1351630" y="55401"/>
                  </a:lnTo>
                  <a:lnTo>
                    <a:pt x="1380692" y="52009"/>
                  </a:lnTo>
                  <a:lnTo>
                    <a:pt x="1410247" y="48617"/>
                  </a:lnTo>
                  <a:lnTo>
                    <a:pt x="1439801" y="45790"/>
                  </a:lnTo>
                  <a:lnTo>
                    <a:pt x="1468863" y="42964"/>
                  </a:lnTo>
                  <a:lnTo>
                    <a:pt x="1498418" y="40137"/>
                  </a:lnTo>
                  <a:lnTo>
                    <a:pt x="1527972" y="37876"/>
                  </a:lnTo>
                  <a:lnTo>
                    <a:pt x="1557034" y="35615"/>
                  </a:lnTo>
                  <a:lnTo>
                    <a:pt x="1616144" y="31092"/>
                  </a:lnTo>
                  <a:lnTo>
                    <a:pt x="1645206" y="28831"/>
                  </a:lnTo>
                  <a:lnTo>
                    <a:pt x="1674760" y="27135"/>
                  </a:lnTo>
                  <a:lnTo>
                    <a:pt x="1703822" y="25439"/>
                  </a:lnTo>
                  <a:lnTo>
                    <a:pt x="1733377" y="23743"/>
                  </a:lnTo>
                  <a:lnTo>
                    <a:pt x="1762931" y="22047"/>
                  </a:lnTo>
                  <a:lnTo>
                    <a:pt x="1791993" y="20916"/>
                  </a:lnTo>
                  <a:lnTo>
                    <a:pt x="1821548" y="19220"/>
                  </a:lnTo>
                  <a:lnTo>
                    <a:pt x="1851103" y="18090"/>
                  </a:lnTo>
                  <a:lnTo>
                    <a:pt x="1880165" y="16959"/>
                  </a:lnTo>
                  <a:lnTo>
                    <a:pt x="1939274" y="14698"/>
                  </a:lnTo>
                  <a:lnTo>
                    <a:pt x="1968336" y="13567"/>
                  </a:lnTo>
                  <a:lnTo>
                    <a:pt x="1997890" y="13002"/>
                  </a:lnTo>
                  <a:lnTo>
                    <a:pt x="2027445" y="11871"/>
                  </a:lnTo>
                  <a:lnTo>
                    <a:pt x="2056507" y="10741"/>
                  </a:lnTo>
                  <a:lnTo>
                    <a:pt x="2086062" y="10175"/>
                  </a:lnTo>
                  <a:lnTo>
                    <a:pt x="2115616" y="9610"/>
                  </a:lnTo>
                  <a:lnTo>
                    <a:pt x="2144678" y="8479"/>
                  </a:lnTo>
                  <a:lnTo>
                    <a:pt x="2174233" y="7914"/>
                  </a:lnTo>
                  <a:lnTo>
                    <a:pt x="2203295" y="7349"/>
                  </a:lnTo>
                  <a:lnTo>
                    <a:pt x="2262404" y="6218"/>
                  </a:lnTo>
                  <a:lnTo>
                    <a:pt x="2291466" y="5653"/>
                  </a:lnTo>
                  <a:lnTo>
                    <a:pt x="2350575" y="4522"/>
                  </a:lnTo>
                  <a:lnTo>
                    <a:pt x="2379637" y="4522"/>
                  </a:lnTo>
                  <a:lnTo>
                    <a:pt x="2409192" y="3957"/>
                  </a:lnTo>
                  <a:lnTo>
                    <a:pt x="2438747" y="3391"/>
                  </a:lnTo>
                  <a:lnTo>
                    <a:pt x="2467809" y="3391"/>
                  </a:lnTo>
                  <a:lnTo>
                    <a:pt x="2497363" y="2826"/>
                  </a:lnTo>
                  <a:lnTo>
                    <a:pt x="2526918" y="2826"/>
                  </a:lnTo>
                  <a:lnTo>
                    <a:pt x="2555980" y="2261"/>
                  </a:lnTo>
                  <a:lnTo>
                    <a:pt x="2585534" y="1695"/>
                  </a:lnTo>
                  <a:lnTo>
                    <a:pt x="2644151" y="1695"/>
                  </a:lnTo>
                  <a:lnTo>
                    <a:pt x="2673706" y="1130"/>
                  </a:lnTo>
                  <a:lnTo>
                    <a:pt x="2702768" y="1130"/>
                  </a:lnTo>
                  <a:lnTo>
                    <a:pt x="2732322" y="565"/>
                  </a:lnTo>
                  <a:lnTo>
                    <a:pt x="2790939" y="565"/>
                  </a:lnTo>
                  <a:lnTo>
                    <a:pt x="2820494" y="0"/>
                  </a:lnTo>
                  <a:lnTo>
                    <a:pt x="2908665" y="0"/>
                  </a:lnTo>
                </a:path>
              </a:pathLst>
            </a:custGeom>
            <a:noFill/>
            <a:ln cap="flat" cmpd="sng" w="22325">
              <a:solidFill>
                <a:srgbClr val="0A3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2d47119ddfd_1_650"/>
            <p:cNvSpPr/>
            <p:nvPr/>
          </p:nvSpPr>
          <p:spPr>
            <a:xfrm>
              <a:off x="784406" y="2732340"/>
              <a:ext cx="2908935" cy="1958975"/>
            </a:xfrm>
            <a:custGeom>
              <a:rect b="b" l="l" r="r" t="t"/>
              <a:pathLst>
                <a:path extrusionOk="0" h="1958975" w="2908935">
                  <a:moveTo>
                    <a:pt x="0" y="0"/>
                  </a:moveTo>
                  <a:lnTo>
                    <a:pt x="0" y="1958835"/>
                  </a:lnTo>
                  <a:lnTo>
                    <a:pt x="2908665" y="195883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3" name="Google Shape;563;g2d47119ddfd_1_6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9288" y="3752088"/>
              <a:ext cx="774192" cy="10972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g2d47119ddfd_1_650"/>
            <p:cNvSpPr/>
            <p:nvPr/>
          </p:nvSpPr>
          <p:spPr>
            <a:xfrm>
              <a:off x="459421" y="3786398"/>
              <a:ext cx="657225" cy="980439"/>
            </a:xfrm>
            <a:custGeom>
              <a:rect b="b" l="l" r="r" t="t"/>
              <a:pathLst>
                <a:path extrusionOk="0" h="980439" w="657225">
                  <a:moveTo>
                    <a:pt x="0" y="490052"/>
                  </a:moveTo>
                  <a:lnTo>
                    <a:pt x="2209" y="432902"/>
                  </a:lnTo>
                  <a:lnTo>
                    <a:pt x="8672" y="377687"/>
                  </a:lnTo>
                  <a:lnTo>
                    <a:pt x="19144" y="324778"/>
                  </a:lnTo>
                  <a:lnTo>
                    <a:pt x="33377" y="274539"/>
                  </a:lnTo>
                  <a:lnTo>
                    <a:pt x="51125" y="227341"/>
                  </a:lnTo>
                  <a:lnTo>
                    <a:pt x="72142" y="183549"/>
                  </a:lnTo>
                  <a:lnTo>
                    <a:pt x="96181" y="143533"/>
                  </a:lnTo>
                  <a:lnTo>
                    <a:pt x="122996" y="107659"/>
                  </a:lnTo>
                  <a:lnTo>
                    <a:pt x="152341" y="76295"/>
                  </a:lnTo>
                  <a:lnTo>
                    <a:pt x="183969" y="49809"/>
                  </a:lnTo>
                  <a:lnTo>
                    <a:pt x="217633" y="28569"/>
                  </a:lnTo>
                  <a:lnTo>
                    <a:pt x="253088" y="12942"/>
                  </a:lnTo>
                  <a:lnTo>
                    <a:pt x="290087" y="3296"/>
                  </a:lnTo>
                  <a:lnTo>
                    <a:pt x="328384" y="0"/>
                  </a:lnTo>
                  <a:lnTo>
                    <a:pt x="366681" y="3296"/>
                  </a:lnTo>
                  <a:lnTo>
                    <a:pt x="403680" y="12942"/>
                  </a:lnTo>
                  <a:lnTo>
                    <a:pt x="439135" y="28569"/>
                  </a:lnTo>
                  <a:lnTo>
                    <a:pt x="472799" y="49809"/>
                  </a:lnTo>
                  <a:lnTo>
                    <a:pt x="504427" y="76295"/>
                  </a:lnTo>
                  <a:lnTo>
                    <a:pt x="533772" y="107659"/>
                  </a:lnTo>
                  <a:lnTo>
                    <a:pt x="560587" y="143533"/>
                  </a:lnTo>
                  <a:lnTo>
                    <a:pt x="584626" y="183549"/>
                  </a:lnTo>
                  <a:lnTo>
                    <a:pt x="605643" y="227341"/>
                  </a:lnTo>
                  <a:lnTo>
                    <a:pt x="623391" y="274539"/>
                  </a:lnTo>
                  <a:lnTo>
                    <a:pt x="637624" y="324778"/>
                  </a:lnTo>
                  <a:lnTo>
                    <a:pt x="648096" y="377687"/>
                  </a:lnTo>
                  <a:lnTo>
                    <a:pt x="654559" y="432902"/>
                  </a:lnTo>
                  <a:lnTo>
                    <a:pt x="656769" y="490052"/>
                  </a:lnTo>
                  <a:lnTo>
                    <a:pt x="654559" y="547202"/>
                  </a:lnTo>
                  <a:lnTo>
                    <a:pt x="648096" y="602417"/>
                  </a:lnTo>
                  <a:lnTo>
                    <a:pt x="637624" y="655327"/>
                  </a:lnTo>
                  <a:lnTo>
                    <a:pt x="623391" y="705565"/>
                  </a:lnTo>
                  <a:lnTo>
                    <a:pt x="605643" y="752763"/>
                  </a:lnTo>
                  <a:lnTo>
                    <a:pt x="584626" y="796555"/>
                  </a:lnTo>
                  <a:lnTo>
                    <a:pt x="560587" y="836571"/>
                  </a:lnTo>
                  <a:lnTo>
                    <a:pt x="533772" y="872445"/>
                  </a:lnTo>
                  <a:lnTo>
                    <a:pt x="504427" y="903809"/>
                  </a:lnTo>
                  <a:lnTo>
                    <a:pt x="472799" y="930295"/>
                  </a:lnTo>
                  <a:lnTo>
                    <a:pt x="439135" y="951535"/>
                  </a:lnTo>
                  <a:lnTo>
                    <a:pt x="403680" y="967162"/>
                  </a:lnTo>
                  <a:lnTo>
                    <a:pt x="366681" y="976808"/>
                  </a:lnTo>
                  <a:lnTo>
                    <a:pt x="328384" y="980105"/>
                  </a:lnTo>
                  <a:lnTo>
                    <a:pt x="290087" y="976808"/>
                  </a:lnTo>
                  <a:lnTo>
                    <a:pt x="253088" y="967162"/>
                  </a:lnTo>
                  <a:lnTo>
                    <a:pt x="217633" y="951535"/>
                  </a:lnTo>
                  <a:lnTo>
                    <a:pt x="183969" y="930295"/>
                  </a:lnTo>
                  <a:lnTo>
                    <a:pt x="152341" y="903809"/>
                  </a:lnTo>
                  <a:lnTo>
                    <a:pt x="122996" y="872445"/>
                  </a:lnTo>
                  <a:lnTo>
                    <a:pt x="96181" y="836571"/>
                  </a:lnTo>
                  <a:lnTo>
                    <a:pt x="72142" y="796555"/>
                  </a:lnTo>
                  <a:lnTo>
                    <a:pt x="51125" y="752763"/>
                  </a:lnTo>
                  <a:lnTo>
                    <a:pt x="33377" y="705565"/>
                  </a:lnTo>
                  <a:lnTo>
                    <a:pt x="19144" y="655327"/>
                  </a:lnTo>
                  <a:lnTo>
                    <a:pt x="8672" y="602417"/>
                  </a:lnTo>
                  <a:lnTo>
                    <a:pt x="2209" y="547202"/>
                  </a:lnTo>
                  <a:lnTo>
                    <a:pt x="0" y="490052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d47119ddfd_1_705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Transfer Learning 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70" name="Google Shape;570;g2d47119ddfd_1_70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g2d47119ddfd_1_70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572" name="Google Shape;572;g2d47119ddfd_1_705"/>
          <p:cNvGrpSpPr/>
          <p:nvPr/>
        </p:nvGrpSpPr>
        <p:grpSpPr>
          <a:xfrm>
            <a:off x="1232956" y="1954972"/>
            <a:ext cx="7825988" cy="1999760"/>
            <a:chOff x="1429185" y="2112733"/>
            <a:chExt cx="6675755" cy="1814829"/>
          </a:xfrm>
        </p:grpSpPr>
        <p:sp>
          <p:nvSpPr>
            <p:cNvPr id="573" name="Google Shape;573;g2d47119ddfd_1_705"/>
            <p:cNvSpPr/>
            <p:nvPr/>
          </p:nvSpPr>
          <p:spPr>
            <a:xfrm>
              <a:off x="1429185" y="2112733"/>
              <a:ext cx="6675755" cy="1814829"/>
            </a:xfrm>
            <a:custGeom>
              <a:rect b="b" l="l" r="r" t="t"/>
              <a:pathLst>
                <a:path extrusionOk="0" h="1814829" w="6675755">
                  <a:moveTo>
                    <a:pt x="6494181" y="0"/>
                  </a:moveTo>
                  <a:lnTo>
                    <a:pt x="181463" y="0"/>
                  </a:lnTo>
                  <a:lnTo>
                    <a:pt x="133223" y="6481"/>
                  </a:lnTo>
                  <a:lnTo>
                    <a:pt x="89875" y="24774"/>
                  </a:lnTo>
                  <a:lnTo>
                    <a:pt x="53149" y="53149"/>
                  </a:lnTo>
                  <a:lnTo>
                    <a:pt x="24775" y="89874"/>
                  </a:lnTo>
                  <a:lnTo>
                    <a:pt x="6482" y="133222"/>
                  </a:lnTo>
                  <a:lnTo>
                    <a:pt x="0" y="181462"/>
                  </a:lnTo>
                  <a:lnTo>
                    <a:pt x="0" y="1633153"/>
                  </a:lnTo>
                  <a:lnTo>
                    <a:pt x="6482" y="1681394"/>
                  </a:lnTo>
                  <a:lnTo>
                    <a:pt x="24775" y="1724741"/>
                  </a:lnTo>
                  <a:lnTo>
                    <a:pt x="53149" y="1761467"/>
                  </a:lnTo>
                  <a:lnTo>
                    <a:pt x="89875" y="1789841"/>
                  </a:lnTo>
                  <a:lnTo>
                    <a:pt x="133223" y="1808134"/>
                  </a:lnTo>
                  <a:lnTo>
                    <a:pt x="181463" y="1814616"/>
                  </a:lnTo>
                  <a:lnTo>
                    <a:pt x="6494181" y="1814616"/>
                  </a:lnTo>
                  <a:lnTo>
                    <a:pt x="6542422" y="1808134"/>
                  </a:lnTo>
                  <a:lnTo>
                    <a:pt x="6585770" y="1789841"/>
                  </a:lnTo>
                  <a:lnTo>
                    <a:pt x="6622496" y="1761467"/>
                  </a:lnTo>
                  <a:lnTo>
                    <a:pt x="6650870" y="1724741"/>
                  </a:lnTo>
                  <a:lnTo>
                    <a:pt x="6669163" y="1681394"/>
                  </a:lnTo>
                  <a:lnTo>
                    <a:pt x="6675645" y="1633153"/>
                  </a:lnTo>
                  <a:lnTo>
                    <a:pt x="6675645" y="181462"/>
                  </a:lnTo>
                  <a:lnTo>
                    <a:pt x="6669163" y="133222"/>
                  </a:lnTo>
                  <a:lnTo>
                    <a:pt x="6650870" y="89874"/>
                  </a:lnTo>
                  <a:lnTo>
                    <a:pt x="6622496" y="53149"/>
                  </a:lnTo>
                  <a:lnTo>
                    <a:pt x="6585770" y="24774"/>
                  </a:lnTo>
                  <a:lnTo>
                    <a:pt x="6542422" y="6481"/>
                  </a:lnTo>
                  <a:lnTo>
                    <a:pt x="6494181" y="0"/>
                  </a:lnTo>
                  <a:close/>
                </a:path>
              </a:pathLst>
            </a:custGeom>
            <a:solidFill>
              <a:srgbClr val="D5EDA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2d47119ddfd_1_705"/>
            <p:cNvSpPr/>
            <p:nvPr/>
          </p:nvSpPr>
          <p:spPr>
            <a:xfrm>
              <a:off x="1429185" y="2112733"/>
              <a:ext cx="6675755" cy="1814829"/>
            </a:xfrm>
            <a:custGeom>
              <a:rect b="b" l="l" r="r" t="t"/>
              <a:pathLst>
                <a:path extrusionOk="0" h="1814829" w="6675755">
                  <a:moveTo>
                    <a:pt x="0" y="181463"/>
                  </a:moveTo>
                  <a:lnTo>
                    <a:pt x="6482" y="133223"/>
                  </a:lnTo>
                  <a:lnTo>
                    <a:pt x="24775" y="89875"/>
                  </a:lnTo>
                  <a:lnTo>
                    <a:pt x="53149" y="53149"/>
                  </a:lnTo>
                  <a:lnTo>
                    <a:pt x="89875" y="24775"/>
                  </a:lnTo>
                  <a:lnTo>
                    <a:pt x="133223" y="6482"/>
                  </a:lnTo>
                  <a:lnTo>
                    <a:pt x="181463" y="0"/>
                  </a:lnTo>
                  <a:lnTo>
                    <a:pt x="6494182" y="0"/>
                  </a:lnTo>
                  <a:lnTo>
                    <a:pt x="6542422" y="6482"/>
                  </a:lnTo>
                  <a:lnTo>
                    <a:pt x="6585769" y="24775"/>
                  </a:lnTo>
                  <a:lnTo>
                    <a:pt x="6622495" y="53149"/>
                  </a:lnTo>
                  <a:lnTo>
                    <a:pt x="6650870" y="89875"/>
                  </a:lnTo>
                  <a:lnTo>
                    <a:pt x="6669163" y="133223"/>
                  </a:lnTo>
                  <a:lnTo>
                    <a:pt x="6675645" y="181463"/>
                  </a:lnTo>
                  <a:lnTo>
                    <a:pt x="6675645" y="1633154"/>
                  </a:lnTo>
                  <a:lnTo>
                    <a:pt x="6669163" y="1681393"/>
                  </a:lnTo>
                  <a:lnTo>
                    <a:pt x="6650870" y="1724741"/>
                  </a:lnTo>
                  <a:lnTo>
                    <a:pt x="6622495" y="1761467"/>
                  </a:lnTo>
                  <a:lnTo>
                    <a:pt x="6585769" y="1789841"/>
                  </a:lnTo>
                  <a:lnTo>
                    <a:pt x="6542422" y="1808134"/>
                  </a:lnTo>
                  <a:lnTo>
                    <a:pt x="6494182" y="1814617"/>
                  </a:lnTo>
                  <a:lnTo>
                    <a:pt x="181463" y="1814617"/>
                  </a:lnTo>
                  <a:lnTo>
                    <a:pt x="133223" y="1808134"/>
                  </a:lnTo>
                  <a:lnTo>
                    <a:pt x="89875" y="1789841"/>
                  </a:lnTo>
                  <a:lnTo>
                    <a:pt x="53149" y="1761467"/>
                  </a:lnTo>
                  <a:lnTo>
                    <a:pt x="24775" y="1724741"/>
                  </a:lnTo>
                  <a:lnTo>
                    <a:pt x="6482" y="1681393"/>
                  </a:lnTo>
                  <a:lnTo>
                    <a:pt x="0" y="1633154"/>
                  </a:lnTo>
                  <a:lnTo>
                    <a:pt x="0" y="181463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5" name="Google Shape;575;g2d47119ddfd_1_7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26490" y="2518739"/>
              <a:ext cx="1002791" cy="10027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6" name="Google Shape;576;g2d47119ddfd_1_705"/>
          <p:cNvGrpSpPr/>
          <p:nvPr/>
        </p:nvGrpSpPr>
        <p:grpSpPr>
          <a:xfrm>
            <a:off x="1232956" y="4271982"/>
            <a:ext cx="7825988" cy="1999760"/>
            <a:chOff x="1429185" y="4321858"/>
            <a:chExt cx="6675755" cy="1814829"/>
          </a:xfrm>
        </p:grpSpPr>
        <p:sp>
          <p:nvSpPr>
            <p:cNvPr id="577" name="Google Shape;577;g2d47119ddfd_1_705"/>
            <p:cNvSpPr/>
            <p:nvPr/>
          </p:nvSpPr>
          <p:spPr>
            <a:xfrm>
              <a:off x="1429185" y="4321858"/>
              <a:ext cx="6675755" cy="1814829"/>
            </a:xfrm>
            <a:custGeom>
              <a:rect b="b" l="l" r="r" t="t"/>
              <a:pathLst>
                <a:path extrusionOk="0" h="1814829" w="6675755">
                  <a:moveTo>
                    <a:pt x="6494181" y="0"/>
                  </a:moveTo>
                  <a:lnTo>
                    <a:pt x="181463" y="0"/>
                  </a:lnTo>
                  <a:lnTo>
                    <a:pt x="133223" y="6482"/>
                  </a:lnTo>
                  <a:lnTo>
                    <a:pt x="89875" y="24775"/>
                  </a:lnTo>
                  <a:lnTo>
                    <a:pt x="53149" y="53149"/>
                  </a:lnTo>
                  <a:lnTo>
                    <a:pt x="24775" y="89875"/>
                  </a:lnTo>
                  <a:lnTo>
                    <a:pt x="6482" y="133223"/>
                  </a:lnTo>
                  <a:lnTo>
                    <a:pt x="0" y="181463"/>
                  </a:lnTo>
                  <a:lnTo>
                    <a:pt x="0" y="1633154"/>
                  </a:lnTo>
                  <a:lnTo>
                    <a:pt x="6482" y="1681394"/>
                  </a:lnTo>
                  <a:lnTo>
                    <a:pt x="24775" y="1724742"/>
                  </a:lnTo>
                  <a:lnTo>
                    <a:pt x="53149" y="1761468"/>
                  </a:lnTo>
                  <a:lnTo>
                    <a:pt x="89875" y="1789842"/>
                  </a:lnTo>
                  <a:lnTo>
                    <a:pt x="133223" y="1808135"/>
                  </a:lnTo>
                  <a:lnTo>
                    <a:pt x="181463" y="1814617"/>
                  </a:lnTo>
                  <a:lnTo>
                    <a:pt x="6494181" y="1814617"/>
                  </a:lnTo>
                  <a:lnTo>
                    <a:pt x="6542422" y="1808135"/>
                  </a:lnTo>
                  <a:lnTo>
                    <a:pt x="6585770" y="1789842"/>
                  </a:lnTo>
                  <a:lnTo>
                    <a:pt x="6622496" y="1761468"/>
                  </a:lnTo>
                  <a:lnTo>
                    <a:pt x="6650870" y="1724742"/>
                  </a:lnTo>
                  <a:lnTo>
                    <a:pt x="6669163" y="1681394"/>
                  </a:lnTo>
                  <a:lnTo>
                    <a:pt x="6675645" y="1633154"/>
                  </a:lnTo>
                  <a:lnTo>
                    <a:pt x="6675645" y="181463"/>
                  </a:lnTo>
                  <a:lnTo>
                    <a:pt x="6669163" y="133223"/>
                  </a:lnTo>
                  <a:lnTo>
                    <a:pt x="6650870" y="89875"/>
                  </a:lnTo>
                  <a:lnTo>
                    <a:pt x="6622496" y="53149"/>
                  </a:lnTo>
                  <a:lnTo>
                    <a:pt x="6585770" y="24775"/>
                  </a:lnTo>
                  <a:lnTo>
                    <a:pt x="6542422" y="6482"/>
                  </a:lnTo>
                  <a:lnTo>
                    <a:pt x="6494181" y="0"/>
                  </a:lnTo>
                  <a:close/>
                </a:path>
              </a:pathLst>
            </a:custGeom>
            <a:solidFill>
              <a:srgbClr val="D5EDA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2d47119ddfd_1_705"/>
            <p:cNvSpPr/>
            <p:nvPr/>
          </p:nvSpPr>
          <p:spPr>
            <a:xfrm>
              <a:off x="1429185" y="4321858"/>
              <a:ext cx="6675755" cy="1814829"/>
            </a:xfrm>
            <a:custGeom>
              <a:rect b="b" l="l" r="r" t="t"/>
              <a:pathLst>
                <a:path extrusionOk="0" h="1814829" w="6675755">
                  <a:moveTo>
                    <a:pt x="0" y="181463"/>
                  </a:moveTo>
                  <a:lnTo>
                    <a:pt x="6482" y="133223"/>
                  </a:lnTo>
                  <a:lnTo>
                    <a:pt x="24775" y="89875"/>
                  </a:lnTo>
                  <a:lnTo>
                    <a:pt x="53149" y="53149"/>
                  </a:lnTo>
                  <a:lnTo>
                    <a:pt x="89875" y="24775"/>
                  </a:lnTo>
                  <a:lnTo>
                    <a:pt x="133223" y="6482"/>
                  </a:lnTo>
                  <a:lnTo>
                    <a:pt x="181463" y="0"/>
                  </a:lnTo>
                  <a:lnTo>
                    <a:pt x="6494182" y="0"/>
                  </a:lnTo>
                  <a:lnTo>
                    <a:pt x="6542422" y="6482"/>
                  </a:lnTo>
                  <a:lnTo>
                    <a:pt x="6585769" y="24775"/>
                  </a:lnTo>
                  <a:lnTo>
                    <a:pt x="6622495" y="53149"/>
                  </a:lnTo>
                  <a:lnTo>
                    <a:pt x="6650870" y="89875"/>
                  </a:lnTo>
                  <a:lnTo>
                    <a:pt x="6669163" y="133223"/>
                  </a:lnTo>
                  <a:lnTo>
                    <a:pt x="6675645" y="181463"/>
                  </a:lnTo>
                  <a:lnTo>
                    <a:pt x="6675645" y="1633154"/>
                  </a:lnTo>
                  <a:lnTo>
                    <a:pt x="6669163" y="1681393"/>
                  </a:lnTo>
                  <a:lnTo>
                    <a:pt x="6650870" y="1724741"/>
                  </a:lnTo>
                  <a:lnTo>
                    <a:pt x="6622495" y="1761467"/>
                  </a:lnTo>
                  <a:lnTo>
                    <a:pt x="6585769" y="1789841"/>
                  </a:lnTo>
                  <a:lnTo>
                    <a:pt x="6542422" y="1808134"/>
                  </a:lnTo>
                  <a:lnTo>
                    <a:pt x="6494182" y="1814617"/>
                  </a:lnTo>
                  <a:lnTo>
                    <a:pt x="181463" y="1814617"/>
                  </a:lnTo>
                  <a:lnTo>
                    <a:pt x="133223" y="1808134"/>
                  </a:lnTo>
                  <a:lnTo>
                    <a:pt x="89875" y="1789841"/>
                  </a:lnTo>
                  <a:lnTo>
                    <a:pt x="53149" y="1761467"/>
                  </a:lnTo>
                  <a:lnTo>
                    <a:pt x="24775" y="1724741"/>
                  </a:lnTo>
                  <a:lnTo>
                    <a:pt x="6482" y="1681393"/>
                  </a:lnTo>
                  <a:lnTo>
                    <a:pt x="0" y="1633154"/>
                  </a:lnTo>
                  <a:lnTo>
                    <a:pt x="0" y="181463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9" name="Google Shape;579;g2d47119ddfd_1_70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75104" y="4727447"/>
              <a:ext cx="1002792" cy="10027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0" name="Google Shape;580;g2d47119ddfd_1_705"/>
          <p:cNvSpPr txBox="1"/>
          <p:nvPr/>
        </p:nvSpPr>
        <p:spPr>
          <a:xfrm>
            <a:off x="3271425" y="2352375"/>
            <a:ext cx="5691900" cy="3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2700" marR="224153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Transfer learning is a  key component for  scaling up RL</a:t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t/>
            </a:r>
            <a:endParaRPr b="0" i="0" sz="365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97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3345" marR="5080" rtl="0" algn="l">
              <a:lnSpc>
                <a:spcPct val="97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RL agents should take  advantage of all  available knowledge  sources</a:t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d47119ddfd_1_799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Atividade 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86" name="Google Shape;586;g2d47119ddfd_1_79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g2d47119ddfd_1_79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8" name="Google Shape;588;g2d47119ddfd_1_79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9" name="Google Shape;589;g2d47119ddfd_1_799"/>
          <p:cNvSpPr txBox="1"/>
          <p:nvPr/>
        </p:nvSpPr>
        <p:spPr>
          <a:xfrm>
            <a:off x="511575" y="1724675"/>
            <a:ext cx="9549600" cy="56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Random maps</a:t>
            </a:r>
            <a:endParaRPr b="1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AutoNum type="arabicPeriod"/>
            </a:pP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Adapte o código desenvolvido para aprender (com posterior teste) sobre um mapa aleatório 20x20: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from gym.envs.toy_text.frozen_lake import generate_random_map</a:t>
            </a:r>
            <a:endParaRPr b="0" i="0" sz="20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random_map = generate_random_map(</a:t>
            </a:r>
            <a:r>
              <a:rPr b="1" i="0" lang="pt-BR" sz="20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size=20</a:t>
            </a:r>
            <a:r>
              <a:rPr b="0" i="0" lang="pt-BR" sz="20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, p=0.8)</a:t>
            </a:r>
            <a:endParaRPr b="0" i="0" sz="20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env = gym.make('FrozenLake-v1', is_slippery=False, render_mode="human", </a:t>
            </a:r>
            <a:r>
              <a:rPr b="1" i="0" lang="pt-BR" sz="20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desc=random_map</a:t>
            </a:r>
            <a:r>
              <a:rPr b="0" i="0" lang="pt-BR" sz="20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d474a7be80_0_0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Atividade 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95" name="Google Shape;595;g2d474a7be80_0_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g2d474a7be80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7" name="Google Shape;597;g2d474a7be80_0_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8" name="Google Shape;598;g2d474a7be80_0_0"/>
          <p:cNvSpPr txBox="1"/>
          <p:nvPr/>
        </p:nvSpPr>
        <p:spPr>
          <a:xfrm>
            <a:off x="511575" y="1724675"/>
            <a:ext cx="9549600" cy="28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Stochastic environments:</a:t>
            </a:r>
            <a:endParaRPr b="1" i="1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 Com base no código do </a:t>
            </a:r>
            <a:r>
              <a:rPr b="0" i="0" lang="pt-BR" sz="24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Frozen Lake</a:t>
            </a: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deterministic</a:t>
            </a: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Implemente uma solução de RL minimamente eficiente para a versão “slippery” (</a:t>
            </a:r>
            <a:r>
              <a:rPr b="0" i="1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agent may not always move in the intended direction due to the slippery nature of the frozen lake</a:t>
            </a: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→ is_slippery = True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 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Implemente uma solução com RL para o </a:t>
            </a:r>
            <a:r>
              <a:rPr b="0" i="0" lang="pt-BR" sz="27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Cart Pole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d47119ddfd_1_814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Atividade 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04" name="Google Shape;604;g2d47119ddfd_1_81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g2d47119ddfd_1_81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6" name="Google Shape;606;g2d47119ddfd_1_814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7" name="Google Shape;607;g2d47119ddfd_1_814"/>
          <p:cNvSpPr txBox="1"/>
          <p:nvPr/>
        </p:nvSpPr>
        <p:spPr>
          <a:xfrm>
            <a:off x="511575" y="1724675"/>
            <a:ext cx="9549600" cy="28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Pesquisa</a:t>
            </a:r>
            <a:endParaRPr b="1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 </a:t>
            </a:r>
            <a:r>
              <a:rPr b="0" i="1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Reinforcement Learning from Human Feedback</a:t>
            </a:r>
            <a:r>
              <a:rPr b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(RLHF)</a:t>
            </a:r>
            <a:endParaRPr b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pt-BR" sz="24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 </a:t>
            </a:r>
            <a:r>
              <a:rPr i="1" lang="pt-BR" sz="24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SARSA (State-Action-Reward-State-Action) algorithm</a:t>
            </a:r>
            <a:endParaRPr sz="24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pt-BR" sz="24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b="0" i="1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b="0" i="1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Dynamic Environments</a:t>
            </a:r>
            <a:endParaRPr b="0" i="1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000"/>
              <a:buFont typeface="Helvetica Neue"/>
              <a:buChar char="+"/>
            </a:pPr>
            <a:r>
              <a:rPr b="0" i="1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common methods for balancing exploration and exploitation, such as epsilon-greedy, softmax, upper confidence bound, and Thompson sampling.</a:t>
            </a:r>
            <a:endParaRPr b="0" i="1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pt-BR" sz="24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r>
              <a:rPr b="0" i="1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 Aprendizado por Imitação (Imitation Learning)</a:t>
            </a:r>
            <a:endParaRPr b="0" i="1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000"/>
              <a:buFont typeface="Helvetica Neue"/>
              <a:buChar char="+"/>
            </a:pPr>
            <a:r>
              <a:rPr b="0" i="1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behavior cloning, Inverse Reinforcement Learning (IRL) and Generative Adversarial Imitation Learning (GAIL).</a:t>
            </a:r>
            <a:endParaRPr b="0" i="1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d47119ddfd_1_826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Atividade 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13" name="Google Shape;613;g2d47119ddfd_1_82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g2d47119ddfd_1_82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15" name="Google Shape;615;g2d47119ddfd_1_826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6" name="Google Shape;616;g2d47119ddfd_1_826"/>
          <p:cNvSpPr txBox="1"/>
          <p:nvPr/>
        </p:nvSpPr>
        <p:spPr>
          <a:xfrm>
            <a:off x="511575" y="1724675"/>
            <a:ext cx="9549600" cy="28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Pesquisa</a:t>
            </a:r>
            <a:endParaRPr b="1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pt-BR" sz="24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b="0" i="1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  Multi-Agent Systems</a:t>
            </a:r>
            <a:endParaRPr b="0" i="1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17" name="Google Shape;617;g2d47119ddfd_1_8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7950" y="1671725"/>
            <a:ext cx="3402550" cy="220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g2d47119ddfd_1_8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575" y="4022250"/>
            <a:ext cx="5738325" cy="265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2023-07-02T21:27:13Z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2023-07-02T00:00:00Z</vt:filetime>
  </property>
</Properties>
</file>