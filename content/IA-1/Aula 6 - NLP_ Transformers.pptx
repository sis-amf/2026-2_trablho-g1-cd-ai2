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7556500" cx="10693400"/>
  <p:notesSz cx="10693400" cy="7556500"/>
  <p:embeddedFontLst>
    <p:embeddedFont>
      <p:font typeface="Roboto"/>
      <p:regular r:id="rId78"/>
      <p:bold r:id="rId79"/>
      <p:italic r:id="rId80"/>
      <p:boldItalic r:id="rId81"/>
    </p:embeddedFont>
    <p:embeddedFont>
      <p:font typeface="Montserrat"/>
      <p:regular r:id="rId82"/>
      <p:bold r:id="rId83"/>
      <p:italic r:id="rId84"/>
      <p:boldItalic r:id="rId85"/>
    </p:embeddedFont>
    <p:embeddedFont>
      <p:font typeface="Helvetica Neue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90" roundtripDataSignature="AMtx7mhKL6peF5tdkA+KxqttNZXPtgYM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Montserrat-italic.fntdata"/><Relationship Id="rId83" Type="http://schemas.openxmlformats.org/officeDocument/2006/relationships/font" Target="fonts/Montserrat-bold.fntdata"/><Relationship Id="rId42" Type="http://schemas.openxmlformats.org/officeDocument/2006/relationships/slide" Target="slides/slide37.xml"/><Relationship Id="rId86" Type="http://schemas.openxmlformats.org/officeDocument/2006/relationships/font" Target="fonts/HelveticaNeue-regular.fntdata"/><Relationship Id="rId41" Type="http://schemas.openxmlformats.org/officeDocument/2006/relationships/slide" Target="slides/slide36.xml"/><Relationship Id="rId85" Type="http://schemas.openxmlformats.org/officeDocument/2006/relationships/font" Target="fonts/Montserrat-boldItalic.fntdata"/><Relationship Id="rId44" Type="http://schemas.openxmlformats.org/officeDocument/2006/relationships/slide" Target="slides/slide39.xml"/><Relationship Id="rId88" Type="http://schemas.openxmlformats.org/officeDocument/2006/relationships/font" Target="fonts/HelveticaNeue-italic.fntdata"/><Relationship Id="rId43" Type="http://schemas.openxmlformats.org/officeDocument/2006/relationships/slide" Target="slides/slide38.xml"/><Relationship Id="rId87" Type="http://schemas.openxmlformats.org/officeDocument/2006/relationships/font" Target="fonts/HelveticaNeue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HelveticaNeue-boldItalic.fntdata"/><Relationship Id="rId80" Type="http://schemas.openxmlformats.org/officeDocument/2006/relationships/font" Target="fonts/Roboto-italic.fntdata"/><Relationship Id="rId82" Type="http://schemas.openxmlformats.org/officeDocument/2006/relationships/font" Target="fonts/Montserrat-regular.fntdata"/><Relationship Id="rId81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Roboto-bold.fntdata"/><Relationship Id="rId34" Type="http://schemas.openxmlformats.org/officeDocument/2006/relationships/slide" Target="slides/slide29.xml"/><Relationship Id="rId78" Type="http://schemas.openxmlformats.org/officeDocument/2006/relationships/font" Target="fonts/Roboto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0" Type="http://customschemas.google.com/relationships/presentationmetadata" Target="meta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4249b6fcd_0_1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2d4249b6fcd_0_1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71439a29f_0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71439a29f_0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4249b6fcd_0_77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2d4249b6fcd_0_77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4249b6fcd_1_1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2d4249b6fcd_1_1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4249b6fcd_0_25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2d4249b6fcd_0_25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4249b6fcd_0_2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2d4249b6fcd_0_2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4249b6fcd_0_22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2d4249b6fcd_0_22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4249b6fcd_0_23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d4249b6fcd_0_23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4249b6fcd_0_21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2d4249b6fcd_0_21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4249b6fcd_0_3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2d4249b6fcd_0_3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4249b6fcd_0_4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2d4249b6fcd_0_4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4249b6fcd_0_5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2d4249b6fcd_0_5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4249b6fcd_0_7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2d4249b6fcd_0_7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4249b6fcd_0_8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2d4249b6fcd_0_8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4249b6fcd_0_12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2d4249b6fcd_0_12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4249b6fcd_0_12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2d4249b6fcd_0_12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4249b6fcd_0_14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2d4249b6fcd_0_14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4249b6fcd_0_18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2d4249b6fcd_0_18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4249b6fcd_0_15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2d4249b6fcd_0_15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4249b6fcd_0_16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2d4249b6fcd_0_16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71439a29f_0_5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Imagine que você está </a:t>
            </a:r>
            <a:r>
              <a:rPr b="1" lang="pt-BR">
                <a:solidFill>
                  <a:schemeClr val="dk1"/>
                </a:solidFill>
              </a:rPr>
              <a:t>sussurrando uma mensagem por uma fila com 20 pessoas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Se </a:t>
            </a:r>
            <a:r>
              <a:rPr b="1" lang="pt-BR">
                <a:solidFill>
                  <a:schemeClr val="dk1"/>
                </a:solidFill>
              </a:rPr>
              <a:t>cada pessoa sussurrar um pouco mais baixo</a:t>
            </a:r>
            <a:r>
              <a:rPr lang="pt-BR">
                <a:solidFill>
                  <a:schemeClr val="dk1"/>
                </a:solidFill>
              </a:rPr>
              <a:t>, quando a mensagem chegar à primeira da fila, </a:t>
            </a:r>
            <a:r>
              <a:rPr b="1" lang="pt-BR">
                <a:solidFill>
                  <a:schemeClr val="dk1"/>
                </a:solidFill>
              </a:rPr>
              <a:t>ela será inaudível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66" name="Google Shape;266;g3571439a29f_0_5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71439a29f_0_6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Imagine que você está </a:t>
            </a:r>
            <a:r>
              <a:rPr b="1" lang="pt-BR">
                <a:solidFill>
                  <a:schemeClr val="dk1"/>
                </a:solidFill>
              </a:rPr>
              <a:t>sussurrando uma mensagem por uma fila com 20 pessoas</a:t>
            </a:r>
            <a:r>
              <a:rPr lang="pt-B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Se </a:t>
            </a:r>
            <a:r>
              <a:rPr b="1" lang="pt-BR">
                <a:solidFill>
                  <a:schemeClr val="dk1"/>
                </a:solidFill>
              </a:rPr>
              <a:t>cada pessoa sussurrar um pouco mais baixo</a:t>
            </a:r>
            <a:r>
              <a:rPr lang="pt-BR">
                <a:solidFill>
                  <a:schemeClr val="dk1"/>
                </a:solidFill>
              </a:rPr>
              <a:t>, quando a mensagem chegar à primeira da fila, </a:t>
            </a:r>
            <a:r>
              <a:rPr b="1" lang="pt-BR">
                <a:solidFill>
                  <a:schemeClr val="dk1"/>
                </a:solidFill>
              </a:rPr>
              <a:t>ela será inaudível</a:t>
            </a:r>
            <a:r>
              <a:rPr lang="pt-BR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275" name="Google Shape;275;g3571439a29f_0_6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4249b6fcd_0_9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2d4249b6fcd_0_9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4249b6fcd_0_50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2d4249b6fcd_0_50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48ba07e93_0_14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2248ba07e93_0_14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4249b6fcd_0_29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2d4249b6fcd_0_29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d4249b6fcd_0_31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2d4249b6fcd_0_31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4249b6fcd_0_32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2d4249b6fcd_0_32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4249b6fcd_0_27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2d4249b6fcd_0_27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4249b6fcd_0_34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2d4249b6fcd_0_34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4249b6fcd_0_37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2d4249b6fcd_0_37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d4249b6fcd_0_3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2d4249b6fcd_0_3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d4249b6fcd_0_40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2d4249b6fcd_0_40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d4249b6fcd_0_42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2d4249b6fcd_0_42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d4249b6fcd_0_44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g2d4249b6fcd_0_44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4249b6fcd_0_45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g2d4249b6fcd_0_45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d4249b6fcd_0_47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2d4249b6fcd_0_47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4249b6fcd_0_49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g2d4249b6fcd_0_49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d4249b6fcd_0_526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2d4249b6fcd_0_526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4249b6fcd_0_5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2d4249b6fcd_0_5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d4249b6fcd_0_54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2d4249b6fcd_0_54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d4249b6fcd_0_36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g2d4249b6fcd_0_36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d4249b6fcd_0_58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2d4249b6fcd_0_58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4249b6fcd_0_60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2d4249b6fcd_0_60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d4249b6fcd_0_61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2d4249b6fcd_0_61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d4249b6fcd_0_62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g2d4249b6fcd_0_62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d4249b6fcd_0_64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g2d4249b6fcd_0_64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d4249b6fcd_0_657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2d4249b6fcd_0_657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d4249b6fcd_0_67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g2d4249b6fcd_0_67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d4249b6fcd_0_6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g2d4249b6fcd_0_6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d4249b6fcd_0_70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0" name="Google Shape;570;g2d4249b6fcd_0_70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d4249b6fcd_0_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0" name="Google Shape;580;g2d4249b6fcd_0_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d4249b6fcd_0_72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g2d4249b6fcd_0_72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d4249b6fcd_0_73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g2d4249b6fcd_0_73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d4249b6fcd_0_74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g2d4249b6fcd_0_74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d4249b6fcd_0_755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7" name="Google Shape;617;g2d4249b6fcd_0_755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d4249b6fcd_0_96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2" name="Google Shape;632;g2d4249b6fcd_0_96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d4249b6fcd_0_83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g2d4249b6fcd_0_83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d4249b6fcd_0_84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g2d4249b6fcd_0_84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d4249b6fcd_0_85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9" name="Google Shape;659;g2d4249b6fcd_0_85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d4249b6fcd_0_86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g2d4249b6fcd_0_86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d4249b6fcd_1_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g2d4249b6fcd_1_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d4249b6fcd_0_87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5" name="Google Shape;685;g2d4249b6fcd_0_87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d4249b6fcd_0_89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4" name="Google Shape;694;g2d4249b6fcd_0_89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d4249b6fcd_0_98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g2d4249b6fcd_0_98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4249b6fcd_0_92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3" name="Google Shape;713;g2d4249b6fcd_0_92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d4249b6fcd_0_823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g2d4249b6fcd_0_823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d4249b6fcd_0_106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1" name="Google Shape;741;g2d4249b6fcd_0_106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d4249b6fcd_0_1024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1" name="Google Shape;751;g2d4249b6fcd_0_1024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d4249b6fcd_0_1052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1" name="Google Shape;761;g2d4249b6fcd_0_1052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0" name="Google Shape;770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f5594a4f43_0_680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5594a4f43_0_680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5594a4f43_0_680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5594a4f43_0_680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5594a4f43_0_680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5594a4f43_0_312"/>
          <p:cNvSpPr txBox="1"/>
          <p:nvPr>
            <p:ph type="title"/>
          </p:nvPr>
        </p:nvSpPr>
        <p:spPr>
          <a:xfrm>
            <a:off x="376873" y="5705772"/>
            <a:ext cx="9939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f5594a4f43_0_312"/>
          <p:cNvSpPr txBox="1"/>
          <p:nvPr>
            <p:ph idx="1" type="body"/>
          </p:nvPr>
        </p:nvSpPr>
        <p:spPr>
          <a:xfrm>
            <a:off x="2647215" y="1645530"/>
            <a:ext cx="49773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f5594a4f43_0_312"/>
          <p:cNvSpPr txBox="1"/>
          <p:nvPr>
            <p:ph idx="11" type="ftr"/>
          </p:nvPr>
        </p:nvSpPr>
        <p:spPr>
          <a:xfrm>
            <a:off x="3635756" y="7027545"/>
            <a:ext cx="342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5594a4f43_0_312"/>
          <p:cNvSpPr txBox="1"/>
          <p:nvPr>
            <p:ph idx="10" type="dt"/>
          </p:nvPr>
        </p:nvSpPr>
        <p:spPr>
          <a:xfrm>
            <a:off x="534670" y="7027545"/>
            <a:ext cx="24597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5594a4f43_0_312"/>
          <p:cNvSpPr txBox="1"/>
          <p:nvPr>
            <p:ph idx="12" type="sldNum"/>
          </p:nvPr>
        </p:nvSpPr>
        <p:spPr>
          <a:xfrm>
            <a:off x="7699248" y="702754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research.google/blog/transformer-a-novel-neural-network-architecture-for-language-understanding/" TargetMode="External"/><Relationship Id="rId5" Type="http://schemas.openxmlformats.org/officeDocument/2006/relationships/hyperlink" Target="https://research.google/blog/transformer-a-novel-neural-network-architecture-for-language-understanding/" TargetMode="External"/><Relationship Id="rId6" Type="http://schemas.openxmlformats.org/officeDocument/2006/relationships/hyperlink" Target="https://research.google/blog/transformer-a-novel-neural-network-architecture-for-language-understanding/" TargetMode="External"/><Relationship Id="rId7" Type="http://schemas.openxmlformats.org/officeDocument/2006/relationships/hyperlink" Target="https://research.google/blog/transformer-a-novel-neural-network-architecture-for-language-understandin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hyperlink" Target="https://medium.com/kompa-data-ai/tranformers-um-guia-introdut%C3%B3rio-5c9416a5f51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47.png"/><Relationship Id="rId5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Relationship Id="rId4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Relationship Id="rId4" Type="http://schemas.openxmlformats.org/officeDocument/2006/relationships/image" Target="../media/image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Relationship Id="rId4" Type="http://schemas.openxmlformats.org/officeDocument/2006/relationships/image" Target="../media/image56.gif"/><Relationship Id="rId5" Type="http://schemas.openxmlformats.org/officeDocument/2006/relationships/hyperlink" Target="https://jalammar.github.io/visualizing-neural-machine-translation-mechanics-of-seq2seq-models-with-attention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Relationship Id="rId4" Type="http://schemas.openxmlformats.org/officeDocument/2006/relationships/image" Target="../media/image38.gif"/><Relationship Id="rId5" Type="http://schemas.openxmlformats.org/officeDocument/2006/relationships/hyperlink" Target="https://jalammar.github.io/visualizing-neural-machine-translation-mechanics-of-seq2seq-models-with-attention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40.png"/><Relationship Id="rId5" Type="http://schemas.openxmlformats.org/officeDocument/2006/relationships/hyperlink" Target="https://www.kdnuggets.com/2021/01/attention-mechanism-deep-learning-explained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Relationship Id="rId4" Type="http://schemas.openxmlformats.org/officeDocument/2006/relationships/image" Target="../media/image37.gif"/><Relationship Id="rId5" Type="http://schemas.openxmlformats.org/officeDocument/2006/relationships/hyperlink" Target="https://miro.medium.com/v2/resize:fit:720/format:webp/1*GXfg6qlXQrA5rE2_g_NPRg.gif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Relationship Id="rId4" Type="http://schemas.openxmlformats.org/officeDocument/2006/relationships/image" Target="../media/image67.gif"/><Relationship Id="rId5" Type="http://schemas.openxmlformats.org/officeDocument/2006/relationships/hyperlink" Target="https://jalammar.github.io/visualizing-neural-machine-translation-mechanics-of-seq2seq-models-with-attention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Relationship Id="rId4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Relationship Id="rId4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Relationship Id="rId4" Type="http://schemas.openxmlformats.org/officeDocument/2006/relationships/image" Target="../media/image42.png"/><Relationship Id="rId5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Relationship Id="rId4" Type="http://schemas.openxmlformats.org/officeDocument/2006/relationships/image" Target="../media/image39.png"/><Relationship Id="rId5" Type="http://schemas.openxmlformats.org/officeDocument/2006/relationships/image" Target="../media/image5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jpg"/><Relationship Id="rId4" Type="http://schemas.openxmlformats.org/officeDocument/2006/relationships/image" Target="../media/image41.png"/><Relationship Id="rId5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jpg"/><Relationship Id="rId4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jpg"/><Relationship Id="rId4" Type="http://schemas.openxmlformats.org/officeDocument/2006/relationships/image" Target="../media/image45.png"/><Relationship Id="rId5" Type="http://schemas.openxmlformats.org/officeDocument/2006/relationships/image" Target="../media/image4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jpg"/><Relationship Id="rId4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Relationship Id="rId4" Type="http://schemas.openxmlformats.org/officeDocument/2006/relationships/image" Target="../media/image5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jpg"/><Relationship Id="rId4" Type="http://schemas.openxmlformats.org/officeDocument/2006/relationships/image" Target="../media/image6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jpg"/><Relationship Id="rId4" Type="http://schemas.openxmlformats.org/officeDocument/2006/relationships/image" Target="../media/image5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jpg"/><Relationship Id="rId4" Type="http://schemas.openxmlformats.org/officeDocument/2006/relationships/image" Target="../media/image7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jpg"/><Relationship Id="rId4" Type="http://schemas.openxmlformats.org/officeDocument/2006/relationships/image" Target="../media/image5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jpg"/><Relationship Id="rId4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jpg"/><Relationship Id="rId4" Type="http://schemas.openxmlformats.org/officeDocument/2006/relationships/image" Target="../media/image5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jpg"/><Relationship Id="rId4" Type="http://schemas.openxmlformats.org/officeDocument/2006/relationships/image" Target="../media/image6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jpg"/><Relationship Id="rId4" Type="http://schemas.openxmlformats.org/officeDocument/2006/relationships/hyperlink" Target="http://jalammar.github.io/illustrated-transformer/" TargetMode="External"/><Relationship Id="rId5" Type="http://schemas.openxmlformats.org/officeDocument/2006/relationships/image" Target="../media/image72.gif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jpg"/><Relationship Id="rId4" Type="http://schemas.openxmlformats.org/officeDocument/2006/relationships/image" Target="../media/image6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.jp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.jpg"/><Relationship Id="rId4" Type="http://schemas.openxmlformats.org/officeDocument/2006/relationships/hyperlink" Target="https://research.google/blog/reformer-the-efficient-transformer/" TargetMode="External"/><Relationship Id="rId5" Type="http://schemas.openxmlformats.org/officeDocument/2006/relationships/image" Target="../media/image6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.jpg"/><Relationship Id="rId4" Type="http://schemas.openxmlformats.org/officeDocument/2006/relationships/image" Target="../media/image7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.jpg"/><Relationship Id="rId4" Type="http://schemas.openxmlformats.org/officeDocument/2006/relationships/hyperlink" Target="https://huggingface.co/docs/transformers/en/index" TargetMode="External"/><Relationship Id="rId5" Type="http://schemas.openxmlformats.org/officeDocument/2006/relationships/image" Target="../media/image63.png"/><Relationship Id="rId6" Type="http://schemas.openxmlformats.org/officeDocument/2006/relationships/hyperlink" Target="https://huggingface.co/docs/transformers/en/trai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754739" y="2978260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6 - </a:t>
            </a: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NLP: Transformers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22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maio de 2025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4249b6fcd_0_1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7" name="Google Shape;87;g2d4249b6fcd_0_16"/>
          <p:cNvPicPr preferRelativeResize="0"/>
          <p:nvPr/>
        </p:nvPicPr>
        <p:blipFill rotWithShape="1">
          <a:blip r:embed="rId3">
            <a:alphaModFix/>
          </a:blip>
          <a:srcRect b="0" l="24527" r="24214" t="0"/>
          <a:stretch/>
        </p:blipFill>
        <p:spPr>
          <a:xfrm>
            <a:off x="2548250" y="1003300"/>
            <a:ext cx="5973023" cy="63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4249b6fcd_0_16"/>
          <p:cNvSpPr txBox="1"/>
          <p:nvPr/>
        </p:nvSpPr>
        <p:spPr>
          <a:xfrm>
            <a:off x="533675" y="764125"/>
            <a:ext cx="4367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Transformer</a:t>
            </a:r>
            <a:r>
              <a:rPr b="0" i="0" lang="pt-BR" sz="21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</a:t>
            </a:r>
            <a:r>
              <a:rPr b="1" i="0" lang="pt-BR" sz="21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pt-BR" sz="21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Novel Neural Network Architecture for Language Understanding</a:t>
            </a:r>
            <a:endParaRPr b="0" i="0" sz="2100" u="sng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71439a29f_0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g3571439a29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250" y="646325"/>
            <a:ext cx="5085101" cy="653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571439a29f_0_0"/>
          <p:cNvSpPr/>
          <p:nvPr/>
        </p:nvSpPr>
        <p:spPr>
          <a:xfrm>
            <a:off x="611800" y="4400775"/>
            <a:ext cx="4926900" cy="450900"/>
          </a:xfrm>
          <a:prstGeom prst="rect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2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6" name="Google Shape;96;g3571439a29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397" y="1887800"/>
            <a:ext cx="4582004" cy="214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571439a29f_0_0"/>
          <p:cNvPicPr preferRelativeResize="0"/>
          <p:nvPr/>
        </p:nvPicPr>
        <p:blipFill rotWithShape="1">
          <a:blip r:embed="rId5">
            <a:alphaModFix/>
          </a:blip>
          <a:srcRect b="0" l="0" r="0" t="16853"/>
          <a:stretch/>
        </p:blipFill>
        <p:spPr>
          <a:xfrm>
            <a:off x="7461500" y="5539100"/>
            <a:ext cx="100965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571439a29f_0_0"/>
          <p:cNvSpPr txBox="1"/>
          <p:nvPr/>
        </p:nvSpPr>
        <p:spPr>
          <a:xfrm>
            <a:off x="6168300" y="5207575"/>
            <a:ext cx="618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</a:t>
            </a:r>
            <a:r>
              <a:rPr lang="pt-BR" sz="15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571439a29f_0_0"/>
          <p:cNvSpPr txBox="1"/>
          <p:nvPr/>
        </p:nvSpPr>
        <p:spPr>
          <a:xfrm>
            <a:off x="6175800" y="1524175"/>
            <a:ext cx="209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Baseado em:</a:t>
            </a:r>
            <a:endParaRPr b="0" i="0" sz="15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0" name="Google Shape;100;g3571439a29f_0_0"/>
          <p:cNvCxnSpPr>
            <a:stCxn id="95" idx="3"/>
          </p:cNvCxnSpPr>
          <p:nvPr/>
        </p:nvCxnSpPr>
        <p:spPr>
          <a:xfrm>
            <a:off x="5538700" y="4626225"/>
            <a:ext cx="1756200" cy="9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01" name="Google Shape;101;g3571439a29f_0_0" title="Screenshot 2026-05-21 at 19.30.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6075" y="6360900"/>
            <a:ext cx="1009650" cy="2386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g3571439a29f_0_0"/>
          <p:cNvCxnSpPr/>
          <p:nvPr/>
        </p:nvCxnSpPr>
        <p:spPr>
          <a:xfrm>
            <a:off x="7863575" y="5866975"/>
            <a:ext cx="20550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g3571439a29f_0_0"/>
          <p:cNvSpPr txBox="1"/>
          <p:nvPr/>
        </p:nvSpPr>
        <p:spPr>
          <a:xfrm>
            <a:off x="7309700" y="5880850"/>
            <a:ext cx="618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</a:t>
            </a:r>
            <a:r>
              <a:rPr lang="pt-BR" sz="15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4249b6fcd_0_77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9" name="Google Shape;109;g2d4249b6fcd_0_7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750" y="1658401"/>
            <a:ext cx="7834949" cy="31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4249b6fcd_1_1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5" name="Google Shape;115;g2d4249b6fcd_1_16"/>
          <p:cNvPicPr preferRelativeResize="0"/>
          <p:nvPr/>
        </p:nvPicPr>
        <p:blipFill rotWithShape="1">
          <a:blip r:embed="rId3">
            <a:alphaModFix/>
          </a:blip>
          <a:srcRect b="7637" l="47346" r="0" t="0"/>
          <a:stretch/>
        </p:blipFill>
        <p:spPr>
          <a:xfrm>
            <a:off x="-2" y="669600"/>
            <a:ext cx="5826675" cy="422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d4249b6fcd_1_16"/>
          <p:cNvSpPr txBox="1"/>
          <p:nvPr/>
        </p:nvSpPr>
        <p:spPr>
          <a:xfrm>
            <a:off x="473025" y="6404250"/>
            <a:ext cx="823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perceptron é um tipo específico de neurônio artificial. 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(foi um dos primeiros modelos de neurônios artificiais desenvolvidos, década de 50, e serve como uma base para entender conceitos mais complexos em redes neurais)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4249b6fcd_0_25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2" name="Google Shape;122;g2d4249b6fcd_0_258"/>
          <p:cNvPicPr preferRelativeResize="0"/>
          <p:nvPr/>
        </p:nvPicPr>
        <p:blipFill rotWithShape="1">
          <a:blip r:embed="rId3">
            <a:alphaModFix/>
          </a:blip>
          <a:srcRect b="7638" l="47346" r="0" t="0"/>
          <a:stretch/>
        </p:blipFill>
        <p:spPr>
          <a:xfrm>
            <a:off x="-2" y="524025"/>
            <a:ext cx="5826675" cy="422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d4249b6fcd_0_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4876" y="4247775"/>
            <a:ext cx="5650325" cy="249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d4249b6fcd_0_258"/>
          <p:cNvSpPr txBox="1"/>
          <p:nvPr/>
        </p:nvSpPr>
        <p:spPr>
          <a:xfrm>
            <a:off x="6452913" y="13099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modelo matemático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g2d4249b6fcd_0_258"/>
          <p:cNvCxnSpPr/>
          <p:nvPr/>
        </p:nvCxnSpPr>
        <p:spPr>
          <a:xfrm rot="10800000">
            <a:off x="5701700" y="1373150"/>
            <a:ext cx="691500" cy="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4249b6fcd_0_2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1" name="Google Shape;131;g2d4249b6fcd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0175" y="4817775"/>
            <a:ext cx="2473435" cy="12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d4249b6fcd_0_2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4350" y="4954063"/>
            <a:ext cx="3877500" cy="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d4249b6fcd_0_2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2750" y="1221612"/>
            <a:ext cx="7044376" cy="27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d4249b6fcd_0_250"/>
          <p:cNvSpPr txBox="1"/>
          <p:nvPr/>
        </p:nvSpPr>
        <p:spPr>
          <a:xfrm>
            <a:off x="6740750" y="6161150"/>
            <a:ext cx="29841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(função de ativação)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4249b6fcd_0_22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g2d4249b6fcd_0_223"/>
          <p:cNvPicPr preferRelativeResize="0"/>
          <p:nvPr/>
        </p:nvPicPr>
        <p:blipFill rotWithShape="1">
          <a:blip r:embed="rId3">
            <a:alphaModFix/>
          </a:blip>
          <a:srcRect b="62866" l="26317" r="-2246" t="4517"/>
          <a:stretch/>
        </p:blipFill>
        <p:spPr>
          <a:xfrm>
            <a:off x="3372300" y="1532457"/>
            <a:ext cx="6760750" cy="493821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d4249b6fcd_0_223"/>
          <p:cNvSpPr/>
          <p:nvPr/>
        </p:nvSpPr>
        <p:spPr>
          <a:xfrm>
            <a:off x="3676200" y="1265575"/>
            <a:ext cx="4353000" cy="92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2" name="Google Shape;142;g2d4249b6fcd_0_223"/>
          <p:cNvPicPr preferRelativeResize="0"/>
          <p:nvPr/>
        </p:nvPicPr>
        <p:blipFill rotWithShape="1">
          <a:blip r:embed="rId3">
            <a:alphaModFix/>
          </a:blip>
          <a:srcRect b="63383" l="0" r="75105" t="0"/>
          <a:stretch/>
        </p:blipFill>
        <p:spPr>
          <a:xfrm>
            <a:off x="200900" y="1802363"/>
            <a:ext cx="1874275" cy="46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d4249b6fcd_0_223"/>
          <p:cNvPicPr preferRelativeResize="0"/>
          <p:nvPr/>
        </p:nvPicPr>
        <p:blipFill rotWithShape="1">
          <a:blip r:embed="rId3">
            <a:alphaModFix/>
          </a:blip>
          <a:srcRect b="90800" l="29137" r="23645" t="837"/>
          <a:stretch/>
        </p:blipFill>
        <p:spPr>
          <a:xfrm>
            <a:off x="129900" y="1017825"/>
            <a:ext cx="3060474" cy="92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4249b6fcd_0_23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9" name="Google Shape;149;g2d4249b6fcd_0_232"/>
          <p:cNvPicPr preferRelativeResize="0"/>
          <p:nvPr/>
        </p:nvPicPr>
        <p:blipFill rotWithShape="1">
          <a:blip r:embed="rId3">
            <a:alphaModFix/>
          </a:blip>
          <a:srcRect b="63383" l="0" r="75105" t="0"/>
          <a:stretch/>
        </p:blipFill>
        <p:spPr>
          <a:xfrm>
            <a:off x="200900" y="1802363"/>
            <a:ext cx="1874275" cy="46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2d4249b6fcd_0_232"/>
          <p:cNvPicPr preferRelativeResize="0"/>
          <p:nvPr/>
        </p:nvPicPr>
        <p:blipFill rotWithShape="1">
          <a:blip r:embed="rId3">
            <a:alphaModFix/>
          </a:blip>
          <a:srcRect b="90800" l="29137" r="23645" t="837"/>
          <a:stretch/>
        </p:blipFill>
        <p:spPr>
          <a:xfrm>
            <a:off x="129900" y="1017825"/>
            <a:ext cx="3060474" cy="92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2d4249b6fcd_0_232"/>
          <p:cNvPicPr preferRelativeResize="0"/>
          <p:nvPr/>
        </p:nvPicPr>
        <p:blipFill rotWithShape="1">
          <a:blip r:embed="rId3">
            <a:alphaModFix/>
          </a:blip>
          <a:srcRect b="2323" l="-1030" r="1030" t="37292"/>
          <a:stretch/>
        </p:blipFill>
        <p:spPr>
          <a:xfrm>
            <a:off x="3413415" y="-24254"/>
            <a:ext cx="7360111" cy="75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4249b6fcd_0_213"/>
          <p:cNvSpPr txBox="1"/>
          <p:nvPr>
            <p:ph type="title"/>
          </p:nvPr>
        </p:nvSpPr>
        <p:spPr>
          <a:xfrm>
            <a:off x="626476" y="755100"/>
            <a:ext cx="54960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de língua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57" name="Google Shape;157;g2d4249b6fcd_0_21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d4249b6fcd_0_21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9" name="Google Shape;159;g2d4249b6fcd_0_2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300" y="1891550"/>
            <a:ext cx="414337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d4249b6fcd_0_213"/>
          <p:cNvSpPr txBox="1"/>
          <p:nvPr/>
        </p:nvSpPr>
        <p:spPr>
          <a:xfrm>
            <a:off x="4318000" y="2395775"/>
            <a:ext cx="646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Buscam prever um termo, baseado no contexto. 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Distribuição de probabilidade de strings de texto. 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2d4249b6fcd_0_213"/>
          <p:cNvSpPr txBox="1"/>
          <p:nvPr/>
        </p:nvSpPr>
        <p:spPr>
          <a:xfrm>
            <a:off x="626475" y="5521775"/>
            <a:ext cx="7884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de língua podem ser subdivididos em três grandes grupos: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probabilísticos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sequenciais 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1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de atenção</a:t>
            </a:r>
            <a:r>
              <a:rPr b="0" i="0" lang="pt-BR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4249b6fcd_0_33"/>
          <p:cNvSpPr txBox="1"/>
          <p:nvPr>
            <p:ph type="title"/>
          </p:nvPr>
        </p:nvSpPr>
        <p:spPr>
          <a:xfrm>
            <a:off x="626474" y="755100"/>
            <a:ext cx="84837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probabilísticos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67" name="Google Shape;167;g2d4249b6fcd_0_3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d4249b6fcd_0_3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9" name="Google Shape;169;g2d4249b6fcd_0_33"/>
          <p:cNvSpPr txBox="1"/>
          <p:nvPr/>
        </p:nvSpPr>
        <p:spPr>
          <a:xfrm>
            <a:off x="626475" y="1823250"/>
            <a:ext cx="96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Usam da probabilidade para fazer a sua predição. Ou seja, esse modelo estima a probabilidade de um termo, dado determinado contexto.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g2d4249b6fcd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075" y="2895150"/>
            <a:ext cx="36766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d4249b6fcd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075" y="4307513"/>
            <a:ext cx="7799762" cy="52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4249b6fcd_0_46"/>
          <p:cNvSpPr txBox="1"/>
          <p:nvPr>
            <p:ph type="title"/>
          </p:nvPr>
        </p:nvSpPr>
        <p:spPr>
          <a:xfrm>
            <a:off x="626474" y="755100"/>
            <a:ext cx="84837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probabilísticos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77" name="Google Shape;177;g2d4249b6fcd_0_4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d4249b6fcd_0_4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g2d4249b6fcd_0_46"/>
          <p:cNvSpPr txBox="1"/>
          <p:nvPr/>
        </p:nvSpPr>
        <p:spPr>
          <a:xfrm>
            <a:off x="626475" y="1823250"/>
            <a:ext cx="96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Usam da probabilidade para fazer a sua predição. Ou seja, esse modelo estima a probabilidade de um termo, dado determinado contexto.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2d4249b6fcd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075" y="2895150"/>
            <a:ext cx="36766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2d4249b6fcd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075" y="4307513"/>
            <a:ext cx="7799762" cy="52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2d4249b6fcd_0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800" y="5039125"/>
            <a:ext cx="4742395" cy="22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d4249b6fcd_0_46"/>
          <p:cNvSpPr txBox="1"/>
          <p:nvPr/>
        </p:nvSpPr>
        <p:spPr>
          <a:xfrm>
            <a:off x="0" y="7110250"/>
            <a:ext cx="8017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 baseado em </a:t>
            </a:r>
            <a:r>
              <a:rPr b="0" i="0" lang="pt-BR" sz="17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ref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4249b6fcd_0_59"/>
          <p:cNvSpPr txBox="1"/>
          <p:nvPr>
            <p:ph type="title"/>
          </p:nvPr>
        </p:nvSpPr>
        <p:spPr>
          <a:xfrm>
            <a:off x="626474" y="755100"/>
            <a:ext cx="84837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probabilísticos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89" name="Google Shape;189;g2d4249b6fcd_0_5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d4249b6fcd_0_5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g2d4249b6fcd_0_59"/>
          <p:cNvSpPr txBox="1"/>
          <p:nvPr/>
        </p:nvSpPr>
        <p:spPr>
          <a:xfrm>
            <a:off x="626475" y="1823250"/>
            <a:ext cx="967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Problema: 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Baixa complexidade.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leva em conta a sequência de palavras.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Apenas as palavras precedentes a uma determinada palavra interferem na distribuição de probabilidade da próxima palavra.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contextos mais profundos a próxima palavra de uma frase pode não ser evidente baseada nas palavras que a antecederam imediatamente.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2" name="Google Shape;192;g2d4249b6fcd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325" y="4917950"/>
            <a:ext cx="49911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2d4249b6fcd_0_59"/>
          <p:cNvSpPr txBox="1"/>
          <p:nvPr/>
        </p:nvSpPr>
        <p:spPr>
          <a:xfrm>
            <a:off x="4852800" y="6212675"/>
            <a:ext cx="45120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“Hambúrguer”?“Pizza”? “Salada”?</a:t>
            </a:r>
            <a:endParaRPr b="0" i="0" sz="30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4249b6fcd_0_74"/>
          <p:cNvSpPr txBox="1"/>
          <p:nvPr>
            <p:ph type="title"/>
          </p:nvPr>
        </p:nvSpPr>
        <p:spPr>
          <a:xfrm>
            <a:off x="626474" y="755100"/>
            <a:ext cx="84837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probabilísticos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199" name="Google Shape;199;g2d4249b6fcd_0_7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2d4249b6fcd_0_7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g2d4249b6fcd_0_74"/>
          <p:cNvSpPr txBox="1"/>
          <p:nvPr/>
        </p:nvSpPr>
        <p:spPr>
          <a:xfrm>
            <a:off x="626475" y="1823250"/>
            <a:ext cx="967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Problema: 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Baixa complexidade.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leva em conta a sequência de palavras.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Apenas as palavras precedentes a uma determinada palavra interferem na distribuição de probabilidade da próxima palavra.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contextos mais profundos a próxima palavra de uma frase pode não ser evidente baseada nas palavras que a antecederam imediatamente.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g2d4249b6fcd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850" y="5354550"/>
            <a:ext cx="8483700" cy="60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4249b6fcd_0_87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Sequenciais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08" name="Google Shape;208;g2d4249b6fcd_0_8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d4249b6fcd_0_8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g2d4249b6fcd_0_87"/>
          <p:cNvSpPr txBox="1"/>
          <p:nvPr/>
        </p:nvSpPr>
        <p:spPr>
          <a:xfrm>
            <a:off x="577950" y="1726225"/>
            <a:ext cx="9672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Ainda usam probabilidade, mas seu foco está em modelar dados de sequência. Um exemplo desse tipo de modelo são as redes neurais recorrentes (RNNs).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1" name="Google Shape;211;g2d4249b6fcd_0_87"/>
          <p:cNvPicPr preferRelativeResize="0"/>
          <p:nvPr/>
        </p:nvPicPr>
        <p:blipFill rotWithShape="1">
          <a:blip r:embed="rId4">
            <a:alphaModFix/>
          </a:blip>
          <a:srcRect b="46765" l="0" r="0" t="0"/>
          <a:stretch/>
        </p:blipFill>
        <p:spPr>
          <a:xfrm>
            <a:off x="1851075" y="3059250"/>
            <a:ext cx="6250901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2d4249b6fcd_0_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324" y="4053549"/>
            <a:ext cx="6227449" cy="35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4249b6fcd_0_122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Sequenciais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18" name="Google Shape;218;g2d4249b6fcd_0_12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d4249b6fcd_0_12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0" name="Google Shape;220;g2d4249b6fcd_0_122"/>
          <p:cNvSpPr txBox="1"/>
          <p:nvPr/>
        </p:nvSpPr>
        <p:spPr>
          <a:xfrm>
            <a:off x="577950" y="1726225"/>
            <a:ext cx="96723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RNNs são uma poderosa classe de NN voltada para modelar como séries temporais ou linguagem natural.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Limitações:</a:t>
            </a:r>
            <a:endParaRPr b="1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processar algo que se encontra na posição 4, é preciso processar todas as posições anteriores (0, 1, 2, 3). Isso, de um ponto de vista computacional, não é ideal (sequencial).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Outro problema enfrentado por esse tipo de modelo é a perda de informações com textos extensos. 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Vanishing Gradients Problem! </a:t>
            </a:r>
            <a:endParaRPr b="1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(Problema da Dissipação do Gradiente)</a:t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4249b6fcd_0_129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(Backpropagation)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26" name="Google Shape;226;g2d4249b6fcd_0_12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d4249b6fcd_0_12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8" name="Google Shape;228;g2d4249b6fcd_0_129"/>
          <p:cNvSpPr txBox="1"/>
          <p:nvPr/>
        </p:nvSpPr>
        <p:spPr>
          <a:xfrm>
            <a:off x="577950" y="1726225"/>
            <a:ext cx="9672300" cy="6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Backpropagation</a:t>
            </a: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é um algoritmo usado para treinar NN.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Feedforward</a:t>
            </a: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 entrada é passada pela rede, e a saída é calculada.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Cálculo do erro</a:t>
            </a: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 saída é comparada com a saída desejada (ou rótulo), e o erro é calculado.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Cálculo dos gradientes</a:t>
            </a: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O algoritmo calcula as derivadas parciais do erro em relação a cada peso da rede, usando a regra da cadeia. Isso é feito começando pela camada de saída e retrocedendo até a camada de entrada, daí o nome "backpropagation".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Atualização dos pesos</a:t>
            </a:r>
            <a:r>
              <a:rPr b="0" i="0" lang="pt-BR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Os pesos da rede são atualizados com base nos gradientes calculados. Isso é feito em direção oposta ao gradiente (usando um fator de aprendizado) para minimizar o erro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4249b6fcd_0_141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(Backpropagation)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34" name="Google Shape;234;g2d4249b6fcd_0_14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2d4249b6fcd_0_14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6" name="Google Shape;236;g2d4249b6fcd_0_141"/>
          <p:cNvPicPr preferRelativeResize="0"/>
          <p:nvPr/>
        </p:nvPicPr>
        <p:blipFill rotWithShape="1">
          <a:blip r:embed="rId4">
            <a:alphaModFix/>
          </a:blip>
          <a:srcRect b="0" l="0" r="0" t="14294"/>
          <a:stretch/>
        </p:blipFill>
        <p:spPr>
          <a:xfrm>
            <a:off x="346075" y="1917850"/>
            <a:ext cx="10001250" cy="42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4249b6fcd_0_181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(Gradiente)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42" name="Google Shape;242;g2d4249b6fcd_0_18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2d4249b6fcd_0_18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" name="Google Shape;244;g2d4249b6fcd_0_181"/>
          <p:cNvSpPr txBox="1"/>
          <p:nvPr/>
        </p:nvSpPr>
        <p:spPr>
          <a:xfrm>
            <a:off x="626475" y="1769575"/>
            <a:ext cx="813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Gradiente é uma ferramenta que nos diz como uma função muda. Pense nisso como uma seta que aponta para a direção em que a função sobe mais rapidamente.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ML usamos o gradiente para ajustar os parâmetros de um modelo (como os pesos de uma rede neural) para que o erro diminua.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5" name="Google Shape;245;g2d4249b6fcd_0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787" y="3495274"/>
            <a:ext cx="6765826" cy="329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249b6fcd_0_157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(Vanishing Gradients)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51" name="Google Shape;251;g2d4249b6fcd_0_15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2d4249b6fcd_0_15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3" name="Google Shape;253;g2d4249b6fcd_0_157"/>
          <p:cNvSpPr txBox="1"/>
          <p:nvPr/>
        </p:nvSpPr>
        <p:spPr>
          <a:xfrm>
            <a:off x="577950" y="1726225"/>
            <a:ext cx="9672300" cy="7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 que pode ocorrer durante o treinamento de redes neurais, especialmente em RNNs e em redes profundas. </a:t>
            </a:r>
            <a:endParaRPr b="0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Durante a backpropagation, os gradientes das camadas anteriores são multiplicados sucessivamente. Se as derivadas das funções de ativação em algumas dessas camadas forem menores que 1 (o que é comum com funções como a sigmoid ou a tanh), os gradientes podem se tornar muito pequenos.</a:t>
            </a:r>
            <a:endParaRPr b="0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b="0" i="0" lang="pt-BR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você estiver atualizando os pesos a partir de um gradiente que está se tornando cada vez menor, isso pode levar a uma situação em que as atualizações de peso se tornam negligenciáveis. Em casos extremos, os gradientes podem "desaparecer" completamente, resultando em pesos que não são atualizados de forma significativa.</a:t>
            </a:r>
            <a:endParaRPr b="0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b="1" i="0" lang="pt-BR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o gradiente desaparece, as camadas mais antigas da rede (as que estão no início) não aprendem nada, o que impede a rede de melhorar seu desempenho em tarefas complexas.</a:t>
            </a:r>
            <a:endParaRPr b="1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4249b6fcd_0_167"/>
          <p:cNvSpPr txBox="1"/>
          <p:nvPr>
            <p:ph type="title"/>
          </p:nvPr>
        </p:nvSpPr>
        <p:spPr>
          <a:xfrm>
            <a:off x="626474" y="755100"/>
            <a:ext cx="84837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(Vanishing Gradients)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59" name="Google Shape;259;g2d4249b6fcd_0_16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d4249b6fcd_0_16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1" name="Google Shape;261;g2d4249b6fcd_0_167"/>
          <p:cNvSpPr txBox="1"/>
          <p:nvPr/>
        </p:nvSpPr>
        <p:spPr>
          <a:xfrm>
            <a:off x="577950" y="1726225"/>
            <a:ext cx="9672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2" name="Google Shape;262;g2d4249b6fcd_0_167"/>
          <p:cNvPicPr preferRelativeResize="0"/>
          <p:nvPr/>
        </p:nvPicPr>
        <p:blipFill rotWithShape="1">
          <a:blip r:embed="rId4">
            <a:alphaModFix/>
          </a:blip>
          <a:srcRect b="0" l="19351" r="13222" t="38905"/>
          <a:stretch/>
        </p:blipFill>
        <p:spPr>
          <a:xfrm>
            <a:off x="278225" y="1524175"/>
            <a:ext cx="9189824" cy="52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d4249b6fcd_0_167"/>
          <p:cNvSpPr txBox="1"/>
          <p:nvPr/>
        </p:nvSpPr>
        <p:spPr>
          <a:xfrm>
            <a:off x="909700" y="6732700"/>
            <a:ext cx="635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Isso pode chegar até a interromper o treinamento da Rede!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571439a29f_0_5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571439a29f_0_5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0" name="Google Shape;270;g3571439a29f_0_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571439a29f_0_58"/>
          <p:cNvSpPr txBox="1"/>
          <p:nvPr/>
        </p:nvSpPr>
        <p:spPr>
          <a:xfrm>
            <a:off x="257625" y="708450"/>
            <a:ext cx="1087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(Sigmoid: Vanishing Gradient Problem)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g3571439a29f_0_58"/>
          <p:cNvSpPr txBox="1"/>
          <p:nvPr/>
        </p:nvSpPr>
        <p:spPr>
          <a:xfrm>
            <a:off x="257625" y="1781775"/>
            <a:ext cx="100251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treinamos uma rede neural usando backpropagation (retropropagação), os gradientes são multiplicados camada por camada (regra da cadeia).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as funções de ativação (como a sigmoid ou tanh) tiverem inclinações menores que 1, essa multiplicação repetida faz com que o gradiente diminua: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value x value x value x value …  = quase zero!</a:t>
            </a:r>
            <a:endParaRPr b="1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Isso significa que os pesos das primeiras camadas não são atualizados, e a rede não consegue aprender direito.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571439a29f_0_6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571439a29f_0_6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g3571439a29f_0_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571439a29f_0_66"/>
          <p:cNvSpPr txBox="1"/>
          <p:nvPr/>
        </p:nvSpPr>
        <p:spPr>
          <a:xfrm>
            <a:off x="257625" y="708450"/>
            <a:ext cx="6182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(Sigmoid)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g3571439a29f_0_66"/>
          <p:cNvSpPr txBox="1"/>
          <p:nvPr/>
        </p:nvSpPr>
        <p:spPr>
          <a:xfrm>
            <a:off x="257625" y="1781775"/>
            <a:ext cx="10025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função sigmoid transforma qualquer número real em um valor entre 0 e 1.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Ela é muito usada em redes neurais para representar probabilidades ou para ativar neurônios de forma suave.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fórmula matemática é: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g3571439a29f_0_66" title="sigmoid-activation-function-1_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0600" y="4955575"/>
            <a:ext cx="3592893" cy="149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g3571439a29f_0_66"/>
          <p:cNvPicPr preferRelativeResize="0"/>
          <p:nvPr/>
        </p:nvPicPr>
        <p:blipFill rotWithShape="1">
          <a:blip r:embed="rId5">
            <a:alphaModFix/>
          </a:blip>
          <a:srcRect b="66648" l="29042" r="26780" t="16094"/>
          <a:stretch/>
        </p:blipFill>
        <p:spPr>
          <a:xfrm>
            <a:off x="3230799" y="2922250"/>
            <a:ext cx="4637101" cy="11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4249b6fcd_0_97"/>
          <p:cNvSpPr txBox="1"/>
          <p:nvPr>
            <p:ph type="title"/>
          </p:nvPr>
        </p:nvSpPr>
        <p:spPr>
          <a:xfrm>
            <a:off x="626474" y="755100"/>
            <a:ext cx="8483700" cy="6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289" name="Google Shape;289;g2d4249b6fcd_0_9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d4249b6fcd_0_9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1" name="Google Shape;291;g2d4249b6fcd_0_97"/>
          <p:cNvSpPr txBox="1"/>
          <p:nvPr/>
        </p:nvSpPr>
        <p:spPr>
          <a:xfrm>
            <a:off x="626475" y="1823250"/>
            <a:ext cx="9672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 de NN para modelar sequências paralelamente, utilizando mecanismos de atenção.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g2d4249b6fcd_0_97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g2d4249b6fcd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4135700"/>
            <a:ext cx="6259493" cy="34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d4249b6fcd_0_97"/>
          <p:cNvSpPr txBox="1"/>
          <p:nvPr/>
        </p:nvSpPr>
        <p:spPr>
          <a:xfrm>
            <a:off x="6599400" y="4502450"/>
            <a:ext cx="2656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Leitura recomendada!</a:t>
            </a:r>
            <a:endParaRPr b="0" i="0" sz="2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d4249b6fcd_0_509"/>
          <p:cNvSpPr txBox="1"/>
          <p:nvPr>
            <p:ph type="title"/>
          </p:nvPr>
        </p:nvSpPr>
        <p:spPr>
          <a:xfrm>
            <a:off x="626474" y="755100"/>
            <a:ext cx="8483700" cy="6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Modelos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00" name="Google Shape;300;g2d4249b6fcd_0_50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d4249b6fcd_0_50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2" name="Google Shape;302;g2d4249b6fcd_0_509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3" name="Google Shape;303;g2d4249b6fcd_0_5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463" y="2311300"/>
            <a:ext cx="9303077" cy="3845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248ba07e93_0_144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09" name="Google Shape;309;g2248ba07e93_0_14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2248ba07e93_0_14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1" name="Google Shape;311;g2248ba07e93_0_144"/>
          <p:cNvSpPr txBox="1"/>
          <p:nvPr/>
        </p:nvSpPr>
        <p:spPr>
          <a:xfrm>
            <a:off x="529450" y="1801500"/>
            <a:ext cx="898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seq2seq são aqueles que pegam uma sequência como entrada e tem como saída uma outra sequência. 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2" name="Google Shape;312;g2248ba07e93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0921" y="3128175"/>
            <a:ext cx="5742125" cy="6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2248ba07e93_0_144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4249b6fcd_0_295"/>
          <p:cNvSpPr txBox="1"/>
          <p:nvPr>
            <p:ph type="title"/>
          </p:nvPr>
        </p:nvSpPr>
        <p:spPr>
          <a:xfrm>
            <a:off x="626475" y="755100"/>
            <a:ext cx="101808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900">
                <a:solidFill>
                  <a:srgbClr val="0E71BA"/>
                </a:solidFill>
              </a:rPr>
              <a:t>(word embedding — palavras como vetores)</a:t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</p:txBody>
      </p:sp>
      <p:pic>
        <p:nvPicPr>
          <p:cNvPr id="319" name="Google Shape;319;g2d4249b6fcd_0_29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2d4249b6fcd_0_29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1" name="Google Shape;321;g2d4249b6fcd_0_295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g2d4249b6fcd_0_295"/>
          <p:cNvSpPr txBox="1"/>
          <p:nvPr/>
        </p:nvSpPr>
        <p:spPr>
          <a:xfrm>
            <a:off x="626475" y="1769825"/>
            <a:ext cx="8709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Método para transformar palavras em espaços vetoriais que apresentam os significados e semânticas de dada palavra.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posso descrever a palavra “rainha”?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4249b6fcd_0_311"/>
          <p:cNvSpPr txBox="1"/>
          <p:nvPr>
            <p:ph type="title"/>
          </p:nvPr>
        </p:nvSpPr>
        <p:spPr>
          <a:xfrm>
            <a:off x="626475" y="755100"/>
            <a:ext cx="101808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900">
                <a:solidFill>
                  <a:srgbClr val="0E71BA"/>
                </a:solidFill>
              </a:rPr>
              <a:t>(word embedding — palavras como vetores)</a:t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</p:txBody>
      </p:sp>
      <p:pic>
        <p:nvPicPr>
          <p:cNvPr id="328" name="Google Shape;328;g2d4249b6fcd_0_31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d4249b6fcd_0_31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g2d4249b6fcd_0_311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g2d4249b6fcd_0_311"/>
          <p:cNvSpPr txBox="1"/>
          <p:nvPr/>
        </p:nvSpPr>
        <p:spPr>
          <a:xfrm>
            <a:off x="626475" y="1769825"/>
            <a:ext cx="8709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gênero: em uma escala numérica podemos atribuir -1 para o gênero feminino e 1 para masculino.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2" name="Google Shape;332;g2d4249b6fcd_0_3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9000" y="2631725"/>
            <a:ext cx="6504800" cy="36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2d4249b6fcd_0_311"/>
          <p:cNvSpPr txBox="1"/>
          <p:nvPr/>
        </p:nvSpPr>
        <p:spPr>
          <a:xfrm>
            <a:off x="1443375" y="6185900"/>
            <a:ext cx="64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precisamos de mais informações, mais dimensões para definir uma palavra…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4249b6fcd_0_325"/>
          <p:cNvSpPr txBox="1"/>
          <p:nvPr>
            <p:ph type="title"/>
          </p:nvPr>
        </p:nvSpPr>
        <p:spPr>
          <a:xfrm>
            <a:off x="626475" y="755100"/>
            <a:ext cx="101808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900">
                <a:solidFill>
                  <a:srgbClr val="0E71BA"/>
                </a:solidFill>
              </a:rPr>
              <a:t>(word embedding </a:t>
            </a:r>
            <a:r>
              <a:rPr lang="pt-BR" sz="3900">
                <a:solidFill>
                  <a:srgbClr val="0E71BA"/>
                </a:solidFill>
              </a:rPr>
              <a:t>–</a:t>
            </a:r>
            <a:r>
              <a:rPr lang="pt-BR" sz="3900">
                <a:solidFill>
                  <a:srgbClr val="0E71BA"/>
                </a:solidFill>
              </a:rPr>
              <a:t> palavras como vetores)</a:t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900">
              <a:solidFill>
                <a:srgbClr val="0E71BA"/>
              </a:solidFill>
            </a:endParaRPr>
          </a:p>
        </p:txBody>
      </p:sp>
      <p:pic>
        <p:nvPicPr>
          <p:cNvPr id="339" name="Google Shape;339;g2d4249b6fcd_0_32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2d4249b6fcd_0_32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1" name="Google Shape;341;g2d4249b6fcd_0_325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2" name="Google Shape;342;g2d4249b6fcd_0_325"/>
          <p:cNvPicPr preferRelativeResize="0"/>
          <p:nvPr/>
        </p:nvPicPr>
        <p:blipFill rotWithShape="1">
          <a:blip r:embed="rId4">
            <a:alphaModFix/>
          </a:blip>
          <a:srcRect b="20438" l="0" r="0" t="21227"/>
          <a:stretch/>
        </p:blipFill>
        <p:spPr>
          <a:xfrm>
            <a:off x="1171275" y="2100875"/>
            <a:ext cx="6616800" cy="21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2d4249b6fcd_0_325"/>
          <p:cNvSpPr txBox="1"/>
          <p:nvPr/>
        </p:nvSpPr>
        <p:spPr>
          <a:xfrm>
            <a:off x="703875" y="4730400"/>
            <a:ext cx="8904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 que palavras com as quais Rainha não tem relação possuem valores pequenos.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Atribuir todos esses valores de similaridade a mão é inviável. O que fazemos através de ML é deixar o computador sozinho aprender as palavras pelo seu contexto e construir esse vetor.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obtemos o embedding de cada palavra não sabemos nem o que cada posição do vetor representa!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d4249b6fcd_0_27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49" name="Google Shape;349;g2d4249b6fcd_0_27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2d4249b6fcd_0_27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1" name="Google Shape;351;g2d4249b6fcd_0_279"/>
          <p:cNvSpPr txBox="1"/>
          <p:nvPr/>
        </p:nvSpPr>
        <p:spPr>
          <a:xfrm>
            <a:off x="529450" y="1801500"/>
            <a:ext cx="898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estrutura de um modelo seq2seq é composta de um encoder e um decoder.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g2d4249b6fcd_0_279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3" name="Google Shape;353;g2d4249b6fcd_0_2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811200"/>
            <a:ext cx="10388599" cy="2770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2d4249b6fcd_0_279"/>
          <p:cNvSpPr txBox="1"/>
          <p:nvPr/>
        </p:nvSpPr>
        <p:spPr>
          <a:xfrm>
            <a:off x="4859400" y="518910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pt-BR" sz="13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Fonte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4249b6fcd_0_34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60" name="Google Shape;360;g2d4249b6fcd_0_34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2d4249b6fcd_0_3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2" name="Google Shape;362;g2d4249b6fcd_0_349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3" name="Google Shape;363;g2d4249b6fcd_0_349"/>
          <p:cNvSpPr txBox="1"/>
          <p:nvPr/>
        </p:nvSpPr>
        <p:spPr>
          <a:xfrm>
            <a:off x="626475" y="1843625"/>
            <a:ext cx="10066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Tanto o encoder quanto o decoder são RNNs, que permitem que a informação persista dentro de uma rede. Elas fazem isso através de loops que permitem que a informação seja passada de um estado para o outro.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RNNs precisam aceitar duas entradas de cada vez: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palavra a ser processada;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um hidden state que depende da informação recebida do estado anterior.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hidden state tem o papel de atribuir pesos às suas entradas então vai servir para passar uma informação mais contextualizada para o próximo estado.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4249b6fcd_0_372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69" name="Google Shape;369;g2d4249b6fcd_0_37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2d4249b6fcd_0_37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1" name="Google Shape;371;g2d4249b6fcd_0_372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2" name="Google Shape;372;g2d4249b6fcd_0_3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688" y="1934824"/>
            <a:ext cx="9411124" cy="4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2d4249b6fcd_0_372"/>
          <p:cNvSpPr txBox="1"/>
          <p:nvPr/>
        </p:nvSpPr>
        <p:spPr>
          <a:xfrm>
            <a:off x="4803175" y="6173800"/>
            <a:ext cx="37368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pt-BR" sz="16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Fonte</a:t>
            </a:r>
            <a:endParaRPr b="0" i="0" sz="1650" u="sng" cap="none" strike="noStrike">
              <a:solidFill>
                <a:schemeClr val="hlink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d4249b6fcd_0_388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79" name="Google Shape;379;g2d4249b6fcd_0_3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2d4249b6fcd_0_3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g2d4249b6fcd_0_388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g2d4249b6fcd_0_388"/>
          <p:cNvSpPr txBox="1"/>
          <p:nvPr/>
        </p:nvSpPr>
        <p:spPr>
          <a:xfrm>
            <a:off x="626475" y="1843625"/>
            <a:ext cx="9183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modelo toda a informação precisa ser processada pelo encoder antes de ser passada pelo decoder, ou seja, a única informação sobre o encoder que o decoder tem acesso é a resposta do seu último estado. 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Information bottleneck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isso quer dizer que para que o decoder inicie seu trabalho, ele precisa esperar o último encoder terminar seu processamento. 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um problema… por exemplo, na tradução, se temos uma frase muito grande, ela não vai ser bem traduzida, porque os estados das primeiras palavras ficam muito distantes, diminuindo a qualidade da tradução.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d4249b6fcd_0_405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Sequence-to-sequence models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88" name="Google Shape;388;g2d4249b6fcd_0_40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2d4249b6fcd_0_40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0" name="Google Shape;390;g2d4249b6fcd_0_405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1" name="Google Shape;391;g2d4249b6fcd_0_4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600" y="1703138"/>
            <a:ext cx="5882200" cy="415021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2d4249b6fcd_0_405"/>
          <p:cNvSpPr txBox="1"/>
          <p:nvPr/>
        </p:nvSpPr>
        <p:spPr>
          <a:xfrm>
            <a:off x="2886750" y="5986750"/>
            <a:ext cx="58821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none" cap="none" strike="noStrike">
                <a:solidFill>
                  <a:srgbClr val="6B6B6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O BLEAU score é um índice que mede a qualidade de tradução. Note que com o aumento do tamanho da frase a qualidade da tradução diminui de maneira considerável. (</a:t>
            </a:r>
            <a:r>
              <a:rPr b="0" i="0" lang="pt-BR" sz="10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Fonte</a:t>
            </a:r>
            <a:r>
              <a:rPr b="0" i="0" lang="pt-BR" sz="1050" u="none" cap="none" strike="noStrike">
                <a:solidFill>
                  <a:srgbClr val="6B6B6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050" u="none" cap="none" strike="noStrike">
              <a:solidFill>
                <a:srgbClr val="6B6B6B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g2d4249b6fcd_0_405"/>
          <p:cNvSpPr txBox="1"/>
          <p:nvPr/>
        </p:nvSpPr>
        <p:spPr>
          <a:xfrm>
            <a:off x="376000" y="6562200"/>
            <a:ext cx="8625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prevenir essa queda de performance, podemos introduzir um </a:t>
            </a:r>
            <a:r>
              <a:rPr b="1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mecanismo de atenção</a:t>
            </a: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4249b6fcd_0_427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Mecanismo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399" name="Google Shape;399;g2d4249b6fcd_0_42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2d4249b6fcd_0_42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1" name="Google Shape;401;g2d4249b6fcd_0_427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g2d4249b6fcd_0_427"/>
          <p:cNvSpPr txBox="1"/>
          <p:nvPr/>
        </p:nvSpPr>
        <p:spPr>
          <a:xfrm>
            <a:off x="626475" y="1855775"/>
            <a:ext cx="9910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conceito de “</a:t>
            </a:r>
            <a:r>
              <a:rPr b="1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tem por objetivo fazer com que o modelo foque nas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partes relevantes da sequência</a:t>
            </a: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 na tradução: a “atenção” tenta imitar como uma pessoa faria. Seres humanos vão olhar uma ou poucas palavras por vez e começar a sua tradução, eles não vão olhar um longo parágrafo ou texto e tentar traduzir tudo de uma vez.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“atenção” faz isso atribuindo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pesos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cada palavra: a palavra que está sendo processada possui um peso maior (focando sua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na palavra que está traduzindo) e as outras palavras possuem um peso menor.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d4249b6fcd_0_442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Mecanismo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08" name="Google Shape;408;g2d4249b6fcd_0_44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2d4249b6fcd_0_44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0" name="Google Shape;410;g2d4249b6fcd_0_442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g2d4249b6fcd_0_4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4275" y="1667200"/>
            <a:ext cx="8193600" cy="46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2d4249b6fcd_0_442"/>
          <p:cNvSpPr txBox="1"/>
          <p:nvPr/>
        </p:nvSpPr>
        <p:spPr>
          <a:xfrm>
            <a:off x="4730400" y="6332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Fonte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d4249b6fcd_0_458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Mecanismo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18" name="Google Shape;418;g2d4249b6fcd_0_45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2d4249b6fcd_0_45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0" name="Google Shape;420;g2d4249b6fcd_0_458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g2d4249b6fcd_0_458"/>
          <p:cNvSpPr txBox="1"/>
          <p:nvPr/>
        </p:nvSpPr>
        <p:spPr>
          <a:xfrm>
            <a:off x="545825" y="1746625"/>
            <a:ext cx="9255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modelo seq2seq com mecanismos de atenção se diferencia de um modelo seq2seq tradicional: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o encoder passa muito mais dados para o decoder!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é mais passado apenas o último hidden state e sim </a:t>
            </a: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os hidden states.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2" name="Google Shape;422;g2d4249b6fcd_0_4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6750" y="3788400"/>
            <a:ext cx="6713753" cy="294429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2d4249b6fcd_0_458"/>
          <p:cNvSpPr txBox="1"/>
          <p:nvPr/>
        </p:nvSpPr>
        <p:spPr>
          <a:xfrm>
            <a:off x="4726275" y="6467600"/>
            <a:ext cx="30000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Fonte</a:t>
            </a:r>
            <a:endParaRPr b="0" i="0" sz="1050" u="sng" cap="none" strike="noStrike">
              <a:solidFill>
                <a:schemeClr val="hlink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d4249b6fcd_0_477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Mecanismo de atenção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29" name="Google Shape;429;g2d4249b6fcd_0_47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2d4249b6fcd_0_47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1" name="Google Shape;431;g2d4249b6fcd_0_477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g2d4249b6fcd_0_477"/>
          <p:cNvSpPr txBox="1"/>
          <p:nvPr/>
        </p:nvSpPr>
        <p:spPr>
          <a:xfrm>
            <a:off x="545825" y="1746625"/>
            <a:ext cx="92556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decoder faz um passo a mais antes de produzir a sua saída.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Olha os hidden states recebidos.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Atribui a cada hidden state um peso.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Multiplica cada hidden state por seu peso, amplificando o valor de hidden states com grandes pesos e reduzindo hidden states com pesos menores.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Faz bastante sentido intuitivamente: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eu estou traduzindo uma palavra eu vou dar mais atenção à ela.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Esse mecanismo que parece tão simples, já faz o desempenho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(de um modelo seq2seq) </a:t>
            </a: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melhorar muito.</a:t>
            </a:r>
            <a:endParaRPr b="1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4249b6fcd_0_493"/>
          <p:cNvSpPr txBox="1"/>
          <p:nvPr>
            <p:ph type="title"/>
          </p:nvPr>
        </p:nvSpPr>
        <p:spPr>
          <a:xfrm>
            <a:off x="626475" y="755100"/>
            <a:ext cx="101808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38" name="Google Shape;438;g2d4249b6fcd_0_49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2d4249b6fcd_0_49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0" name="Google Shape;440;g2d4249b6fcd_0_493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g2d4249b6fcd_0_493"/>
          <p:cNvSpPr txBox="1"/>
          <p:nvPr/>
        </p:nvSpPr>
        <p:spPr>
          <a:xfrm>
            <a:off x="688475" y="1869950"/>
            <a:ext cx="912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que entendemos o que é a atenção, vamos entrar em um conceito fundamental: </a:t>
            </a: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 Attention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Digamos que queremos traduzir a seguinte frase: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galinha não atravessou a rua porque ela estava cansada</a:t>
            </a:r>
            <a:endParaRPr b="0" i="1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quem o pronome “ela” está se referindo?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4249b6fcd_0_526"/>
          <p:cNvSpPr txBox="1"/>
          <p:nvPr>
            <p:ph type="title"/>
          </p:nvPr>
        </p:nvSpPr>
        <p:spPr>
          <a:xfrm>
            <a:off x="626475" y="755100"/>
            <a:ext cx="101808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47" name="Google Shape;447;g2d4249b6fcd_0_526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2d4249b6fcd_0_526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9" name="Google Shape;449;g2d4249b6fcd_0_526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g2d4249b6fcd_0_526"/>
          <p:cNvSpPr txBox="1"/>
          <p:nvPr/>
        </p:nvSpPr>
        <p:spPr>
          <a:xfrm>
            <a:off x="688475" y="1869950"/>
            <a:ext cx="9122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a gente é óbvio que está se referindo à galinha, mas para um algoritmo não é tão simples assim.</a:t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justamente aí que a self attention entra, ela permite a associação da palavra “ela” com a palavra “galinha”. </a:t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Enquanto o modelo processa cada palavra, self attention permite que ele busque por pistas nas outras posições da entrada para entender melhor como processar essa palavra.</a:t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4249b6fcd_0_534"/>
          <p:cNvSpPr txBox="1"/>
          <p:nvPr>
            <p:ph type="title"/>
          </p:nvPr>
        </p:nvSpPr>
        <p:spPr>
          <a:xfrm>
            <a:off x="626475" y="755100"/>
            <a:ext cx="101808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56" name="Google Shape;456;g2d4249b6fcd_0_5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2d4249b6fcd_0_5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8" name="Google Shape;458;g2d4249b6fcd_0_534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g2d4249b6fcd_0_534"/>
          <p:cNvSpPr txBox="1"/>
          <p:nvPr/>
        </p:nvSpPr>
        <p:spPr>
          <a:xfrm>
            <a:off x="553700" y="1569950"/>
            <a:ext cx="9122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Dada a frase abaixo, primeiro vamos transformar as palavras em tokens e depois em vetores (word embeddings).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galinha não atravessou a rua porque ela estava </a:t>
            </a:r>
            <a:r>
              <a:rPr b="0" i="1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cansada</a:t>
            </a:r>
            <a:endParaRPr b="0" i="1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1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d4249b6fcd_0_545"/>
          <p:cNvSpPr txBox="1"/>
          <p:nvPr>
            <p:ph type="title"/>
          </p:nvPr>
        </p:nvSpPr>
        <p:spPr>
          <a:xfrm>
            <a:off x="626475" y="755100"/>
            <a:ext cx="101808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65" name="Google Shape;465;g2d4249b6fcd_0_54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2d4249b6fcd_0_54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7" name="Google Shape;467;g2d4249b6fcd_0_545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g2d4249b6fcd_0_545"/>
          <p:cNvSpPr txBox="1"/>
          <p:nvPr/>
        </p:nvSpPr>
        <p:spPr>
          <a:xfrm>
            <a:off x="553700" y="1569950"/>
            <a:ext cx="9122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galinha não atravessou a rua porque ela estava cansada</a:t>
            </a:r>
            <a:endParaRPr b="0" i="1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1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Atribuímos um peso para cada vetor. Isso tem por objetivo reduzir o ruídos dos dados e direcionar a atenção do nosso modelo. Com isso obteremos uma versão contextualizada das nossas palavras.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69" name="Google Shape;469;g2d4249b6fcd_0_5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875" y="3592750"/>
            <a:ext cx="5941625" cy="33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2d4249b6fcd_0_545"/>
          <p:cNvSpPr txBox="1"/>
          <p:nvPr/>
        </p:nvSpPr>
        <p:spPr>
          <a:xfrm>
            <a:off x="7242250" y="4682475"/>
            <a:ext cx="3132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Estamos interessados então em descobrir o que acontece em </a:t>
            </a:r>
            <a:r>
              <a:rPr b="1" i="0" lang="pt-BR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“PESOS”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d4249b6fcd_0_364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76" name="Google Shape;476;g2d4249b6fcd_0_36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2d4249b6fcd_0_36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8" name="Google Shape;478;g2d4249b6fcd_0_364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g2d4249b6fcd_0_364"/>
          <p:cNvSpPr txBox="1"/>
          <p:nvPr/>
        </p:nvSpPr>
        <p:spPr>
          <a:xfrm>
            <a:off x="626475" y="1696275"/>
            <a:ext cx="94419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versão contextualizada leva em conta a relação que outras palavras da frase tem com a palavra que estamos analisando no momento. Para isso faremos</a:t>
            </a: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operações matemáticas para determinar a relação entre as palavras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Fazer a multiplicação do embedding de cada palavra, Vₙ, e multiplicar pelo embedding de cada uma das outras palavras, incluindo o seu próprio embedding.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80" name="Google Shape;480;g2d4249b6fcd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0363" y="3599400"/>
            <a:ext cx="5755625" cy="37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d4249b6fcd_0_589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86" name="Google Shape;486;g2d4249b6fcd_0_58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2d4249b6fcd_0_58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8" name="Google Shape;488;g2d4249b6fcd_0_589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g2d4249b6fcd_0_589"/>
          <p:cNvSpPr txBox="1"/>
          <p:nvPr/>
        </p:nvSpPr>
        <p:spPr>
          <a:xfrm>
            <a:off x="626475" y="1696275"/>
            <a:ext cx="944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 Imagine que o vetor das palavras sejam compostos apenas de 1s e 0s (não são, mas para esse exemplo essa abstração vai nos ajudar).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0" name="Google Shape;490;g2d4249b6fcd_0_5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8425" y="2635900"/>
            <a:ext cx="68580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d4249b6fcd_0_603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496" name="Google Shape;496;g2d4249b6fcd_0_60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2d4249b6fcd_0_60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8" name="Google Shape;498;g2d4249b6fcd_0_603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9" name="Google Shape;499;g2d4249b6fcd_0_603"/>
          <p:cNvSpPr txBox="1"/>
          <p:nvPr/>
        </p:nvSpPr>
        <p:spPr>
          <a:xfrm>
            <a:off x="626475" y="1770150"/>
            <a:ext cx="8491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eu tenho duas palavras iguais, elas vão ter o mesmo embedding.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eu fizer a multiplicação dela por ela mesma eu vou obter </a:t>
            </a:r>
            <a:r>
              <a:rPr b="1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maior valor 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possível, já que vou estar multiplicando todos os 1s por 1s e os 0s não vão anular nenhum dos meus 1s.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0" name="Google Shape;500;g2d4249b6fcd_0_6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7238" y="3709650"/>
            <a:ext cx="66389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2d4249b6fcd_0_603"/>
          <p:cNvPicPr preferRelativeResize="0"/>
          <p:nvPr/>
        </p:nvPicPr>
        <p:blipFill rotWithShape="1">
          <a:blip r:embed="rId5">
            <a:alphaModFix/>
          </a:blip>
          <a:srcRect b="0" l="13959" r="13523" t="0"/>
          <a:stretch/>
        </p:blipFill>
        <p:spPr>
          <a:xfrm>
            <a:off x="5720425" y="579525"/>
            <a:ext cx="497297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d4249b6fcd_0_617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07" name="Google Shape;507;g2d4249b6fcd_0_61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2d4249b6fcd_0_61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9" name="Google Shape;509;g2d4249b6fcd_0_617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g2d4249b6fcd_0_617"/>
          <p:cNvSpPr txBox="1"/>
          <p:nvPr/>
        </p:nvSpPr>
        <p:spPr>
          <a:xfrm>
            <a:off x="626475" y="1770150"/>
            <a:ext cx="9053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imagine que eu tenha uma palavra que é o exato oposto da palavra que eu esteja analisando (isso pode ocorrer porque elas não tem relação nenhuma).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eu multiplicar o vetor dessa palavra com o vetor da minha palavra original eu vou obter 0, porque todos os meus 1s foram anulados.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1" name="Google Shape;511;g2d4249b6fcd_0_617"/>
          <p:cNvPicPr preferRelativeResize="0"/>
          <p:nvPr/>
        </p:nvPicPr>
        <p:blipFill rotWithShape="1">
          <a:blip r:embed="rId4">
            <a:alphaModFix/>
          </a:blip>
          <a:srcRect b="0" l="13959" r="13523" t="0"/>
          <a:stretch/>
        </p:blipFill>
        <p:spPr>
          <a:xfrm>
            <a:off x="5720425" y="579525"/>
            <a:ext cx="49729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2d4249b6fcd_0_6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8425" y="3802775"/>
            <a:ext cx="663892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d4249b6fcd_0_629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18" name="Google Shape;518;g2d4249b6fcd_0_62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2d4249b6fcd_0_62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0" name="Google Shape;520;g2d4249b6fcd_0_629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1" name="Google Shape;521;g2d4249b6fcd_0_629"/>
          <p:cNvSpPr txBox="1"/>
          <p:nvPr/>
        </p:nvSpPr>
        <p:spPr>
          <a:xfrm>
            <a:off x="626475" y="1770150"/>
            <a:ext cx="9053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por isso que esse mecanismo funciona!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multiplicação de um Vₖ </a:t>
            </a:r>
            <a:r>
              <a:rPr b="0" i="0" lang="pt-BR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(um vetor qualquer) </a:t>
            </a: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ele mesmo vai me fornecer o maior valor de relação possível, ou seja, o maior peso possível.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Já quando eu fizer a multiplicação de um Vₖ por um vetor que não tenha tanta relação com ele vou obter um peso muito menor, quase que ínfimo. 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d4249b6fcd_0_640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27" name="Google Shape;527;g2d4249b6fcd_0_64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2d4249b6fcd_0_64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9" name="Google Shape;529;g2d4249b6fcd_0_640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0" name="Google Shape;530;g2d4249b6fcd_0_640"/>
          <p:cNvSpPr txBox="1"/>
          <p:nvPr/>
        </p:nvSpPr>
        <p:spPr>
          <a:xfrm>
            <a:off x="626475" y="1770150"/>
            <a:ext cx="90537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Depois de ter chegado nos pesos Sₙ, o próximo passo é normalizar esses valores para que tenham soma 1, obtendo os valores normalizados Wₙ.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1" name="Google Shape;531;g2d4249b6fcd_0_6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525" y="2743023"/>
            <a:ext cx="2460900" cy="1364556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2d4249b6fcd_0_640"/>
          <p:cNvSpPr txBox="1"/>
          <p:nvPr/>
        </p:nvSpPr>
        <p:spPr>
          <a:xfrm>
            <a:off x="680350" y="4289525"/>
            <a:ext cx="923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fim, para obtermos o valor contextualizado Yₙ, multiplicamos cada valor normalizado Sₙ pelos embeddings originais da palavra Vₙ.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33" name="Google Shape;533;g2d4249b6fcd_0_6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950" y="5309388"/>
            <a:ext cx="8436125" cy="9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2d4249b6fcd_0_640"/>
          <p:cNvSpPr txBox="1"/>
          <p:nvPr/>
        </p:nvSpPr>
        <p:spPr>
          <a:xfrm>
            <a:off x="295000" y="6416350"/>
            <a:ext cx="915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* estamos somando a influência que cada palavra tem na palavra em análise no momento, ou seja, essa versão contextualizada leva em conta a influência de outras palavras no seu significado. 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d4249b6fcd_0_657"/>
          <p:cNvSpPr txBox="1"/>
          <p:nvPr>
            <p:ph type="title"/>
          </p:nvPr>
        </p:nvSpPr>
        <p:spPr>
          <a:xfrm>
            <a:off x="626475" y="755100"/>
            <a:ext cx="10180800" cy="28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40" name="Google Shape;540;g2d4249b6fcd_0_657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2d4249b6fcd_0_657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2" name="Google Shape;542;g2d4249b6fcd_0_657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g2d4249b6fcd_0_657"/>
          <p:cNvSpPr txBox="1"/>
          <p:nvPr/>
        </p:nvSpPr>
        <p:spPr>
          <a:xfrm>
            <a:off x="626475" y="1770150"/>
            <a:ext cx="9053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importante notar que esse mecanismo ainda é limitado na quantidade de palavras que pode “prestar atenção” ao mesmo tempo.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exemplo, fizemos o cálculo apenas para o primeiro vetor, mas o método é o mesmo para todos os demais embeddings. Perceba que recalculamos todos os vetores em função de V1.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ideia é que estamos determinando a relação do artigo “A” com todas as outras palavras da frase.</a:t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4" name="Google Shape;544;g2d4249b6fcd_0_6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4626" y="4436900"/>
            <a:ext cx="5527449" cy="31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d4249b6fcd_0_671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50" name="Google Shape;550;g2d4249b6fcd_0_67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2d4249b6fcd_0_67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2" name="Google Shape;552;g2d4249b6fcd_0_671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g2d4249b6fcd_0_671"/>
          <p:cNvSpPr txBox="1"/>
          <p:nvPr/>
        </p:nvSpPr>
        <p:spPr>
          <a:xfrm>
            <a:off x="626475" y="1770150"/>
            <a:ext cx="905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Atualização de valores no treinamento: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Inicialmente, dividimos os nossos dados em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</a:t>
            </a: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</a:t>
            </a: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4" name="Google Shape;554;g2d4249b6fcd_0_6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8112" y="3090613"/>
            <a:ext cx="3275956" cy="29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2d4249b6fcd_0_6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681" y="6154775"/>
            <a:ext cx="58388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2d4249b6fcd_0_671"/>
          <p:cNvSpPr txBox="1"/>
          <p:nvPr/>
        </p:nvSpPr>
        <p:spPr>
          <a:xfrm>
            <a:off x="6005075" y="3500775"/>
            <a:ext cx="4112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Abstração: para buscar um vídeo no Youtube você digita sua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de pesquisa. O mecanismo de busca vai então comparar a sua busca com títulos e descrições dos vídeos na base de dados, essas são as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Por fim, será retornado para você os vídeos que mais se relacionam com aquela sua pesquisa (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d4249b6fcd_0_688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62" name="Google Shape;562;g2d4249b6fcd_0_6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2d4249b6fcd_0_6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4" name="Google Shape;564;g2d4249b6fcd_0_688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g2d4249b6fcd_0_688"/>
          <p:cNvSpPr txBox="1"/>
          <p:nvPr/>
        </p:nvSpPr>
        <p:spPr>
          <a:xfrm>
            <a:off x="626475" y="1539700"/>
            <a:ext cx="9053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Atualização de valores no treinamento:</a:t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Até agora, lidamos com os vetores, mas o que vamos fazer é introduzir uma matriz de peso para cada um dos vetores. Essas matrizes são criadas durante o processo de treinamento.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6" name="Google Shape;566;g2d4249b6fcd_0_6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1475" y="3459325"/>
            <a:ext cx="5339587" cy="35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2d4249b6fcd_0_688"/>
          <p:cNvSpPr txBox="1"/>
          <p:nvPr/>
        </p:nvSpPr>
        <p:spPr>
          <a:xfrm>
            <a:off x="2736250" y="7145050"/>
            <a:ext cx="7144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pt-BR" sz="1250" u="none" cap="none" strike="noStrike">
                <a:solidFill>
                  <a:srgbClr val="6B6B6B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Cálculos para determinar o peso de cada vetor com matrizes atualizadas com treino.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d4249b6fcd_0_704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Self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73" name="Google Shape;573;g2d4249b6fcd_0_70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2d4249b6fcd_0_70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75" name="Google Shape;575;g2d4249b6fcd_0_704"/>
          <p:cNvSpPr/>
          <p:nvPr/>
        </p:nvSpPr>
        <p:spPr>
          <a:xfrm>
            <a:off x="6187000" y="3168250"/>
            <a:ext cx="242700" cy="42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6" name="Google Shape;576;g2d4249b6fcd_0_704"/>
          <p:cNvSpPr txBox="1"/>
          <p:nvPr/>
        </p:nvSpPr>
        <p:spPr>
          <a:xfrm>
            <a:off x="626475" y="1539700"/>
            <a:ext cx="9053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Finalmente, chegamos no seguinte esquema para self attention: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7" name="Google Shape;577;g2d4249b6fcd_0_7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575" y="2724175"/>
            <a:ext cx="7126250" cy="40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d4249b6fcd_0_1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600">
                <a:solidFill>
                  <a:srgbClr val="0E71BA"/>
                </a:solidFill>
              </a:rPr>
              <a:t>Multi Head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83" name="Google Shape;583;g2d4249b6fcd_0_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2d4249b6fcd_0_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5" name="Google Shape;585;g2d4249b6fcd_0_1"/>
          <p:cNvSpPr txBox="1"/>
          <p:nvPr/>
        </p:nvSpPr>
        <p:spPr>
          <a:xfrm>
            <a:off x="497175" y="1810750"/>
            <a:ext cx="9110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Mecanismo que vai melhorar a performance da camada de atenção: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Expandir a habilidade do modelo de focar em diferentes posições. Apenas com self attention, os embeddings atualizados contém um pouco do encoding de outras palavras, mas o peso maior é da palavra sendo analisada naquele momento.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Dá à camada de atenção múltiplos “subespaços de representação”: múltiplos sets de matrizes de peso de Query/Key/Value.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d4249b6fcd_0_720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Multi Head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91" name="Google Shape;591;g2d4249b6fcd_0_72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2d4249b6fcd_0_72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3" name="Google Shape;593;g2d4249b6fcd_0_720"/>
          <p:cNvSpPr txBox="1"/>
          <p:nvPr/>
        </p:nvSpPr>
        <p:spPr>
          <a:xfrm>
            <a:off x="497175" y="1774375"/>
            <a:ext cx="91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Exemplo: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4" name="Google Shape;594;g2d4249b6fcd_0_7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2214" y="2316050"/>
            <a:ext cx="6160625" cy="13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2d4249b6fcd_0_720"/>
          <p:cNvSpPr txBox="1"/>
          <p:nvPr/>
        </p:nvSpPr>
        <p:spPr>
          <a:xfrm>
            <a:off x="764150" y="3832825"/>
            <a:ext cx="9643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temos que analisar a palavra “ler”, temos que dar atenção a outras palavras, como “mãe”, “livros” e “mim”. No modelo de self attention não temos atenção o suficiente para isso.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d4249b6fcd_0_731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Multi Head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01" name="Google Shape;601;g2d4249b6fcd_0_73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2d4249b6fcd_0_73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3" name="Google Shape;603;g2d4249b6fcd_0_731"/>
          <p:cNvSpPr txBox="1"/>
          <p:nvPr/>
        </p:nvSpPr>
        <p:spPr>
          <a:xfrm>
            <a:off x="626475" y="1722350"/>
            <a:ext cx="964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self attention as Queries/Keys/Values representam uma camada linear. Para que o modelo preste atenção em mais de uma coisa, apenas uma camada linear não é suficiente.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 attention: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04" name="Google Shape;604;g2d4249b6fcd_0_7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000" y="3215450"/>
            <a:ext cx="68580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d4249b6fcd_0_742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Multi Head Attention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10" name="Google Shape;610;g2d4249b6fcd_0_74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g2d4249b6fcd_0_74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2" name="Google Shape;612;g2d4249b6fcd_0_742"/>
          <p:cNvSpPr txBox="1"/>
          <p:nvPr/>
        </p:nvSpPr>
        <p:spPr>
          <a:xfrm>
            <a:off x="626475" y="1722350"/>
            <a:ext cx="96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solução é passar os embeddings para camadas paralelas.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exemplo, se quisermos que nosso modelo preste atenção em 3 coisas ao mesmo tempo, então utilizaremos 3 camadas paralelas.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3" name="Google Shape;613;g2d4249b6fcd_0_7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500" y="3083275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2d4249b6fcd_0_742"/>
          <p:cNvSpPr txBox="1"/>
          <p:nvPr/>
        </p:nvSpPr>
        <p:spPr>
          <a:xfrm>
            <a:off x="0" y="6940900"/>
            <a:ext cx="964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modelo Transformer típico, como o BERT ou o GPT, geralmente tem entre 6 a 12 camadas de Multi-Head Attention. Modelos maiores, como o GPT-3, podem ter até 96 camadas.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d4249b6fcd_0_755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20" name="Google Shape;620;g2d4249b6fcd_0_755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g2d4249b6fcd_0_755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2" name="Google Shape;622;g2d4249b6fcd_0_755"/>
          <p:cNvSpPr txBox="1"/>
          <p:nvPr/>
        </p:nvSpPr>
        <p:spPr>
          <a:xfrm>
            <a:off x="691350" y="1625300"/>
            <a:ext cx="934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Tudo que vimos até esse momento são conceitos importantes que precisaremos para entendermos um pouquinho melhor sobre como </a:t>
            </a:r>
            <a:r>
              <a:rPr b="1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transformers</a:t>
            </a: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funcionam.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23" name="Google Shape;623;g2d4249b6fcd_0_755"/>
          <p:cNvPicPr preferRelativeResize="0"/>
          <p:nvPr/>
        </p:nvPicPr>
        <p:blipFill rotWithShape="1">
          <a:blip r:embed="rId4">
            <a:alphaModFix/>
          </a:blip>
          <a:srcRect b="0" l="27265" r="23331" t="0"/>
          <a:stretch/>
        </p:blipFill>
        <p:spPr>
          <a:xfrm>
            <a:off x="3021275" y="2573900"/>
            <a:ext cx="4220973" cy="4664276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g2d4249b6fcd_0_755"/>
          <p:cNvSpPr/>
          <p:nvPr/>
        </p:nvSpPr>
        <p:spPr>
          <a:xfrm>
            <a:off x="3948275" y="5242325"/>
            <a:ext cx="1014300" cy="5214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5" name="Google Shape;625;g2d4249b6fcd_0_755"/>
          <p:cNvSpPr/>
          <p:nvPr/>
        </p:nvSpPr>
        <p:spPr>
          <a:xfrm>
            <a:off x="5011100" y="4388000"/>
            <a:ext cx="1085400" cy="5943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6" name="Google Shape;626;g2d4249b6fcd_0_755"/>
          <p:cNvSpPr/>
          <p:nvPr/>
        </p:nvSpPr>
        <p:spPr>
          <a:xfrm>
            <a:off x="3210075" y="5904175"/>
            <a:ext cx="1085400" cy="5943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g2d4249b6fcd_0_755"/>
          <p:cNvSpPr/>
          <p:nvPr/>
        </p:nvSpPr>
        <p:spPr>
          <a:xfrm>
            <a:off x="3787000" y="6202125"/>
            <a:ext cx="1085400" cy="5943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g2d4249b6fcd_0_755"/>
          <p:cNvSpPr txBox="1"/>
          <p:nvPr/>
        </p:nvSpPr>
        <p:spPr>
          <a:xfrm>
            <a:off x="7386700" y="5762725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Add e normalize é uma camada para lidar com conexões residuais e layer normalization.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2d4249b6fcd_0_755"/>
          <p:cNvSpPr/>
          <p:nvPr/>
        </p:nvSpPr>
        <p:spPr>
          <a:xfrm>
            <a:off x="5011100" y="5087625"/>
            <a:ext cx="1085400" cy="5943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d4249b6fcd_0_96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35" name="Google Shape;635;g2d4249b6fcd_0_96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2d4249b6fcd_0_96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37" name="Google Shape;637;g2d4249b6fcd_0_969"/>
          <p:cNvPicPr preferRelativeResize="0"/>
          <p:nvPr/>
        </p:nvPicPr>
        <p:blipFill rotWithShape="1">
          <a:blip r:embed="rId4">
            <a:alphaModFix/>
          </a:blip>
          <a:srcRect b="23721" l="46434" r="33691" t="45592"/>
          <a:stretch/>
        </p:blipFill>
        <p:spPr>
          <a:xfrm>
            <a:off x="983599" y="2476900"/>
            <a:ext cx="3796425" cy="3199824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2d4249b6fcd_0_969"/>
          <p:cNvSpPr txBox="1"/>
          <p:nvPr/>
        </p:nvSpPr>
        <p:spPr>
          <a:xfrm>
            <a:off x="5506650" y="2284950"/>
            <a:ext cx="48528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Camada de self attention modificada no decoder.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que um modelo preveja a próxima palavra em uma sequência considerando apenas as palavras anteriores, aplicando uma máscara que oculta informações futuras. 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exemplo, ao prever a próxima palavra após "O gato está no", o modelo ignora a palavra "jardim" (que está sequência original), garantindo que o modelo não "olhe para frente".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(assim pode decidir entre várias opções, como "cama", "mesa" ou "jardim", dependendo do contexto que aprendeu.)</a:t>
            </a:r>
            <a:endParaRPr b="0" i="0" sz="1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d4249b6fcd_0_834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44" name="Google Shape;644;g2d4249b6fcd_0_83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2d4249b6fcd_0_83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6" name="Google Shape;646;g2d4249b6fcd_0_834"/>
          <p:cNvSpPr txBox="1"/>
          <p:nvPr/>
        </p:nvSpPr>
        <p:spPr>
          <a:xfrm>
            <a:off x="691350" y="1625300"/>
            <a:ext cx="93405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tipo de rede, o tipo principal de camada é a </a:t>
            </a:r>
            <a:r>
              <a:rPr b="1" i="1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 head attention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Diferencial deste tipo de redes é a </a:t>
            </a:r>
            <a:r>
              <a:rPr b="1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paralelização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As redes Transformers não precisam operar processar as palavras de forma sequencial (durante o treinamento).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7" name="Google Shape;647;g2d4249b6fcd_0_8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4750" y="3272300"/>
            <a:ext cx="42481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2d4249b6fcd_0_834"/>
          <p:cNvSpPr txBox="1"/>
          <p:nvPr/>
        </p:nvSpPr>
        <p:spPr>
          <a:xfrm>
            <a:off x="836900" y="5094275"/>
            <a:ext cx="7763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Essa paralelização permite que seja feito um uso mais efetivo das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GPUs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Potencializam redes profundas com bilhões de parâmetros.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d4249b6fcd_0_84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54" name="Google Shape;654;g2d4249b6fcd_0_84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2d4249b6fcd_0_8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6" name="Google Shape;656;g2d4249b6fcd_0_849"/>
          <p:cNvSpPr txBox="1"/>
          <p:nvPr/>
        </p:nvSpPr>
        <p:spPr>
          <a:xfrm>
            <a:off x="691350" y="1625300"/>
            <a:ext cx="93405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um </a:t>
            </a:r>
            <a:r>
              <a:rPr b="1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 de atenção…</a:t>
            </a:r>
            <a:endParaRPr b="1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 que se beneficia sobretudo da paralelização.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composto de dois componentes: 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bloco </a:t>
            </a:r>
            <a:r>
              <a:rPr b="1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encoder</a:t>
            </a: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um bloco </a:t>
            </a:r>
            <a:r>
              <a:rPr b="1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decoder</a:t>
            </a: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conectados entre si. 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bloco encoder é constituído de n encoders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 e o bloco decoder de n decoders.</a:t>
            </a:r>
            <a:endParaRPr b="0" i="0" sz="22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d4249b6fcd_0_85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62" name="Google Shape;662;g2d4249b6fcd_0_85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g2d4249b6fcd_0_85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4" name="Google Shape;664;g2d4249b6fcd_0_859"/>
          <p:cNvSpPr txBox="1"/>
          <p:nvPr/>
        </p:nvSpPr>
        <p:spPr>
          <a:xfrm>
            <a:off x="691350" y="1625300"/>
            <a:ext cx="9607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encoders têm todos a mesma estrutura, apesar de não compartilharem o mesmo peso. Podem ser divididos em duas sub-layers: self-attention e feed-forward NN.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decoders possuem essas mesmas duas camadas, porém adicionam mais uma entre elas: uma </a:t>
            </a:r>
            <a:r>
              <a:rPr b="1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camada de atenção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ajuda o decoder a focar nas partes relevantes da frase de entrada</a:t>
            </a:r>
            <a:r>
              <a:rPr b="0" i="0" lang="pt-BR" sz="16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(mecanismo similar ao visto para modelos seq2seq).</a:t>
            </a:r>
            <a:endParaRPr b="0" i="0" sz="16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65" name="Google Shape;665;g2d4249b6fcd_0_8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8350" y="4914451"/>
            <a:ext cx="7216700" cy="22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d4249b6fcd_0_869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Encoders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71" name="Google Shape;671;g2d4249b6fcd_0_86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g2d4249b6fcd_0_86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3" name="Google Shape;673;g2d4249b6fcd_0_869"/>
          <p:cNvSpPr txBox="1"/>
          <p:nvPr/>
        </p:nvSpPr>
        <p:spPr>
          <a:xfrm>
            <a:off x="691350" y="1625300"/>
            <a:ext cx="93405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Recebe uma lista de vetores como entrada, os embeddings.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 essa lista passando ela pela camada de </a:t>
            </a: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 attention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depois passando ela para a camada de feed forward NN que por fim, vai mandar a saída para o próximo encoder. 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Aqui temos a propriedade chave do transformer: </a:t>
            </a:r>
            <a:r>
              <a:rPr b="1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“palavra” tem seu próprio caminho no encoder.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Após a autoatenção, cada token passa por uma rede neural feedforward. Essa rede é um MLP (Multilayer perceptron) que processa cada token de forma independente.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d4249b6fcd_1_0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(rede neural feedforward)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79" name="Google Shape;679;g2d4249b6fcd_1_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2d4249b6fcd_1_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81" name="Google Shape;681;g2d4249b6fcd_1_0"/>
          <p:cNvPicPr preferRelativeResize="0"/>
          <p:nvPr/>
        </p:nvPicPr>
        <p:blipFill rotWithShape="1">
          <a:blip r:embed="rId4">
            <a:alphaModFix/>
          </a:blip>
          <a:srcRect b="0" l="0" r="49949" t="0"/>
          <a:stretch/>
        </p:blipFill>
        <p:spPr>
          <a:xfrm>
            <a:off x="626475" y="1844675"/>
            <a:ext cx="3666325" cy="405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g2d4249b6fcd_1_0"/>
          <p:cNvPicPr preferRelativeResize="0"/>
          <p:nvPr/>
        </p:nvPicPr>
        <p:blipFill rotWithShape="1">
          <a:blip r:embed="rId4">
            <a:alphaModFix/>
          </a:blip>
          <a:srcRect b="0" l="49949" r="0" t="0"/>
          <a:stretch/>
        </p:blipFill>
        <p:spPr>
          <a:xfrm>
            <a:off x="6144525" y="1798262"/>
            <a:ext cx="3584200" cy="39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d4249b6fcd_0_878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Encoders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88" name="Google Shape;688;g2d4249b6fcd_0_87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2d4249b6fcd_0_87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90" name="Google Shape;690;g2d4249b6fcd_0_8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5750" y="1765050"/>
            <a:ext cx="68580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g2d4249b6fcd_0_878"/>
          <p:cNvSpPr txBox="1"/>
          <p:nvPr/>
        </p:nvSpPr>
        <p:spPr>
          <a:xfrm>
            <a:off x="256300" y="6210150"/>
            <a:ext cx="8793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Esse modelo não leva em conta a ordem das palavras. Por isso, para resolver esse problema, o transformer adiciona um vetor à cada embedding de entrada que vai ajudar a determinar a posição de cada palavra, ou a distância entre diferentes palavras. Aqui vale notar que, apesar da ordem das palavras ser importante numa frase, a distância semântica nem sempre é um indicador de proximidade das palavras.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d4249b6fcd_0_892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Decoders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697" name="Google Shape;697;g2d4249b6fcd_0_89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2d4249b6fcd_0_89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9" name="Google Shape;699;g2d4249b6fcd_0_892"/>
          <p:cNvSpPr txBox="1"/>
          <p:nvPr/>
        </p:nvSpPr>
        <p:spPr>
          <a:xfrm>
            <a:off x="626475" y="1564650"/>
            <a:ext cx="9563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encoder começa processando a sequência de entrada. 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saída no topo do encoder é então transformada em um set de vetores de atenção K e V que serão usados na camada de atenção entre encoder e decoder que auxilia o decoder a focar nas partes certas. 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processo se repete até que seja indicado que o decoder acabou o processamento. 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0" name="Google Shape;700;g2d4249b6fcd_0_892"/>
          <p:cNvSpPr txBox="1"/>
          <p:nvPr/>
        </p:nvSpPr>
        <p:spPr>
          <a:xfrm>
            <a:off x="7490100" y="6988275"/>
            <a:ext cx="30000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pt-BR" sz="105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Fonte</a:t>
            </a:r>
            <a:endParaRPr b="0" i="0" sz="1050" u="sng" cap="none" strike="noStrike">
              <a:solidFill>
                <a:schemeClr val="hlink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1" name="Google Shape;701;g2d4249b6fcd_0_8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200" y="3677646"/>
            <a:ext cx="6803901" cy="373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d4249b6fcd_0_988"/>
          <p:cNvSpPr txBox="1"/>
          <p:nvPr>
            <p:ph type="title"/>
          </p:nvPr>
        </p:nvSpPr>
        <p:spPr>
          <a:xfrm>
            <a:off x="626475" y="645925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Saída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07" name="Google Shape;707;g2d4249b6fcd_0_98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g2d4249b6fcd_0_98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09" name="Google Shape;709;g2d4249b6fcd_0_988"/>
          <p:cNvSpPr txBox="1"/>
          <p:nvPr/>
        </p:nvSpPr>
        <p:spPr>
          <a:xfrm>
            <a:off x="626475" y="1461938"/>
            <a:ext cx="9563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decoder fornece como saída um vetor de saída cheio de floats. 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camada linear 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é uma NN totalmente conectada que projeta o vetor produzido em um vetor que contém os valores de todas as palavras do vocabulário de saída.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Utiliza-se de probabilidade para escolher qual palavra de saída corresponde a saída do decoder: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meu vocabulário de saída, qual é a palavra mais provável associada ao valor que o decoder me deu?</a:t>
            </a:r>
            <a:endParaRPr b="1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responsável por transformar os vetores em probabilidades e fazer a escolha da palavra com maior probabilidade é a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camada de softmax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0" name="Google Shape;710;g2d4249b6fcd_0_9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5363" y="5220300"/>
            <a:ext cx="3657475" cy="22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d4249b6fcd_0_922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Transformers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16" name="Google Shape;716;g2d4249b6fcd_0_92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g2d4249b6fcd_0_92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8" name="Google Shape;718;g2d4249b6fcd_0_922"/>
          <p:cNvSpPr txBox="1"/>
          <p:nvPr/>
        </p:nvSpPr>
        <p:spPr>
          <a:xfrm>
            <a:off x="691350" y="1625300"/>
            <a:ext cx="934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9" name="Google Shape;719;g2d4249b6fcd_0_922"/>
          <p:cNvPicPr preferRelativeResize="0"/>
          <p:nvPr/>
        </p:nvPicPr>
        <p:blipFill rotWithShape="1">
          <a:blip r:embed="rId4">
            <a:alphaModFix/>
          </a:blip>
          <a:srcRect b="0" l="22975" r="25322" t="0"/>
          <a:stretch/>
        </p:blipFill>
        <p:spPr>
          <a:xfrm>
            <a:off x="2232875" y="1625300"/>
            <a:ext cx="4778924" cy="56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2d4249b6fcd_0_922"/>
          <p:cNvSpPr/>
          <p:nvPr/>
        </p:nvSpPr>
        <p:spPr>
          <a:xfrm>
            <a:off x="3535209" y="4792645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1" name="Google Shape;721;g2d4249b6fcd_0_922"/>
          <p:cNvSpPr/>
          <p:nvPr/>
        </p:nvSpPr>
        <p:spPr>
          <a:xfrm>
            <a:off x="4709450" y="4792645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2" name="Google Shape;722;g2d4249b6fcd_0_922"/>
          <p:cNvSpPr/>
          <p:nvPr/>
        </p:nvSpPr>
        <p:spPr>
          <a:xfrm>
            <a:off x="4782474" y="3808344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3" name="Google Shape;723;g2d4249b6fcd_0_922"/>
          <p:cNvSpPr/>
          <p:nvPr/>
        </p:nvSpPr>
        <p:spPr>
          <a:xfrm>
            <a:off x="4709449" y="2071694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g2d4249b6fcd_0_922"/>
          <p:cNvSpPr/>
          <p:nvPr/>
        </p:nvSpPr>
        <p:spPr>
          <a:xfrm>
            <a:off x="3535209" y="3856795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g2d4249b6fcd_0_922"/>
          <p:cNvSpPr/>
          <p:nvPr/>
        </p:nvSpPr>
        <p:spPr>
          <a:xfrm>
            <a:off x="4709459" y="2940020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6" name="Google Shape;726;g2d4249b6fcd_0_922"/>
          <p:cNvSpPr/>
          <p:nvPr/>
        </p:nvSpPr>
        <p:spPr>
          <a:xfrm>
            <a:off x="3581409" y="5990070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7" name="Google Shape;727;g2d4249b6fcd_0_922"/>
          <p:cNvSpPr/>
          <p:nvPr/>
        </p:nvSpPr>
        <p:spPr>
          <a:xfrm>
            <a:off x="4709459" y="5990070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8" name="Google Shape;728;g2d4249b6fcd_0_922"/>
          <p:cNvSpPr/>
          <p:nvPr/>
        </p:nvSpPr>
        <p:spPr>
          <a:xfrm>
            <a:off x="2841909" y="5537395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9" name="Google Shape;729;g2d4249b6fcd_0_922"/>
          <p:cNvSpPr/>
          <p:nvPr/>
        </p:nvSpPr>
        <p:spPr>
          <a:xfrm>
            <a:off x="5347359" y="5544995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0" name="Google Shape;730;g2d4249b6fcd_0_922"/>
          <p:cNvSpPr/>
          <p:nvPr/>
        </p:nvSpPr>
        <p:spPr>
          <a:xfrm>
            <a:off x="4709449" y="1626619"/>
            <a:ext cx="1174200" cy="715200"/>
          </a:xfrm>
          <a:prstGeom prst="ellipse">
            <a:avLst/>
          </a:prstGeom>
          <a:noFill/>
          <a:ln cap="flat" cmpd="sng" w="3810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g2d4249b6fcd_0_823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g2d4249b6fcd_0_823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7" name="Google Shape;737;g2d4249b6fcd_0_823"/>
          <p:cNvSpPr txBox="1"/>
          <p:nvPr/>
        </p:nvSpPr>
        <p:spPr>
          <a:xfrm>
            <a:off x="436625" y="672250"/>
            <a:ext cx="9340500" cy="7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Foundation models (large AI models):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BERT – </a:t>
            </a:r>
            <a:r>
              <a:rPr b="1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Bidirectional Encoder Representations from Transformers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focado em compreensão de linguagem (encoders)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bidirecional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considera o contexto de uma palavra a partir de ambas as direções (esquerda e direita) em uma frase. Isso permite que o modelo compreenda melhor o significado de palavras em diferentes contextos.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2019, o Google integrou o BERT ao seu mecanismo de busca para melhorar a compreensão das consultas dos usuários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GPT – </a:t>
            </a:r>
            <a:r>
              <a:rPr b="1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Generative Pre-trained Transformer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focado em geração de texto (decoders)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unidirecional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significando que gera texto a partir de um contexto anterior, considerando apenas as palavras à esquerda da palavra atual.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8" name="Google Shape;738;g2d4249b6fcd_0_823"/>
          <p:cNvSpPr txBox="1"/>
          <p:nvPr/>
        </p:nvSpPr>
        <p:spPr>
          <a:xfrm>
            <a:off x="206725" y="6785400"/>
            <a:ext cx="934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vocês pesquisarem: </a:t>
            </a: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T5 (Text-To-Text Transfer Transformer)</a:t>
            </a: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um modelo que utiliza tanto a parte de encoder quanto a de decoder da arquitetura Transformer.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d4249b6fcd_0_1068"/>
          <p:cNvSpPr txBox="1"/>
          <p:nvPr>
            <p:ph type="title"/>
          </p:nvPr>
        </p:nvSpPr>
        <p:spPr>
          <a:xfrm>
            <a:off x="626475" y="755100"/>
            <a:ext cx="101808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 o… Vision Transformer (ViT)?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44" name="Google Shape;744;g2d4249b6fcd_0_106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2d4249b6fcd_0_106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6" name="Google Shape;746;g2d4249b6fcd_0_1068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7" name="Google Shape;747;g2d4249b6fcd_0_10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25" y="3878550"/>
            <a:ext cx="5267850" cy="36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2d4249b6fcd_0_1068"/>
          <p:cNvPicPr preferRelativeResize="0"/>
          <p:nvPr/>
        </p:nvPicPr>
        <p:blipFill rotWithShape="1">
          <a:blip r:embed="rId5">
            <a:alphaModFix/>
          </a:blip>
          <a:srcRect b="3127" l="7817" r="0" t="0"/>
          <a:stretch/>
        </p:blipFill>
        <p:spPr>
          <a:xfrm>
            <a:off x="4513175" y="1552875"/>
            <a:ext cx="5722224" cy="30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d4249b6fcd_0_1024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 o… Reformer?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54" name="Google Shape;754;g2d4249b6fcd_0_1024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2d4249b6fcd_0_1024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6" name="Google Shape;756;g2d4249b6fcd_0_1024"/>
          <p:cNvSpPr txBox="1"/>
          <p:nvPr/>
        </p:nvSpPr>
        <p:spPr>
          <a:xfrm>
            <a:off x="570075" y="1904275"/>
            <a:ext cx="9292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2020 o Google introduziu a </a:t>
            </a:r>
            <a:r>
              <a:rPr b="1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 Reformer</a:t>
            </a: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um modelo de Transformer projetado para lidar de forma eficiente com o processamento de sequências muito longas de dados (por exemplo, até 1 milhão de palavras em um processamento de linguagem).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execução do Reformer requer um consumo de memória muito menor e alcança um desempenho impressionante, mesmo quando executado em apenas uma GPU.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Reformer: The Efficient Transformer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7" name="Google Shape;757;g2d4249b6fcd_0_10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642650"/>
            <a:ext cx="5844801" cy="29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2d4249b6fcd_0_1024"/>
          <p:cNvSpPr txBox="1"/>
          <p:nvPr/>
        </p:nvSpPr>
        <p:spPr>
          <a:xfrm>
            <a:off x="7242250" y="4441800"/>
            <a:ext cx="27654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Pesquisem também sobre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dos problemas dos transformers: </a:t>
            </a:r>
            <a:r>
              <a:rPr b="1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overfitting</a:t>
            </a:r>
            <a:endParaRPr b="1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d4249b6fcd_0_1052"/>
          <p:cNvSpPr txBox="1"/>
          <p:nvPr>
            <p:ph type="title"/>
          </p:nvPr>
        </p:nvSpPr>
        <p:spPr>
          <a:xfrm>
            <a:off x="626475" y="755100"/>
            <a:ext cx="101808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4600">
                <a:solidFill>
                  <a:srgbClr val="0E71BA"/>
                </a:solidFill>
              </a:rPr>
              <a:t>E o… Reformer?</a:t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64" name="Google Shape;764;g2d4249b6fcd_0_1052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g2d4249b6fcd_0_105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66" name="Google Shape;766;g2d4249b6fcd_0_10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900" y="2384451"/>
            <a:ext cx="9752650" cy="27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g2d4249b6fcd_0_1052"/>
          <p:cNvSpPr/>
          <p:nvPr/>
        </p:nvSpPr>
        <p:spPr>
          <a:xfrm>
            <a:off x="210900" y="2319200"/>
            <a:ext cx="1297800" cy="43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Prática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773" name="Google Shape;773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25f3584e39e_3_150"/>
          <p:cNvSpPr txBox="1"/>
          <p:nvPr/>
        </p:nvSpPr>
        <p:spPr>
          <a:xfrm>
            <a:off x="411225" y="1546675"/>
            <a:ext cx="9741900" cy="5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92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1900"/>
              <a:buFont typeface="Helvetica Neue"/>
              <a:buChar char="●"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Biblioteca </a:t>
            </a:r>
            <a:r>
              <a:rPr b="1" i="0" lang="pt-BR" sz="19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transformers</a:t>
            </a: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 Hugging Face para trabalhar com modelos pré-treinados </a:t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5" name="Google Shape;775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76" name="Google Shape;776;g25f3584e39e_3_150"/>
          <p:cNvPicPr preferRelativeResize="0"/>
          <p:nvPr/>
        </p:nvPicPr>
        <p:blipFill rotWithShape="1">
          <a:blip r:embed="rId5">
            <a:alphaModFix/>
          </a:blip>
          <a:srcRect b="2572" l="0" r="0" t="0"/>
          <a:stretch/>
        </p:blipFill>
        <p:spPr>
          <a:xfrm>
            <a:off x="411225" y="1916750"/>
            <a:ext cx="8026419" cy="55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g25f3584e39e_3_150"/>
          <p:cNvSpPr txBox="1"/>
          <p:nvPr/>
        </p:nvSpPr>
        <p:spPr>
          <a:xfrm>
            <a:off x="5555200" y="675288"/>
            <a:ext cx="664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vocês: </a:t>
            </a:r>
            <a:r>
              <a:rPr b="0" i="0" lang="pt-BR" sz="19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Fine-tune a pretrained model</a:t>
            </a:r>
            <a:endParaRPr b="0" i="0" sz="1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