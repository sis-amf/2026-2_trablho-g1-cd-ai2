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7556500" cx="10693400"/>
  <p:notesSz cx="10693400" cy="75565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gicASGrDDu4aySnHoBzmtXwWyn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48ba07e93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2248ba07e93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48ba07e93_0_1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2248ba07e93_0_1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48ba07e93_0_2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2248ba07e93_0_2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48ba07e93_0_3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2248ba07e93_0_3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715473734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9715473734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248ba07e93_0_5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2248ba07e93_0_5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248ba07e93_0_6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2248ba07e93_0_6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248ba07e93_0_12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2248ba07e93_0_12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248ba07e93_0_13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2248ba07e93_0_13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48ba07e93_0_10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2248ba07e93_0_10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248ba07e93_0_8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2248ba07e93_0_8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48ba07e93_0_9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2248ba07e93_0_9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48ba07e93_0_15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2248ba07e93_0_15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48ba07e93_0_14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2248ba07e93_0_14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5f3584e39e_3_1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25f3584e39e_3_1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" name="Google Shape;34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f5594a4f43_0_680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5594a4f43_0_680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5594a4f43_0_680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2f5594a4f43_0_680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f5594a4f43_0_680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04fabc35a_0_2184"/>
          <p:cNvSpPr txBox="1"/>
          <p:nvPr>
            <p:ph type="title"/>
          </p:nvPr>
        </p:nvSpPr>
        <p:spPr>
          <a:xfrm>
            <a:off x="798410" y="547565"/>
            <a:ext cx="9096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204fabc35a_0_2184"/>
          <p:cNvSpPr txBox="1"/>
          <p:nvPr>
            <p:ph idx="1" type="body"/>
          </p:nvPr>
        </p:nvSpPr>
        <p:spPr>
          <a:xfrm>
            <a:off x="625266" y="1660882"/>
            <a:ext cx="94431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204fabc35a_0_2184"/>
          <p:cNvSpPr txBox="1"/>
          <p:nvPr>
            <p:ph idx="11" type="ftr"/>
          </p:nvPr>
        </p:nvSpPr>
        <p:spPr>
          <a:xfrm>
            <a:off x="3635756" y="7027545"/>
            <a:ext cx="3422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204fabc35a_0_2184"/>
          <p:cNvSpPr txBox="1"/>
          <p:nvPr>
            <p:ph idx="10" type="dt"/>
          </p:nvPr>
        </p:nvSpPr>
        <p:spPr>
          <a:xfrm>
            <a:off x="534670" y="7027545"/>
            <a:ext cx="245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204fabc35a_0_2184"/>
          <p:cNvSpPr txBox="1"/>
          <p:nvPr>
            <p:ph idx="12" type="sldNum"/>
          </p:nvPr>
        </p:nvSpPr>
        <p:spPr>
          <a:xfrm>
            <a:off x="7699248" y="7027545"/>
            <a:ext cx="245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5594a4f43_0_312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2f5594a4f43_0_312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f5594a4f43_0_312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5594a4f43_0_312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5594a4f43_0_312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4.png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hyperlink" Target="https://ollama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hyperlink" Target="https://ollama.com/library/llama3.2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docs.openwebui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hyperlink" Target="http://localhost:3000" TargetMode="External"/><Relationship Id="rId5" Type="http://schemas.openxmlformats.org/officeDocument/2006/relationships/hyperlink" Target="http://localhost:8080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hyperlink" Target="https://docs.ollama.com/modelfil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hyperlink" Target="https://ollama.com/library/llava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hyperlink" Target="https://platform.openai.com/api-key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hyperlink" Target="https://huggingface.co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hyperlink" Target="https://colab.research.google.com/github/huggingface/notebooks/blob/main/diffusers/stable_diffusion.ipynb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hyperlink" Target="https://docs.ollama.com/integrations" TargetMode="External"/><Relationship Id="rId5" Type="http://schemas.openxmlformats.org/officeDocument/2006/relationships/hyperlink" Target="https://github.com/easydiffusion/easydiffusio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/>
        </p:nvSpPr>
        <p:spPr>
          <a:xfrm>
            <a:off x="754739" y="2978260"/>
            <a:ext cx="9183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5 - Rodando modelos localmente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abril de 202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48ba07e93_0_0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Ollama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87" name="Google Shape;87;g2248ba07e93_0_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248ba07e93_0_0"/>
          <p:cNvSpPr txBox="1"/>
          <p:nvPr/>
        </p:nvSpPr>
        <p:spPr>
          <a:xfrm>
            <a:off x="581050" y="2056100"/>
            <a:ext cx="9531300" cy="25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Ollama é um projeto open-source de LLMs.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pré-treinados desenvolvidos pela Meta AI.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Exemplos de modelos: Llama2, Codegen.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Funcionalidades variam: NLP (como ChatGPT), geração de imagem, etc.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https://ollama.com/</a:t>
            </a:r>
            <a:endParaRPr b="0" i="0" sz="21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g2248ba07e93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48ba07e93_0_10"/>
          <p:cNvSpPr txBox="1"/>
          <p:nvPr>
            <p:ph type="title"/>
          </p:nvPr>
        </p:nvSpPr>
        <p:spPr>
          <a:xfrm>
            <a:off x="626475" y="755100"/>
            <a:ext cx="775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Baixar Ollama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95" name="Google Shape;95;g2248ba07e93_0_1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2248ba07e93_0_10"/>
          <p:cNvSpPr txBox="1"/>
          <p:nvPr/>
        </p:nvSpPr>
        <p:spPr>
          <a:xfrm>
            <a:off x="581050" y="2056100"/>
            <a:ext cx="9531300" cy="3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curl -fsSL https://ollama.com/install.sh | sh</a:t>
            </a:r>
            <a:endParaRPr b="0" i="0" sz="21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Nota: para Windows, utilize WSL (Windows Subsystem for Linux)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g2248ba07e93_0_1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48ba07e93_0_24"/>
          <p:cNvSpPr txBox="1"/>
          <p:nvPr>
            <p:ph type="title"/>
          </p:nvPr>
        </p:nvSpPr>
        <p:spPr>
          <a:xfrm>
            <a:off x="626475" y="755100"/>
            <a:ext cx="775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Verificar Instalação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03" name="Google Shape;103;g2248ba07e93_0_2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2248ba07e93_0_24"/>
          <p:cNvSpPr txBox="1"/>
          <p:nvPr/>
        </p:nvSpPr>
        <p:spPr>
          <a:xfrm>
            <a:off x="581050" y="2056100"/>
            <a:ext cx="9531300" cy="3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Acesse via </a:t>
            </a:r>
            <a:r>
              <a:rPr b="0" i="0" lang="pt-BR" sz="2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localhost:11434</a:t>
            </a:r>
            <a:endParaRPr b="0" i="0" sz="21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Gerenciamento de serviço: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Parar: </a:t>
            </a:r>
            <a:r>
              <a:rPr b="0" i="0" lang="pt-BR" sz="2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systemctl stop ollama.service</a:t>
            </a:r>
            <a:endParaRPr b="0" i="0" sz="21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Iniciar: </a:t>
            </a:r>
            <a:r>
              <a:rPr b="0" i="0" lang="pt-BR" sz="2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systemctl start ollama.service</a:t>
            </a:r>
            <a:endParaRPr b="0" i="0" sz="21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Consolas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Desabilitar: </a:t>
            </a:r>
            <a:r>
              <a:rPr b="0" i="0" lang="pt-BR" sz="2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systemctl disable ollama.service</a:t>
            </a:r>
            <a:endParaRPr b="0" i="0" sz="21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g2248ba07e93_0_2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248ba07e93_0_34"/>
          <p:cNvSpPr txBox="1"/>
          <p:nvPr>
            <p:ph type="title"/>
          </p:nvPr>
        </p:nvSpPr>
        <p:spPr>
          <a:xfrm>
            <a:off x="626475" y="75510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Instalando modelos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11" name="Google Shape;111;g2248ba07e93_0_3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248ba07e93_0_34"/>
          <p:cNvSpPr txBox="1"/>
          <p:nvPr/>
        </p:nvSpPr>
        <p:spPr>
          <a:xfrm>
            <a:off x="581050" y="2056100"/>
            <a:ext cx="9826800" cy="4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 (LLM) de NLP pré-treinado.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Versões com diferentes modelos.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Tamanho depende da quantidade de parâmetros (2b, 3b, 8b, 70b, 405b, …)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Instalação: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ollama pull </a:t>
            </a:r>
            <a:r>
              <a:rPr lang="pt-BR" sz="2100" u="sng">
                <a:solidFill>
                  <a:srgbClr val="0E71BA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llama3.2:1b</a:t>
            </a:r>
            <a:r>
              <a:rPr b="0" i="0" lang="pt-BR" sz="2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2100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Testar o modelo: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ollama run </a:t>
            </a:r>
            <a:r>
              <a:rPr b="0" i="0" lang="pt-BR" sz="2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llama3.2:</a:t>
            </a:r>
            <a:r>
              <a:rPr lang="pt-BR" sz="2100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1b</a:t>
            </a:r>
            <a:endParaRPr b="0" i="0" sz="21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g2248ba07e93_0_3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715473734_0_0"/>
          <p:cNvSpPr txBox="1"/>
          <p:nvPr>
            <p:ph type="title"/>
          </p:nvPr>
        </p:nvSpPr>
        <p:spPr>
          <a:xfrm>
            <a:off x="626475" y="75510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Launch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19" name="Google Shape;119;g39715473734_0_0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9715473734_0_0"/>
          <p:cNvSpPr txBox="1"/>
          <p:nvPr/>
        </p:nvSpPr>
        <p:spPr>
          <a:xfrm>
            <a:off x="581050" y="2056100"/>
            <a:ext cx="9826800" cy="36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lang="pt-BR" sz="21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um novo comando que configura e executa suas ferramentas de programação favoritas, como Claude Code, OpenCode e Codex, em modelos locais ou na nuvem.</a:t>
            </a:r>
            <a:endParaRPr sz="21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ollama launch pi</a:t>
            </a:r>
            <a:endParaRPr sz="2100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ollama launch openclaw</a:t>
            </a:r>
            <a:endParaRPr sz="2100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g39715473734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248ba07e93_0_53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Interface Gráfica Web (Open WebUI)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27" name="Google Shape;127;g2248ba07e93_0_5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248ba07e93_0_53"/>
          <p:cNvSpPr txBox="1"/>
          <p:nvPr/>
        </p:nvSpPr>
        <p:spPr>
          <a:xfrm>
            <a:off x="335925" y="1768325"/>
            <a:ext cx="9531300" cy="4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Char char="●"/>
            </a:pPr>
            <a:r>
              <a:rPr b="0" i="0" lang="pt-BR" sz="21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https://docs.openwebui.com/</a:t>
            </a:r>
            <a:endParaRPr b="0" i="0" sz="21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Instalação e execução via Docker: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b="0" i="0" lang="pt-BR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ocker</a:t>
            </a:r>
            <a:r>
              <a:rPr b="0" i="0" lang="pt-BR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run -d -p 3000:8080 --add-host=host.docker.internal:host-gateway -v open-webui:/app/backend/data --name open-webui --restart always ghcr.io/open-webui/open-webui:main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caso de problemas com conexão com o host, tentar com:</a:t>
            </a:r>
            <a:endParaRPr b="0" i="0" sz="1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4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docker run -d --network=host -v open-webui:/app/backend/data -e OLLAMA_BASE_URL=http://127.0.0.1:11434 --name open-webui --restart always ghcr.io/open-webui/open-webui:main</a:t>
            </a:r>
            <a:endParaRPr b="0" i="0" sz="14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2248ba07e93_0_5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" name="Google Shape;130;g2248ba07e93_0_53"/>
          <p:cNvSpPr txBox="1"/>
          <p:nvPr/>
        </p:nvSpPr>
        <p:spPr>
          <a:xfrm>
            <a:off x="6307075" y="577467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docker stop open-webui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docker start open-webui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docker attach open-webui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248ba07e93_0_67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Acessando a Interface Web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36" name="Google Shape;136;g2248ba07e93_0_6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248ba07e93_0_67"/>
          <p:cNvSpPr txBox="1"/>
          <p:nvPr/>
        </p:nvSpPr>
        <p:spPr>
          <a:xfrm>
            <a:off x="581050" y="2056100"/>
            <a:ext cx="9531300" cy="3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Acesse o Open WebUI pelo navegador:</a:t>
            </a:r>
            <a:endParaRPr b="0" i="0" sz="2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http://localhost:3000 </a:t>
            </a:r>
            <a:endParaRPr b="0" i="0" sz="21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(ou </a:t>
            </a:r>
            <a:r>
              <a:rPr b="0" i="0" lang="pt-BR" sz="15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http://localhost:</a:t>
            </a:r>
            <a:r>
              <a:rPr b="0" i="0" lang="pt-BR" sz="15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8080 </a:t>
            </a:r>
            <a:r>
              <a:rPr b="0" i="0" lang="pt-BR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usou </a:t>
            </a:r>
            <a:r>
              <a:rPr b="0" i="0" lang="pt-BR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--network=host</a:t>
            </a:r>
            <a:r>
              <a:rPr b="0" i="0" lang="pt-BR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Crie uma conta de administrador (primeira conta que fizer signup).</a:t>
            </a:r>
            <a:endParaRPr b="0" i="0" sz="2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“Select a model” → escolha o modelo instalado (llama).</a:t>
            </a:r>
            <a:endParaRPr b="0" i="0" sz="2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g2248ba07e93_0_6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248ba07e93_0_126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Usando programaticamente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44" name="Google Shape;144;g2248ba07e93_0_12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248ba07e93_0_126"/>
          <p:cNvSpPr txBox="1"/>
          <p:nvPr/>
        </p:nvSpPr>
        <p:spPr>
          <a:xfrm>
            <a:off x="581050" y="2056100"/>
            <a:ext cx="9531300" cy="5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python3 -m venv env &amp;&amp; source env/bin/activate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pip3 install ollama</a:t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chat.py</a:t>
            </a:r>
            <a:endParaRPr b="0" i="0" sz="2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ollama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response = ollama.chat(model='llama3.2:1b', messages=[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'role': 'user',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'content': 'Why is the sky blue?',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},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print(response['message']['content'])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g2248ba07e93_0_12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248ba07e93_0_135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pt-BR" sz="4600">
                <a:solidFill>
                  <a:srgbClr val="0E71BA"/>
                </a:solidFill>
              </a:rPr>
              <a:t>“fine-tuning”</a:t>
            </a:r>
            <a:r>
              <a:rPr lang="pt-BR" sz="4600">
                <a:solidFill>
                  <a:srgbClr val="0E71BA"/>
                </a:solidFill>
              </a:rPr>
              <a:t> da resposta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52" name="Google Shape;152;g2248ba07e93_0_13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248ba07e93_0_135"/>
          <p:cNvSpPr txBox="1"/>
          <p:nvPr/>
        </p:nvSpPr>
        <p:spPr>
          <a:xfrm>
            <a:off x="732900" y="2130700"/>
            <a:ext cx="9757200" cy="3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 de </a:t>
            </a:r>
            <a:r>
              <a:rPr b="0" i="0" lang="pt-BR" sz="22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config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options = {</a:t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"num_predict": 10, </a:t>
            </a:r>
            <a:r>
              <a:rPr b="0" i="0" lang="pt-BR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Maximum number of tokens to generate in the response</a:t>
            </a:r>
            <a:endParaRPr b="0" i="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'temperature': 0.5, </a:t>
            </a:r>
            <a:r>
              <a:rPr b="0" i="0" lang="pt-BR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Controls randomness</a:t>
            </a:r>
            <a:r>
              <a:rPr lang="pt-BR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/creativity</a:t>
            </a:r>
            <a:endParaRPr b="0" i="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'top_k': 45 </a:t>
            </a:r>
            <a:r>
              <a:rPr b="0" i="0" lang="pt-BR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Sampling only from the top </a:t>
            </a:r>
            <a:r>
              <a:rPr lang="pt-BR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b="0" i="0" lang="pt-BR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most likely next tokens</a:t>
            </a:r>
            <a:endParaRPr b="0" i="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g2248ba07e93_0_13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248ba07e93_0_104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Vision models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60" name="Google Shape;160;g2248ba07e93_0_10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2248ba07e93_0_104"/>
          <p:cNvSpPr txBox="1"/>
          <p:nvPr/>
        </p:nvSpPr>
        <p:spPr>
          <a:xfrm>
            <a:off x="669300" y="1587125"/>
            <a:ext cx="9909000" cy="6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ollama run llava:7b  # </a:t>
            </a:r>
            <a:r>
              <a:rPr b="0" i="0" lang="pt-BR" sz="2200" u="sng" cap="none" strike="noStrike">
                <a:solidFill>
                  <a:srgbClr val="0E71BA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llava</a:t>
            </a:r>
            <a:endParaRPr b="0" i="0" sz="2200" u="none" cap="none" strike="noStrike">
              <a:solidFill>
                <a:srgbClr val="0E71B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img-describer.py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ollama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res = ollama.chat(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model="llava:7b",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messages=[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{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	'role': 'user',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	'content': 'Describe this image:',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	'images': ['./art.jpg']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]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print(res['message']['content'])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g2248ba07e93_0_10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3" name="Google Shape;163;g2248ba07e93_0_10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248ba07e93_0_83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Modelo da OpenAI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69" name="Google Shape;169;g2248ba07e93_0_8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2248ba07e93_0_83"/>
          <p:cNvSpPr txBox="1"/>
          <p:nvPr/>
        </p:nvSpPr>
        <p:spPr>
          <a:xfrm>
            <a:off x="581050" y="2056100"/>
            <a:ext cx="99090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docker run -d -p 3000:8080 -e OPENAI_API_KEY=</a:t>
            </a:r>
            <a:r>
              <a:rPr b="0" i="0" lang="pt-BR" sz="21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your_secret_key</a:t>
            </a:r>
            <a:r>
              <a:rPr b="0" i="0" lang="pt-BR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-v open-webui:/app/backend/data --name open-webui --restart always ghcr.io/open-webui/open-webui:main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substituia </a:t>
            </a:r>
            <a:r>
              <a:rPr b="0" i="0" lang="pt-BR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your_secret_key</a:t>
            </a:r>
            <a:r>
              <a:rPr b="0" i="0" lang="pt-BR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pt-BR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 API key gerada em </a:t>
            </a:r>
            <a:r>
              <a:rPr b="0" i="0" lang="pt-BR" sz="19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https://platform.openai.com/api-keys</a:t>
            </a:r>
            <a:endParaRPr b="0" i="0" sz="19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g2248ba07e93_0_8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248ba07e93_0_92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Outros modelos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77" name="Google Shape;177;g2248ba07e93_0_9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2248ba07e93_0_92"/>
          <p:cNvSpPr txBox="1"/>
          <p:nvPr/>
        </p:nvSpPr>
        <p:spPr>
          <a:xfrm>
            <a:off x="581050" y="2056100"/>
            <a:ext cx="99090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 </a:t>
            </a:r>
            <a:r>
              <a:rPr b="0" i="0" lang="pt-BR" sz="22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https://huggingface.co/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Plataforma especializada em ML.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Hub com uma diversidade de modelos.</a:t>
            </a:r>
            <a:endParaRPr b="0" i="0" sz="23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g2248ba07e93_0_9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248ba07e93_0_152"/>
          <p:cNvSpPr txBox="1"/>
          <p:nvPr>
            <p:ph type="title"/>
          </p:nvPr>
        </p:nvSpPr>
        <p:spPr>
          <a:xfrm>
            <a:off x="626475" y="75510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Gerando imagens com 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Stable Diffusion 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85" name="Google Shape;185;g2248ba07e93_0_15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2248ba07e93_0_152"/>
          <p:cNvSpPr txBox="1"/>
          <p:nvPr/>
        </p:nvSpPr>
        <p:spPr>
          <a:xfrm>
            <a:off x="526750" y="2615850"/>
            <a:ext cx="9639900" cy="3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Colab: </a:t>
            </a:r>
            <a:r>
              <a:rPr b="0" i="0" lang="pt-BR" sz="22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https://colab.research.google.com/github/huggingface/notebooks/blob/main/diffusers/stable_diffusion.ipynb</a:t>
            </a:r>
            <a:endParaRPr b="0" i="0" sz="22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caso de erro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“Stable diffusion: AttributeError: module 'jax.random' has no attribute 'KeyArray'”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!pip install "jax[cuda12_local]==0.4.23" -f https://storage.googleapis.com/jax-releases/jax_cuda_releases.html</a:t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g2248ba07e93_0_15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48ba07e93_0_144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Para vocês praticarem (extra-classe)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93" name="Google Shape;193;g2248ba07e93_0_14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248ba07e93_0_144"/>
          <p:cNvSpPr txBox="1"/>
          <p:nvPr/>
        </p:nvSpPr>
        <p:spPr>
          <a:xfrm>
            <a:off x="581050" y="2056100"/>
            <a:ext cx="9909000" cy="21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Coding agents e assistents</a:t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Docs: </a:t>
            </a:r>
            <a:r>
              <a:rPr lang="pt-BR" sz="2200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https://docs.ollama.com/integrations</a:t>
            </a:r>
            <a:endParaRPr sz="2200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Rodar Stable Diffusion local (GPU required)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Helvetica Neue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Dica: </a:t>
            </a:r>
            <a:r>
              <a:rPr b="0" i="0" lang="pt-BR" sz="22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https://github.com/easydiffusion/easydiffusion</a:t>
            </a:r>
            <a:endParaRPr b="0" i="0" sz="22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g2248ba07e93_0_14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5f3584e39e_3_150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Próxima aula…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01" name="Google Shape;201;g25f3584e39e_3_15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25f3584e39e_3_150"/>
          <p:cNvSpPr txBox="1"/>
          <p:nvPr/>
        </p:nvSpPr>
        <p:spPr>
          <a:xfrm>
            <a:off x="581050" y="2056100"/>
            <a:ext cx="9531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lang="pt-BR" sz="21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Prática e avanços no T</a:t>
            </a: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g25f3584e39e_3_1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