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7556500" cx="10693400"/>
  <p:notesSz cx="10693400" cy="7556500"/>
  <p:embeddedFontLst>
    <p:embeddedFont>
      <p:font typeface="Montserrat"/>
      <p:regular r:id="rId25"/>
      <p:bold r:id="rId26"/>
      <p:italic r:id="rId27"/>
      <p:boldItalic r:id="rId28"/>
    </p:embeddedFont>
    <p:embeddedFont>
      <p:font typeface="Helvetica Neue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  <p:ext uri="GoogleSlidesCustomDataVersion2">
      <go:slidesCustomData xmlns:go="http://customooxmlschemas.google.com/" r:id="rId33" roundtripDataSignature="AMtx7mikx8xTV7wX2QM1uR8On08DVU5vI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-bold.fntdata"/><Relationship Id="rId25" Type="http://schemas.openxmlformats.org/officeDocument/2006/relationships/font" Target="fonts/Montserrat-regular.fntdata"/><Relationship Id="rId28" Type="http://schemas.openxmlformats.org/officeDocument/2006/relationships/font" Target="fonts/Montserrat-boldItalic.fntdata"/><Relationship Id="rId27" Type="http://schemas.openxmlformats.org/officeDocument/2006/relationships/font" Target="fonts/Montserrat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HelveticaNeue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HelveticaNeue-italic.fntdata"/><Relationship Id="rId30" Type="http://schemas.openxmlformats.org/officeDocument/2006/relationships/font" Target="fonts/HelveticaNeue-bold.fntdata"/><Relationship Id="rId11" Type="http://schemas.openxmlformats.org/officeDocument/2006/relationships/slide" Target="slides/slide6.xml"/><Relationship Id="rId33" Type="http://customschemas.google.com/relationships/presentationmetadata" Target="metadata"/><Relationship Id="rId10" Type="http://schemas.openxmlformats.org/officeDocument/2006/relationships/slide" Target="slides/slide5.xml"/><Relationship Id="rId32" Type="http://schemas.openxmlformats.org/officeDocument/2006/relationships/font" Target="fonts/HelveticaNeue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782575" y="566725"/>
            <a:ext cx="7129275" cy="28336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069325" y="3589325"/>
            <a:ext cx="8554700" cy="34004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2" name="Google Shape;72;p2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d516be3daf_0_30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4" name="Google Shape;84;g2d516be3daf_0_30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d516be3daf_1_140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3" name="Google Shape;93;g2d516be3daf_1_140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d516be3daf_1_149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3" name="Google Shape;103;g2d516be3daf_1_149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d516be3daf_1_159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3" name="Google Shape;113;g2d516be3daf_1_159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d516be3daf_1_169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3" name="Google Shape;123;g2d516be3daf_1_169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d516be3daf_1_179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2" name="Google Shape;132;g2d516be3daf_1_179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d516be3daf_1_188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1" name="Google Shape;141;g2d516be3daf_1_188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d516be3daf_1_247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0" name="Google Shape;150;g2d516be3daf_1_247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d516be3daf_1_198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9" name="Google Shape;159;g2d516be3daf_1_198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2d516be3daf_1_207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8" name="Google Shape;168;g2d516be3daf_1_207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d516be3daf_1_227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7" name="Google Shape;177;g2d516be3daf_1_227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d516be3daf_1_217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6" name="Google Shape;186;g2d516be3daf_1_217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d516be3daf_1_237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5" name="Google Shape;195;g2d516be3daf_1_237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d5eec22272_0_13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4" name="Google Shape;204;g2d5eec22272_0_13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2d5eec22272_0_34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4" name="Google Shape;214;g2d5eec22272_0_34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2d5eec22272_0_52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4" name="Google Shape;224;g2d5eec22272_0_52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2d5eec22272_0_64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5" name="Google Shape;235;g2d5eec22272_0_64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2d5eec22272_0_0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5" name="Google Shape;245;g2d5eec22272_0_0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9"/>
          <p:cNvSpPr txBox="1"/>
          <p:nvPr>
            <p:ph type="title"/>
          </p:nvPr>
        </p:nvSpPr>
        <p:spPr>
          <a:xfrm>
            <a:off x="626465" y="480822"/>
            <a:ext cx="8199755" cy="1276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100">
                <a:solidFill>
                  <a:srgbClr val="D2523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9"/>
          <p:cNvSpPr txBox="1"/>
          <p:nvPr>
            <p:ph idx="1" type="body"/>
          </p:nvPr>
        </p:nvSpPr>
        <p:spPr>
          <a:xfrm>
            <a:off x="626465" y="1711867"/>
            <a:ext cx="9218930" cy="1711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700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9"/>
          <p:cNvSpPr txBox="1"/>
          <p:nvPr>
            <p:ph idx="11" type="ftr"/>
          </p:nvPr>
        </p:nvSpPr>
        <p:spPr>
          <a:xfrm>
            <a:off x="3637915" y="7027545"/>
            <a:ext cx="3423920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9"/>
          <p:cNvSpPr txBox="1"/>
          <p:nvPr>
            <p:ph idx="10" type="dt"/>
          </p:nvPr>
        </p:nvSpPr>
        <p:spPr>
          <a:xfrm>
            <a:off x="534987" y="7027545"/>
            <a:ext cx="2460942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9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0"/>
          <p:cNvSpPr txBox="1"/>
          <p:nvPr>
            <p:ph type="title"/>
          </p:nvPr>
        </p:nvSpPr>
        <p:spPr>
          <a:xfrm>
            <a:off x="626465" y="480822"/>
            <a:ext cx="8199755" cy="1276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100">
                <a:solidFill>
                  <a:srgbClr val="D2523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0"/>
          <p:cNvSpPr txBox="1"/>
          <p:nvPr>
            <p:ph idx="1" type="body"/>
          </p:nvPr>
        </p:nvSpPr>
        <p:spPr>
          <a:xfrm>
            <a:off x="534987" y="1737995"/>
            <a:ext cx="4654391" cy="4987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0"/>
          <p:cNvSpPr txBox="1"/>
          <p:nvPr>
            <p:ph idx="2" type="body"/>
          </p:nvPr>
        </p:nvSpPr>
        <p:spPr>
          <a:xfrm>
            <a:off x="5510371" y="1737995"/>
            <a:ext cx="4654391" cy="4987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0"/>
          <p:cNvSpPr txBox="1"/>
          <p:nvPr>
            <p:ph idx="11" type="ftr"/>
          </p:nvPr>
        </p:nvSpPr>
        <p:spPr>
          <a:xfrm>
            <a:off x="3637915" y="7027545"/>
            <a:ext cx="3423920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0"/>
          <p:cNvSpPr txBox="1"/>
          <p:nvPr>
            <p:ph idx="10" type="dt"/>
          </p:nvPr>
        </p:nvSpPr>
        <p:spPr>
          <a:xfrm>
            <a:off x="534987" y="7027545"/>
            <a:ext cx="2460942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0"/>
          <p:cNvSpPr txBox="1"/>
          <p:nvPr>
            <p:ph idx="12" type="sldNum"/>
          </p:nvPr>
        </p:nvSpPr>
        <p:spPr>
          <a:xfrm>
            <a:off x="8092120" y="116895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2f174543b14_2_1013"/>
          <p:cNvSpPr txBox="1"/>
          <p:nvPr>
            <p:ph type="title"/>
          </p:nvPr>
        </p:nvSpPr>
        <p:spPr>
          <a:xfrm>
            <a:off x="364516" y="653802"/>
            <a:ext cx="9964500" cy="8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3" name="Google Shape;33;g2f174543b14_2_1013"/>
          <p:cNvSpPr txBox="1"/>
          <p:nvPr>
            <p:ph idx="1" type="body"/>
          </p:nvPr>
        </p:nvSpPr>
        <p:spPr>
          <a:xfrm>
            <a:off x="364516" y="1693142"/>
            <a:ext cx="9964500" cy="50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normAutofit/>
          </a:bodyPr>
          <a:lstStyle>
            <a:lvl1pPr indent="-3746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34" name="Google Shape;34;g2f174543b14_2_1013"/>
          <p:cNvSpPr txBox="1"/>
          <p:nvPr>
            <p:ph idx="12" type="sldNum"/>
          </p:nvPr>
        </p:nvSpPr>
        <p:spPr>
          <a:xfrm>
            <a:off x="9908069" y="6850899"/>
            <a:ext cx="641700" cy="5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6050" lIns="116050" spcFirstLastPara="1" rIns="116050" wrap="square" tIns="1160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3">
  <p:cSld name="OBJECT_3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2f5594a4f43_0_680"/>
          <p:cNvSpPr txBox="1"/>
          <p:nvPr>
            <p:ph type="title"/>
          </p:nvPr>
        </p:nvSpPr>
        <p:spPr>
          <a:xfrm>
            <a:off x="376873" y="5705772"/>
            <a:ext cx="9939900" cy="13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g2f5594a4f43_0_680"/>
          <p:cNvSpPr txBox="1"/>
          <p:nvPr>
            <p:ph idx="1" type="body"/>
          </p:nvPr>
        </p:nvSpPr>
        <p:spPr>
          <a:xfrm>
            <a:off x="2647215" y="1645530"/>
            <a:ext cx="49773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g2f5594a4f43_0_680"/>
          <p:cNvSpPr txBox="1"/>
          <p:nvPr>
            <p:ph idx="11" type="ftr"/>
          </p:nvPr>
        </p:nvSpPr>
        <p:spPr>
          <a:xfrm>
            <a:off x="3635756" y="7027545"/>
            <a:ext cx="34218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g2f5594a4f43_0_680"/>
          <p:cNvSpPr txBox="1"/>
          <p:nvPr>
            <p:ph idx="10" type="dt"/>
          </p:nvPr>
        </p:nvSpPr>
        <p:spPr>
          <a:xfrm>
            <a:off x="534670" y="7027545"/>
            <a:ext cx="24597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g2f5594a4f43_0_680"/>
          <p:cNvSpPr txBox="1"/>
          <p:nvPr>
            <p:ph idx="12" type="sldNum"/>
          </p:nvPr>
        </p:nvSpPr>
        <p:spPr>
          <a:xfrm>
            <a:off x="7699248" y="7027545"/>
            <a:ext cx="2459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2"/>
          <p:cNvSpPr txBox="1"/>
          <p:nvPr>
            <p:ph idx="11" type="ftr"/>
          </p:nvPr>
        </p:nvSpPr>
        <p:spPr>
          <a:xfrm>
            <a:off x="3637915" y="7027545"/>
            <a:ext cx="3423920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2"/>
          <p:cNvSpPr txBox="1"/>
          <p:nvPr>
            <p:ph idx="10" type="dt"/>
          </p:nvPr>
        </p:nvSpPr>
        <p:spPr>
          <a:xfrm>
            <a:off x="534987" y="7027545"/>
            <a:ext cx="2460942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2"/>
          <p:cNvSpPr txBox="1"/>
          <p:nvPr>
            <p:ph idx="12" type="sldNum"/>
          </p:nvPr>
        </p:nvSpPr>
        <p:spPr>
          <a:xfrm>
            <a:off x="8092120" y="116895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>
  <p:cSld name="OBJECT_1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2204fabc35a_0_2184"/>
          <p:cNvSpPr txBox="1"/>
          <p:nvPr>
            <p:ph type="title"/>
          </p:nvPr>
        </p:nvSpPr>
        <p:spPr>
          <a:xfrm>
            <a:off x="798410" y="547565"/>
            <a:ext cx="9096300" cy="6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g2204fabc35a_0_2184"/>
          <p:cNvSpPr txBox="1"/>
          <p:nvPr>
            <p:ph idx="1" type="body"/>
          </p:nvPr>
        </p:nvSpPr>
        <p:spPr>
          <a:xfrm>
            <a:off x="625266" y="1660882"/>
            <a:ext cx="9443100" cy="42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g2204fabc35a_0_2184"/>
          <p:cNvSpPr txBox="1"/>
          <p:nvPr>
            <p:ph idx="11" type="ftr"/>
          </p:nvPr>
        </p:nvSpPr>
        <p:spPr>
          <a:xfrm>
            <a:off x="3635756" y="7027545"/>
            <a:ext cx="34221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g2204fabc35a_0_2184"/>
          <p:cNvSpPr txBox="1"/>
          <p:nvPr>
            <p:ph idx="10" type="dt"/>
          </p:nvPr>
        </p:nvSpPr>
        <p:spPr>
          <a:xfrm>
            <a:off x="534670" y="7027545"/>
            <a:ext cx="24594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g2204fabc35a_0_2184"/>
          <p:cNvSpPr txBox="1"/>
          <p:nvPr>
            <p:ph idx="12" type="sldNum"/>
          </p:nvPr>
        </p:nvSpPr>
        <p:spPr>
          <a:xfrm>
            <a:off x="7699248" y="7027545"/>
            <a:ext cx="2459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51"/>
          <p:cNvSpPr txBox="1"/>
          <p:nvPr>
            <p:ph type="title"/>
          </p:nvPr>
        </p:nvSpPr>
        <p:spPr>
          <a:xfrm>
            <a:off x="626465" y="480822"/>
            <a:ext cx="8199755" cy="1276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100">
                <a:solidFill>
                  <a:srgbClr val="D2523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1"/>
          <p:cNvSpPr txBox="1"/>
          <p:nvPr>
            <p:ph idx="11" type="ftr"/>
          </p:nvPr>
        </p:nvSpPr>
        <p:spPr>
          <a:xfrm>
            <a:off x="3637915" y="7027545"/>
            <a:ext cx="3423920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51"/>
          <p:cNvSpPr txBox="1"/>
          <p:nvPr>
            <p:ph idx="10" type="dt"/>
          </p:nvPr>
        </p:nvSpPr>
        <p:spPr>
          <a:xfrm>
            <a:off x="534987" y="7027545"/>
            <a:ext cx="2460942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51"/>
          <p:cNvSpPr txBox="1"/>
          <p:nvPr>
            <p:ph idx="12" type="sldNum"/>
          </p:nvPr>
        </p:nvSpPr>
        <p:spPr>
          <a:xfrm>
            <a:off x="8092120" y="116895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obj">
  <p:cSld name="OBJECT">
    <p:bg>
      <p:bgPr>
        <a:solidFill>
          <a:schemeClr val="lt1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8"/>
          <p:cNvSpPr/>
          <p:nvPr/>
        </p:nvSpPr>
        <p:spPr>
          <a:xfrm>
            <a:off x="0" y="0"/>
            <a:ext cx="10693400" cy="403225"/>
          </a:xfrm>
          <a:custGeom>
            <a:rect b="b" l="l" r="r" t="t"/>
            <a:pathLst>
              <a:path extrusionOk="0" h="403225" w="10693400">
                <a:moveTo>
                  <a:pt x="10693400" y="0"/>
                </a:moveTo>
                <a:lnTo>
                  <a:pt x="0" y="0"/>
                </a:lnTo>
                <a:lnTo>
                  <a:pt x="0" y="403009"/>
                </a:lnTo>
                <a:lnTo>
                  <a:pt x="10693400" y="403009"/>
                </a:lnTo>
                <a:lnTo>
                  <a:pt x="10693400" y="0"/>
                </a:lnTo>
                <a:close/>
              </a:path>
            </a:pathLst>
          </a:custGeom>
          <a:solidFill>
            <a:srgbClr val="92A19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48"/>
          <p:cNvSpPr/>
          <p:nvPr/>
        </p:nvSpPr>
        <p:spPr>
          <a:xfrm>
            <a:off x="802005" y="3744722"/>
            <a:ext cx="9178925" cy="1905"/>
          </a:xfrm>
          <a:custGeom>
            <a:rect b="b" l="l" r="r" t="t"/>
            <a:pathLst>
              <a:path extrusionOk="0" h="1904" w="9178925">
                <a:moveTo>
                  <a:pt x="0" y="0"/>
                </a:moveTo>
                <a:lnTo>
                  <a:pt x="9178544" y="1650"/>
                </a:lnTo>
              </a:path>
            </a:pathLst>
          </a:custGeom>
          <a:noFill/>
          <a:ln cap="flat" cmpd="sng" w="19050">
            <a:solidFill>
              <a:srgbClr val="D252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48"/>
          <p:cNvSpPr txBox="1"/>
          <p:nvPr>
            <p:ph type="ctrTitle"/>
          </p:nvPr>
        </p:nvSpPr>
        <p:spPr>
          <a:xfrm>
            <a:off x="893775" y="2602814"/>
            <a:ext cx="8912199" cy="971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8"/>
          <p:cNvSpPr txBox="1"/>
          <p:nvPr>
            <p:ph idx="1" type="subTitle"/>
          </p:nvPr>
        </p:nvSpPr>
        <p:spPr>
          <a:xfrm>
            <a:off x="1604962" y="4231640"/>
            <a:ext cx="7489825" cy="188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48"/>
          <p:cNvSpPr txBox="1"/>
          <p:nvPr>
            <p:ph idx="11" type="ftr"/>
          </p:nvPr>
        </p:nvSpPr>
        <p:spPr>
          <a:xfrm>
            <a:off x="3637915" y="7027545"/>
            <a:ext cx="3423920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48"/>
          <p:cNvSpPr txBox="1"/>
          <p:nvPr>
            <p:ph idx="10" type="dt"/>
          </p:nvPr>
        </p:nvSpPr>
        <p:spPr>
          <a:xfrm>
            <a:off x="534987" y="7027545"/>
            <a:ext cx="2460942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8"/>
          <p:cNvSpPr txBox="1"/>
          <p:nvPr>
            <p:ph idx="12" type="sldNum"/>
          </p:nvPr>
        </p:nvSpPr>
        <p:spPr>
          <a:xfrm>
            <a:off x="8092120" y="116895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2">
  <p:cSld name="OBJECT_2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f5594a4f43_0_312"/>
          <p:cNvSpPr txBox="1"/>
          <p:nvPr>
            <p:ph type="title"/>
          </p:nvPr>
        </p:nvSpPr>
        <p:spPr>
          <a:xfrm>
            <a:off x="376873" y="5705772"/>
            <a:ext cx="9939900" cy="13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g2f5594a4f43_0_312"/>
          <p:cNvSpPr txBox="1"/>
          <p:nvPr>
            <p:ph idx="1" type="body"/>
          </p:nvPr>
        </p:nvSpPr>
        <p:spPr>
          <a:xfrm>
            <a:off x="2647215" y="1645530"/>
            <a:ext cx="49773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g2f5594a4f43_0_312"/>
          <p:cNvSpPr txBox="1"/>
          <p:nvPr>
            <p:ph idx="11" type="ftr"/>
          </p:nvPr>
        </p:nvSpPr>
        <p:spPr>
          <a:xfrm>
            <a:off x="3635756" y="7027545"/>
            <a:ext cx="34218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g2f5594a4f43_0_312"/>
          <p:cNvSpPr txBox="1"/>
          <p:nvPr>
            <p:ph idx="10" type="dt"/>
          </p:nvPr>
        </p:nvSpPr>
        <p:spPr>
          <a:xfrm>
            <a:off x="534670" y="7027545"/>
            <a:ext cx="24597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g2f5594a4f43_0_312"/>
          <p:cNvSpPr txBox="1"/>
          <p:nvPr>
            <p:ph idx="12" type="sldNum"/>
          </p:nvPr>
        </p:nvSpPr>
        <p:spPr>
          <a:xfrm>
            <a:off x="7699248" y="7027545"/>
            <a:ext cx="2459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8.xml"/><Relationship Id="rId10" Type="http://schemas.openxmlformats.org/officeDocument/2006/relationships/slideLayout" Target="../slideLayouts/slideLayout7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9.xml"/><Relationship Id="rId1" Type="http://schemas.openxmlformats.org/officeDocument/2006/relationships/image" Target="../media/image3.png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<Relationship Id="rId9" Type="http://schemas.openxmlformats.org/officeDocument/2006/relationships/slideLayout" Target="../slideLayouts/slideLayout6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47"/>
          <p:cNvGrpSpPr/>
          <p:nvPr/>
        </p:nvGrpSpPr>
        <p:grpSpPr>
          <a:xfrm>
            <a:off x="-50" y="-163100"/>
            <a:ext cx="10736274" cy="837200"/>
            <a:chOff x="-50" y="-152609"/>
            <a:chExt cx="10693500" cy="837200"/>
          </a:xfrm>
        </p:grpSpPr>
        <p:pic>
          <p:nvPicPr>
            <p:cNvPr id="7" name="Google Shape;7;p47"/>
            <p:cNvPicPr preferRelativeResize="0"/>
            <p:nvPr/>
          </p:nvPicPr>
          <p:blipFill rotWithShape="1">
            <a:blip r:embed="rId1">
              <a:alphaModFix/>
            </a:blip>
            <a:srcRect b="0" l="0" r="0" t="0"/>
            <a:stretch/>
          </p:blipFill>
          <p:spPr>
            <a:xfrm>
              <a:off x="-50" y="-152609"/>
              <a:ext cx="1506924" cy="83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" name="Google Shape;8;p47"/>
            <p:cNvSpPr/>
            <p:nvPr/>
          </p:nvSpPr>
          <p:spPr>
            <a:xfrm>
              <a:off x="-50" y="0"/>
              <a:ext cx="10693500" cy="543000"/>
            </a:xfrm>
            <a:prstGeom prst="rect">
              <a:avLst/>
            </a:prstGeom>
            <a:solidFill>
              <a:srgbClr val="0E71BA"/>
            </a:solidFill>
            <a:ln cap="flat" cmpd="sng" w="9525">
              <a:solidFill>
                <a:srgbClr val="0E71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" name="Google Shape;9;p47"/>
          <p:cNvSpPr txBox="1"/>
          <p:nvPr>
            <p:ph type="title"/>
          </p:nvPr>
        </p:nvSpPr>
        <p:spPr>
          <a:xfrm>
            <a:off x="626465" y="480822"/>
            <a:ext cx="8199755" cy="1276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100" u="none" cap="none" strike="noStrike">
                <a:solidFill>
                  <a:srgbClr val="D2523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47"/>
          <p:cNvSpPr txBox="1"/>
          <p:nvPr>
            <p:ph idx="1" type="body"/>
          </p:nvPr>
        </p:nvSpPr>
        <p:spPr>
          <a:xfrm>
            <a:off x="626465" y="1711867"/>
            <a:ext cx="9218930" cy="1711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47"/>
          <p:cNvSpPr txBox="1"/>
          <p:nvPr>
            <p:ph idx="11" type="ftr"/>
          </p:nvPr>
        </p:nvSpPr>
        <p:spPr>
          <a:xfrm>
            <a:off x="3637915" y="7027545"/>
            <a:ext cx="3423920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47"/>
          <p:cNvSpPr txBox="1"/>
          <p:nvPr>
            <p:ph idx="10" type="dt"/>
          </p:nvPr>
        </p:nvSpPr>
        <p:spPr>
          <a:xfrm>
            <a:off x="534987" y="7027545"/>
            <a:ext cx="2460942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3" name="Google Shape;13;p4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-50" y="-139350"/>
            <a:ext cx="1429351" cy="794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47"/>
          <p:cNvSpPr txBox="1"/>
          <p:nvPr>
            <p:ph idx="12" type="sldNum"/>
          </p:nvPr>
        </p:nvSpPr>
        <p:spPr>
          <a:xfrm>
            <a:off x="8092120" y="116895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 sz="1400"/>
          </a:p>
        </p:txBody>
      </p:sp>
      <p:sp>
        <p:nvSpPr>
          <p:cNvPr id="15" name="Google Shape;15;p47"/>
          <p:cNvSpPr txBox="1"/>
          <p:nvPr/>
        </p:nvSpPr>
        <p:spPr>
          <a:xfrm>
            <a:off x="2628039" y="74888"/>
            <a:ext cx="5215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Inteligência Artificial I</a:t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6" name="Google Shape;16;p47"/>
          <p:cNvPicPr preferRelativeResize="0"/>
          <p:nvPr/>
        </p:nvPicPr>
        <p:blipFill rotWithShape="1">
          <a:blip r:embed="rId2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53850" y="29376"/>
            <a:ext cx="742650" cy="49122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mailto:rhauani.fazul@amf.edu.br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Relationship Id="rId4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Relationship Id="rId4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Relationship Id="rId4" Type="http://schemas.openxmlformats.org/officeDocument/2006/relationships/hyperlink" Target="https://x.ai/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g"/><Relationship Id="rId4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g"/><Relationship Id="rId4" Type="http://schemas.openxmlformats.org/officeDocument/2006/relationships/image" Target="../media/image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jp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"/>
          <p:cNvSpPr txBox="1"/>
          <p:nvPr/>
        </p:nvSpPr>
        <p:spPr>
          <a:xfrm>
            <a:off x="754739" y="2397798"/>
            <a:ext cx="9183900" cy="12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00"/>
              <a:buFont typeface="Arial"/>
              <a:buNone/>
            </a:pPr>
            <a:r>
              <a:rPr b="0" i="0" lang="pt-BR" sz="3900" u="none" cap="none" strike="noStrike">
                <a:solidFill>
                  <a:srgbClr val="0E71B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Aula 9 - Tópicos extras: Lógica e Raciocínio, XAI</a:t>
            </a:r>
            <a:endParaRPr b="0" i="0" sz="3900" u="none" cap="none" strike="noStrike">
              <a:solidFill>
                <a:srgbClr val="0E71BA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5" name="Google Shape;75;p2"/>
          <p:cNvSpPr txBox="1"/>
          <p:nvPr/>
        </p:nvSpPr>
        <p:spPr>
          <a:xfrm>
            <a:off x="893775" y="3893312"/>
            <a:ext cx="2273400" cy="4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pt-BR" sz="2700" u="none" cap="none" strike="noStrike">
                <a:solidFill>
                  <a:srgbClr val="56566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Rhauani Fazul</a:t>
            </a:r>
            <a:endParaRPr b="0" i="0" sz="27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76" name="Google Shape;76;p2"/>
          <p:cNvCxnSpPr/>
          <p:nvPr/>
        </p:nvCxnSpPr>
        <p:spPr>
          <a:xfrm>
            <a:off x="803450" y="3742670"/>
            <a:ext cx="9183900" cy="0"/>
          </a:xfrm>
          <a:prstGeom prst="straightConnector1">
            <a:avLst/>
          </a:prstGeom>
          <a:noFill/>
          <a:ln cap="flat" cmpd="sng" w="28575">
            <a:solidFill>
              <a:srgbClr val="0E71B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7" name="Google Shape;77;p2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78" name="Google Shape;78;p2"/>
          <p:cNvSpPr txBox="1"/>
          <p:nvPr/>
        </p:nvSpPr>
        <p:spPr>
          <a:xfrm>
            <a:off x="816216" y="4247302"/>
            <a:ext cx="2460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uFill>
                  <a:noFill/>
                </a:uFill>
                <a:latin typeface="Helvetica Neue"/>
                <a:ea typeface="Helvetica Neue"/>
                <a:cs typeface="Helvetica Neue"/>
                <a:sym typeface="Helvetica Neue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rhauani.fazul@amf.edu.br</a:t>
            </a:r>
            <a:r>
              <a:rPr b="0" i="0" lang="pt-BR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endParaRPr b="0" i="0" sz="14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9" name="Google Shape;79;p2"/>
          <p:cNvSpPr txBox="1"/>
          <p:nvPr/>
        </p:nvSpPr>
        <p:spPr>
          <a:xfrm>
            <a:off x="812850" y="1475450"/>
            <a:ext cx="331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Inteligência Artificial</a:t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0" name="Google Shape;80;p2"/>
          <p:cNvSpPr txBox="1"/>
          <p:nvPr/>
        </p:nvSpPr>
        <p:spPr>
          <a:xfrm>
            <a:off x="812850" y="1262700"/>
            <a:ext cx="331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Sistemas de Informação | AMF</a:t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1" name="Google Shape;81;p2"/>
          <p:cNvSpPr txBox="1"/>
          <p:nvPr/>
        </p:nvSpPr>
        <p:spPr>
          <a:xfrm>
            <a:off x="812850" y="1716182"/>
            <a:ext cx="331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19</a:t>
            </a:r>
            <a:r>
              <a:rPr b="0" i="0" lang="pt-BR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de junho de 202</a:t>
            </a: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d516be3daf_0_30"/>
          <p:cNvSpPr txBox="1"/>
          <p:nvPr>
            <p:ph type="title"/>
          </p:nvPr>
        </p:nvSpPr>
        <p:spPr>
          <a:xfrm>
            <a:off x="511575" y="691175"/>
            <a:ext cx="101808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600">
                <a:solidFill>
                  <a:srgbClr val="0E71BA"/>
                </a:solidFill>
              </a:rPr>
              <a:t>Lógica Fuzzy</a:t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87" name="Google Shape;87;g2d516be3daf_0_30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g2d516be3daf_0_30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89" name="Google Shape;89;g2d516be3daf_0_30"/>
          <p:cNvSpPr/>
          <p:nvPr/>
        </p:nvSpPr>
        <p:spPr>
          <a:xfrm>
            <a:off x="210900" y="2319200"/>
            <a:ext cx="1297800" cy="43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0" name="Google Shape;90;g2d516be3daf_0_30"/>
          <p:cNvSpPr txBox="1"/>
          <p:nvPr/>
        </p:nvSpPr>
        <p:spPr>
          <a:xfrm>
            <a:off x="594800" y="1648938"/>
            <a:ext cx="10098600" cy="44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3650">
            <a:spAutoFit/>
          </a:bodyPr>
          <a:lstStyle/>
          <a:p>
            <a:pPr indent="0" lvl="0" marL="127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Sistema lógico que permite</a:t>
            </a:r>
            <a:r>
              <a:rPr b="1" i="0" lang="pt-BR" sz="2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valores intermediários </a:t>
            </a:r>
            <a:r>
              <a:rPr b="0" i="0" lang="pt-BR" sz="2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entre verdadeiro e falso. Muito usada para lidar com incerteza, especialmente em sistemas de controle.</a:t>
            </a:r>
            <a:endParaRPr b="1" i="0" sz="2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pt-BR" sz="2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Benefício: </a:t>
            </a:r>
            <a:r>
              <a:rPr b="0" i="0" lang="pt-BR" sz="2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Gera transições mais suaves e decisões mais humanas, permitindo respostas adaptativas.</a:t>
            </a:r>
            <a:endParaRPr b="0" i="0" sz="2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pt-BR" sz="2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Ver material Profº Luiz Chaimowicz (UFMG)</a:t>
            </a:r>
            <a:endParaRPr b="0" i="0" sz="2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d516be3daf_1_140"/>
          <p:cNvSpPr txBox="1"/>
          <p:nvPr>
            <p:ph type="title"/>
          </p:nvPr>
        </p:nvSpPr>
        <p:spPr>
          <a:xfrm>
            <a:off x="511575" y="691175"/>
            <a:ext cx="101808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600">
                <a:solidFill>
                  <a:srgbClr val="0E71BA"/>
                </a:solidFill>
              </a:rPr>
              <a:t>Lógica Fuzzy</a:t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96" name="Google Shape;96;g2d516be3daf_1_140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g2d516be3daf_1_140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98" name="Google Shape;98;g2d516be3daf_1_140"/>
          <p:cNvSpPr/>
          <p:nvPr/>
        </p:nvSpPr>
        <p:spPr>
          <a:xfrm>
            <a:off x="210900" y="2319200"/>
            <a:ext cx="1297800" cy="43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9" name="Google Shape;99;g2d516be3daf_1_140"/>
          <p:cNvSpPr txBox="1"/>
          <p:nvPr/>
        </p:nvSpPr>
        <p:spPr>
          <a:xfrm>
            <a:off x="594800" y="1648938"/>
            <a:ext cx="10098600" cy="56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3650">
            <a:spAutoFit/>
          </a:bodyPr>
          <a:lstStyle/>
          <a:p>
            <a:pPr indent="0" lvl="0" marL="127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Exemplo: Controle de temperatura baseado em “quente”, “muito quente”, etc., em vez de sim/não.</a:t>
            </a:r>
            <a:endParaRPr b="0" i="0" sz="2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00" name="Google Shape;100;g2d516be3daf_1_1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0324" y="3049374"/>
            <a:ext cx="8123199" cy="329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d516be3daf_1_149"/>
          <p:cNvSpPr txBox="1"/>
          <p:nvPr>
            <p:ph type="title"/>
          </p:nvPr>
        </p:nvSpPr>
        <p:spPr>
          <a:xfrm>
            <a:off x="511575" y="691175"/>
            <a:ext cx="101808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600">
                <a:solidFill>
                  <a:srgbClr val="0E71BA"/>
                </a:solidFill>
              </a:rPr>
              <a:t>Lógica Fuzzy</a:t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106" name="Google Shape;106;g2d516be3daf_1_149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g2d516be3daf_1_149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08" name="Google Shape;108;g2d516be3daf_1_149"/>
          <p:cNvSpPr/>
          <p:nvPr/>
        </p:nvSpPr>
        <p:spPr>
          <a:xfrm>
            <a:off x="210900" y="2319200"/>
            <a:ext cx="1297800" cy="43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9" name="Google Shape;109;g2d516be3daf_1_149"/>
          <p:cNvSpPr txBox="1"/>
          <p:nvPr/>
        </p:nvSpPr>
        <p:spPr>
          <a:xfrm>
            <a:off x="594800" y="1648938"/>
            <a:ext cx="10098600" cy="33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3650">
            <a:spAutoFit/>
          </a:bodyPr>
          <a:lstStyle/>
          <a:p>
            <a:pPr indent="0" lvl="0" marL="127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Exemplo: carros autônomos.</a:t>
            </a:r>
            <a:endParaRPr b="0" i="0" sz="2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10" name="Google Shape;110;g2d516be3daf_1_1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76277" y="2207414"/>
            <a:ext cx="7340850" cy="4875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d516be3daf_1_159"/>
          <p:cNvSpPr txBox="1"/>
          <p:nvPr>
            <p:ph type="title"/>
          </p:nvPr>
        </p:nvSpPr>
        <p:spPr>
          <a:xfrm>
            <a:off x="511575" y="691175"/>
            <a:ext cx="101808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600">
                <a:solidFill>
                  <a:srgbClr val="0E71BA"/>
                </a:solidFill>
              </a:rPr>
              <a:t>Lógica Fuzzy</a:t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116" name="Google Shape;116;g2d516be3daf_1_159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g2d516be3daf_1_159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18" name="Google Shape;118;g2d516be3daf_1_159"/>
          <p:cNvSpPr/>
          <p:nvPr/>
        </p:nvSpPr>
        <p:spPr>
          <a:xfrm>
            <a:off x="210900" y="2319200"/>
            <a:ext cx="1297800" cy="43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9" name="Google Shape;119;g2d516be3daf_1_159"/>
          <p:cNvSpPr txBox="1"/>
          <p:nvPr/>
        </p:nvSpPr>
        <p:spPr>
          <a:xfrm>
            <a:off x="594800" y="1648938"/>
            <a:ext cx="10098600" cy="33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3650">
            <a:spAutoFit/>
          </a:bodyPr>
          <a:lstStyle/>
          <a:p>
            <a:pPr indent="0" lvl="0" marL="127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Exemplo: carros autônomos.</a:t>
            </a:r>
            <a:endParaRPr b="0" i="0" sz="2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20" name="Google Shape;120;g2d516be3daf_1_1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58513" y="2188850"/>
            <a:ext cx="7176375" cy="476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d516be3daf_1_169"/>
          <p:cNvSpPr txBox="1"/>
          <p:nvPr>
            <p:ph type="title"/>
          </p:nvPr>
        </p:nvSpPr>
        <p:spPr>
          <a:xfrm>
            <a:off x="511575" y="691175"/>
            <a:ext cx="101808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600">
                <a:solidFill>
                  <a:srgbClr val="0E71BA"/>
                </a:solidFill>
              </a:rPr>
              <a:t> Lógicas Multi-valoradas</a:t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126" name="Google Shape;126;g2d516be3daf_1_169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g2d516be3daf_1_169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28" name="Google Shape;128;g2d516be3daf_1_169"/>
          <p:cNvSpPr/>
          <p:nvPr/>
        </p:nvSpPr>
        <p:spPr>
          <a:xfrm>
            <a:off x="210900" y="2319200"/>
            <a:ext cx="1297800" cy="43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9" name="Google Shape;129;g2d516be3daf_1_169"/>
          <p:cNvSpPr txBox="1"/>
          <p:nvPr/>
        </p:nvSpPr>
        <p:spPr>
          <a:xfrm>
            <a:off x="770525" y="1724675"/>
            <a:ext cx="9322500" cy="40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3650">
            <a:spAutoFit/>
          </a:bodyPr>
          <a:lstStyle/>
          <a:p>
            <a:pPr indent="0" lvl="0" marL="127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Extensão da lógica clássica com mais de dois valores (não só verdadeiro/falso).</a:t>
            </a:r>
            <a:endParaRPr b="0" i="0" sz="2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Podem incluir “talvez”, “incerto”, “provavelmente”, etc.</a:t>
            </a:r>
            <a:endParaRPr b="0" i="0" sz="2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Uso: Modelagem de situações complexas com diferentes graus de certeza.</a:t>
            </a:r>
            <a:endParaRPr b="0" i="0" sz="2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d516be3daf_1_179"/>
          <p:cNvSpPr txBox="1"/>
          <p:nvPr>
            <p:ph type="title"/>
          </p:nvPr>
        </p:nvSpPr>
        <p:spPr>
          <a:xfrm>
            <a:off x="511575" y="691175"/>
            <a:ext cx="101808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600">
                <a:solidFill>
                  <a:srgbClr val="0E71BA"/>
                </a:solidFill>
              </a:rPr>
              <a:t> Lógicas Multi-valoradas</a:t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135" name="Google Shape;135;g2d516be3daf_1_179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g2d516be3daf_1_179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37" name="Google Shape;137;g2d516be3daf_1_179"/>
          <p:cNvSpPr/>
          <p:nvPr/>
        </p:nvSpPr>
        <p:spPr>
          <a:xfrm>
            <a:off x="210900" y="2319200"/>
            <a:ext cx="1297800" cy="43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8" name="Google Shape;138;g2d516be3daf_1_179"/>
          <p:cNvSpPr txBox="1"/>
          <p:nvPr/>
        </p:nvSpPr>
        <p:spPr>
          <a:xfrm>
            <a:off x="685450" y="1592875"/>
            <a:ext cx="9322500" cy="65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3650">
            <a:spAutoFit/>
          </a:bodyPr>
          <a:lstStyle/>
          <a:p>
            <a:pPr indent="0" lvl="0" marL="127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Exemplos:</a:t>
            </a:r>
            <a:endParaRPr b="0" i="0" sz="2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699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pt-BR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Assistentes virtuais:</a:t>
            </a:r>
            <a:r>
              <a:rPr b="0" i="0" lang="pt-BR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Reconhecem diferentes níveis de compreensão (certo, incerto, incompleto) em respostas, ajustando o feedback ao usuário.</a:t>
            </a:r>
            <a:endParaRPr b="0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699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pt-BR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Sistemas de recomendação:</a:t>
            </a:r>
            <a:r>
              <a:rPr b="0" i="0" lang="pt-BR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Avaliam conteúdo com múltiplos valores como "gostei", "não gostei", "indiferente", etc., para sugestões mais personalizadas.</a:t>
            </a:r>
            <a:endParaRPr b="0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699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pt-BR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Controle de qualidade: </a:t>
            </a:r>
            <a:r>
              <a:rPr b="0" i="0" lang="pt-BR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Avaliam produtos com valores como "aceitável", "precisa de revisão", "rejeitado" em fábricas</a:t>
            </a:r>
            <a:endParaRPr b="0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Melhora a capacidade de sistemas em processar nuances e resolver problemas com mais flexibilidade.</a:t>
            </a:r>
            <a:endParaRPr b="0" i="0" sz="2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d516be3daf_1_188"/>
          <p:cNvSpPr txBox="1"/>
          <p:nvPr>
            <p:ph type="title"/>
          </p:nvPr>
        </p:nvSpPr>
        <p:spPr>
          <a:xfrm>
            <a:off x="511575" y="691175"/>
            <a:ext cx="101808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600">
                <a:solidFill>
                  <a:srgbClr val="0E71BA"/>
                </a:solidFill>
              </a:rPr>
              <a:t> Fuzzy vs Multi-valoradas</a:t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144" name="Google Shape;144;g2d516be3daf_1_188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g2d516be3daf_1_188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46" name="Google Shape;146;g2d516be3daf_1_188"/>
          <p:cNvSpPr/>
          <p:nvPr/>
        </p:nvSpPr>
        <p:spPr>
          <a:xfrm>
            <a:off x="210900" y="2319200"/>
            <a:ext cx="1297800" cy="43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7" name="Google Shape;147;g2d516be3daf_1_188"/>
          <p:cNvSpPr txBox="1"/>
          <p:nvPr/>
        </p:nvSpPr>
        <p:spPr>
          <a:xfrm>
            <a:off x="685450" y="1724675"/>
            <a:ext cx="9322500" cy="19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3650">
            <a:spAutoFit/>
          </a:bodyPr>
          <a:lstStyle/>
          <a:p>
            <a:pPr indent="0" lvl="0" marL="127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Ambos sistemas estendem a lógica clássica para lidar com </a:t>
            </a:r>
            <a:r>
              <a:rPr b="1" i="0" lang="pt-BR" sz="2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incertezas</a:t>
            </a:r>
            <a:r>
              <a:rPr b="0" i="0" lang="pt-BR" sz="2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mas diferem no modo como representam e interpretam esses estados intermediários.</a:t>
            </a:r>
            <a:endParaRPr b="0" i="0" sz="2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d516be3daf_1_247"/>
          <p:cNvSpPr txBox="1"/>
          <p:nvPr>
            <p:ph type="title"/>
          </p:nvPr>
        </p:nvSpPr>
        <p:spPr>
          <a:xfrm>
            <a:off x="511575" y="691175"/>
            <a:ext cx="101808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600">
                <a:solidFill>
                  <a:srgbClr val="0E71BA"/>
                </a:solidFill>
              </a:rPr>
              <a:t> Fuzzy vs Multi-valoradas</a:t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153" name="Google Shape;153;g2d516be3daf_1_247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g2d516be3daf_1_247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55" name="Google Shape;155;g2d516be3daf_1_247"/>
          <p:cNvSpPr/>
          <p:nvPr/>
        </p:nvSpPr>
        <p:spPr>
          <a:xfrm>
            <a:off x="210900" y="2319200"/>
            <a:ext cx="1297800" cy="43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6" name="Google Shape;156;g2d516be3daf_1_247"/>
          <p:cNvSpPr txBox="1"/>
          <p:nvPr/>
        </p:nvSpPr>
        <p:spPr>
          <a:xfrm>
            <a:off x="685450" y="1339900"/>
            <a:ext cx="9322500" cy="53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3650">
            <a:spAutoFit/>
          </a:bodyPr>
          <a:lstStyle/>
          <a:p>
            <a:pPr indent="0" lvl="0" marL="127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</a:t>
            </a:r>
            <a:r>
              <a:rPr b="1" i="0" lang="pt-BR" sz="2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lógica fuzzy</a:t>
            </a:r>
            <a:r>
              <a:rPr b="0" i="0" lang="pt-BR" sz="2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permite uma infinidade de valores entre verdadeiro e falso, expressos como graus de verdade (por exemplo, 0,3, 0,75, etc.).</a:t>
            </a:r>
            <a:endParaRPr b="0" i="0" sz="2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Valores São </a:t>
            </a:r>
            <a:r>
              <a:rPr b="1" i="0" lang="pt-BR" sz="2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contínuos</a:t>
            </a:r>
            <a:r>
              <a:rPr b="0" i="0" lang="pt-BR" sz="2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variando de 0 a 1, representando o grau de pertencimento a uma determinada categoria (por exemplo, quão "quente" ou "frio" está o ambiente).</a:t>
            </a:r>
            <a:endParaRPr b="0" i="0" sz="2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d516be3daf_1_198"/>
          <p:cNvSpPr txBox="1"/>
          <p:nvPr>
            <p:ph type="title"/>
          </p:nvPr>
        </p:nvSpPr>
        <p:spPr>
          <a:xfrm>
            <a:off x="511575" y="691175"/>
            <a:ext cx="101808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600">
                <a:solidFill>
                  <a:srgbClr val="0E71BA"/>
                </a:solidFill>
              </a:rPr>
              <a:t> Fuzzy vs Multi-valoradas</a:t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162" name="Google Shape;162;g2d516be3daf_1_198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g2d516be3daf_1_198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64" name="Google Shape;164;g2d516be3daf_1_198"/>
          <p:cNvSpPr/>
          <p:nvPr/>
        </p:nvSpPr>
        <p:spPr>
          <a:xfrm>
            <a:off x="210900" y="2319200"/>
            <a:ext cx="1297800" cy="43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5" name="Google Shape;165;g2d516be3daf_1_198"/>
          <p:cNvSpPr txBox="1"/>
          <p:nvPr/>
        </p:nvSpPr>
        <p:spPr>
          <a:xfrm>
            <a:off x="685450" y="1411475"/>
            <a:ext cx="9322500" cy="53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3650">
            <a:spAutoFit/>
          </a:bodyPr>
          <a:lstStyle/>
          <a:p>
            <a:pPr indent="0" lvl="0" marL="127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pt-BR" sz="2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Lógicas multi-valoradas </a:t>
            </a:r>
            <a:r>
              <a:rPr b="0" i="0" lang="pt-BR" sz="2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utilizam mais de dois valores lógicos (verdadeiro/falso) e permitem a existência de valores intermediários, como "talvez", "incerto" ou "indefinido".</a:t>
            </a:r>
            <a:endParaRPr b="0" i="0" sz="2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Cada valor representa uma possibilidade fixa e </a:t>
            </a:r>
            <a:r>
              <a:rPr b="1" i="0" lang="pt-BR" sz="2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discreta</a:t>
            </a:r>
            <a:r>
              <a:rPr b="0" i="0" lang="pt-BR" sz="2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Os valores intermediários são como estados pré-definidos (por exemplo, verdadeiro, falso e talvez).</a:t>
            </a:r>
            <a:endParaRPr b="0" i="0" sz="2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d516be3daf_1_207"/>
          <p:cNvSpPr txBox="1"/>
          <p:nvPr>
            <p:ph type="title"/>
          </p:nvPr>
        </p:nvSpPr>
        <p:spPr>
          <a:xfrm>
            <a:off x="511575" y="691175"/>
            <a:ext cx="101808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600">
                <a:solidFill>
                  <a:srgbClr val="0E71BA"/>
                </a:solidFill>
              </a:rPr>
              <a:t> Raciocínio Probabilístico</a:t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171" name="Google Shape;171;g2d516be3daf_1_207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g2d516be3daf_1_207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73" name="Google Shape;173;g2d516be3daf_1_207"/>
          <p:cNvSpPr/>
          <p:nvPr/>
        </p:nvSpPr>
        <p:spPr>
          <a:xfrm>
            <a:off x="210900" y="2319200"/>
            <a:ext cx="1297800" cy="43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4" name="Google Shape;174;g2d516be3daf_1_207"/>
          <p:cNvSpPr txBox="1"/>
          <p:nvPr/>
        </p:nvSpPr>
        <p:spPr>
          <a:xfrm>
            <a:off x="685450" y="1592875"/>
            <a:ext cx="9322500" cy="62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3650">
            <a:spAutoFit/>
          </a:bodyPr>
          <a:lstStyle/>
          <a:p>
            <a:pPr indent="0" lvl="0" marL="127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Raciocínio que considera </a:t>
            </a:r>
            <a:r>
              <a:rPr b="1" i="0" lang="pt-BR" sz="2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probabilidades</a:t>
            </a:r>
            <a:r>
              <a:rPr b="0" i="0" lang="pt-BR" sz="2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para modelar </a:t>
            </a:r>
            <a:r>
              <a:rPr b="1" i="0" lang="pt-BR" sz="2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incertezas</a:t>
            </a:r>
            <a:r>
              <a:rPr b="0" i="0" lang="pt-BR" sz="2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b="0" i="0" sz="2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457200" lvl="0" marL="4572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	Redes Bayesianas e Teoria da Probabilidade.</a:t>
            </a:r>
            <a:endParaRPr b="0" i="0" sz="2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pt-BR" sz="2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Benefício: </a:t>
            </a:r>
            <a:r>
              <a:rPr b="0" i="0" lang="pt-BR" sz="2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Permite sistemas que tomam decisões bem informadas, mesmo com informações incompletas ou incertas.</a:t>
            </a:r>
            <a:endParaRPr b="0" i="0" sz="2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d516be3daf_1_227"/>
          <p:cNvSpPr txBox="1"/>
          <p:nvPr>
            <p:ph type="title"/>
          </p:nvPr>
        </p:nvSpPr>
        <p:spPr>
          <a:xfrm>
            <a:off x="511575" y="691175"/>
            <a:ext cx="101808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600">
                <a:solidFill>
                  <a:srgbClr val="0E71BA"/>
                </a:solidFill>
              </a:rPr>
              <a:t> Raciocínio Probabilístico</a:t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180" name="Google Shape;180;g2d516be3daf_1_227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g2d516be3daf_1_227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82" name="Google Shape;182;g2d516be3daf_1_227"/>
          <p:cNvSpPr/>
          <p:nvPr/>
        </p:nvSpPr>
        <p:spPr>
          <a:xfrm>
            <a:off x="210900" y="2319200"/>
            <a:ext cx="1297800" cy="43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3" name="Google Shape;183;g2d516be3daf_1_227"/>
          <p:cNvSpPr txBox="1"/>
          <p:nvPr/>
        </p:nvSpPr>
        <p:spPr>
          <a:xfrm>
            <a:off x="685450" y="1592875"/>
            <a:ext cx="9322500" cy="54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3650">
            <a:spAutoFit/>
          </a:bodyPr>
          <a:lstStyle/>
          <a:p>
            <a:pPr indent="0" lvl="0" marL="127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Exemplos:</a:t>
            </a:r>
            <a:endParaRPr b="0" i="0" sz="2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699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pt-BR" sz="23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Diagnóstico médico: </a:t>
            </a:r>
            <a:r>
              <a:rPr b="0" i="0" lang="pt-BR" sz="23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Sistemas como redes Bayesianas calculam a probabilidade de doenças com base em sintomas e histórico médico.</a:t>
            </a:r>
            <a:endParaRPr b="0" i="0" sz="23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699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pt-BR" sz="23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Financeiro:</a:t>
            </a:r>
            <a:r>
              <a:rPr b="0" i="0" lang="pt-BR" sz="23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Avaliação de risco em investimentos, considerando a probabilidade de um ativo ter um retorno positivo ou negativo.</a:t>
            </a:r>
            <a:endParaRPr b="0" i="0" sz="23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699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pt-BR" sz="23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Detecção de fraudes: </a:t>
            </a:r>
            <a:r>
              <a:rPr b="0" i="0" lang="pt-BR" sz="23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Analisam transações financeiras e detectam padrões suspeitos com base em probabilidades associadas a comportamentos fraudulentos.</a:t>
            </a:r>
            <a:endParaRPr b="0" i="0" sz="23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d516be3daf_1_217"/>
          <p:cNvSpPr txBox="1"/>
          <p:nvPr>
            <p:ph type="title"/>
          </p:nvPr>
        </p:nvSpPr>
        <p:spPr>
          <a:xfrm>
            <a:off x="511575" y="691175"/>
            <a:ext cx="101808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600">
                <a:solidFill>
                  <a:srgbClr val="0E71BA"/>
                </a:solidFill>
              </a:rPr>
              <a:t>Fatores de Certeza</a:t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189" name="Google Shape;189;g2d516be3daf_1_217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g2d516be3daf_1_217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91" name="Google Shape;191;g2d516be3daf_1_217"/>
          <p:cNvSpPr/>
          <p:nvPr/>
        </p:nvSpPr>
        <p:spPr>
          <a:xfrm>
            <a:off x="210900" y="2319200"/>
            <a:ext cx="1297800" cy="43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2" name="Google Shape;192;g2d516be3daf_1_217"/>
          <p:cNvSpPr txBox="1"/>
          <p:nvPr/>
        </p:nvSpPr>
        <p:spPr>
          <a:xfrm>
            <a:off x="685450" y="1973650"/>
            <a:ext cx="9322500" cy="38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3650">
            <a:spAutoFit/>
          </a:bodyPr>
          <a:lstStyle/>
          <a:p>
            <a:pPr indent="0" lvl="0" marL="127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Medidas de quão “certos” estamos sobre uma conclusão com base em </a:t>
            </a:r>
            <a:r>
              <a:rPr b="1" i="0" lang="pt-BR" sz="2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evidências</a:t>
            </a:r>
            <a:r>
              <a:rPr b="0" i="0" lang="pt-BR" sz="2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b="0" i="0" sz="2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Útil em sistemas especialistas para </a:t>
            </a:r>
            <a:r>
              <a:rPr b="1" i="0" lang="pt-BR" sz="2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representar a confiança</a:t>
            </a:r>
            <a:r>
              <a:rPr b="0" i="0" lang="pt-BR" sz="2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em uma decisão.</a:t>
            </a:r>
            <a:endParaRPr b="0" i="0" sz="2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d516be3daf_1_237"/>
          <p:cNvSpPr txBox="1"/>
          <p:nvPr>
            <p:ph type="title"/>
          </p:nvPr>
        </p:nvSpPr>
        <p:spPr>
          <a:xfrm>
            <a:off x="511575" y="691175"/>
            <a:ext cx="101808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600">
                <a:solidFill>
                  <a:srgbClr val="0E71BA"/>
                </a:solidFill>
              </a:rPr>
              <a:t>Fatores de Certeza</a:t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198" name="Google Shape;198;g2d516be3daf_1_237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g2d516be3daf_1_237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00" name="Google Shape;200;g2d516be3daf_1_237"/>
          <p:cNvSpPr/>
          <p:nvPr/>
        </p:nvSpPr>
        <p:spPr>
          <a:xfrm>
            <a:off x="210900" y="2319200"/>
            <a:ext cx="1297800" cy="43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1" name="Google Shape;201;g2d516be3daf_1_237"/>
          <p:cNvSpPr txBox="1"/>
          <p:nvPr/>
        </p:nvSpPr>
        <p:spPr>
          <a:xfrm>
            <a:off x="685450" y="1592875"/>
            <a:ext cx="9322500" cy="48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3650">
            <a:spAutoFit/>
          </a:bodyPr>
          <a:lstStyle/>
          <a:p>
            <a:pPr indent="0" lvl="0" marL="127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Exemplos:</a:t>
            </a:r>
            <a:endParaRPr b="0" i="0" sz="2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699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pt-BR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Sistemas especialistas médicos:</a:t>
            </a:r>
            <a:r>
              <a:rPr b="0" i="0" lang="pt-BR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Atribuem um fator de certeza para diagnósticos médicos com base na qualidade e quantidade de evidências disponíveis.</a:t>
            </a:r>
            <a:endParaRPr b="0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699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pt-BR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Controle de qualidade industrial: </a:t>
            </a:r>
            <a:r>
              <a:rPr b="0" i="0" lang="pt-BR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Medem a certeza de que um item passou ou falhou no controle de qualidade.</a:t>
            </a:r>
            <a:endParaRPr b="0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699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pt-BR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Perícia forense digital: </a:t>
            </a:r>
            <a:r>
              <a:rPr b="0" i="0" lang="pt-BR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Atribuem graus de certeza para análises em investigações, considerando diferentes fontes de evidência.</a:t>
            </a:r>
            <a:endParaRPr b="0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2d5eec22272_0_13"/>
          <p:cNvSpPr txBox="1"/>
          <p:nvPr>
            <p:ph type="title"/>
          </p:nvPr>
        </p:nvSpPr>
        <p:spPr>
          <a:xfrm>
            <a:off x="511575" y="691175"/>
            <a:ext cx="101808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600">
                <a:solidFill>
                  <a:srgbClr val="0E71BA"/>
                </a:solidFill>
              </a:rPr>
              <a:t>Interpretabilidade x explicabilidade</a:t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207" name="Google Shape;207;g2d5eec22272_0_13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g2d5eec22272_0_13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09" name="Google Shape;209;g2d5eec22272_0_13"/>
          <p:cNvSpPr/>
          <p:nvPr/>
        </p:nvSpPr>
        <p:spPr>
          <a:xfrm>
            <a:off x="210900" y="2319200"/>
            <a:ext cx="1297800" cy="43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0" name="Google Shape;210;g2d5eec22272_0_13"/>
          <p:cNvSpPr txBox="1"/>
          <p:nvPr/>
        </p:nvSpPr>
        <p:spPr>
          <a:xfrm>
            <a:off x="685450" y="1592875"/>
            <a:ext cx="93225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3650">
            <a:spAutoFit/>
          </a:bodyPr>
          <a:lstStyle/>
          <a:p>
            <a:pPr indent="0" lvl="0" marL="127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1" name="Google Shape;211;g2d5eec22272_0_13"/>
          <p:cNvSpPr txBox="1"/>
          <p:nvPr/>
        </p:nvSpPr>
        <p:spPr>
          <a:xfrm>
            <a:off x="402700" y="1724675"/>
            <a:ext cx="9888000" cy="39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</a:t>
            </a:r>
            <a:r>
              <a:rPr b="1" i="0" lang="pt-BR" sz="23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interpretabilidade</a:t>
            </a:r>
            <a:r>
              <a:rPr b="0" i="0" lang="pt-BR" sz="23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é o grau em que um observador pode entender a causa de uma decisão. </a:t>
            </a:r>
            <a:endParaRPr b="0" i="0" sz="23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É a taxa de sucesso com que os humanos podem prever o resultado de uma saída de IA.</a:t>
            </a:r>
            <a:endParaRPr b="0" i="0" sz="23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</a:t>
            </a:r>
            <a:r>
              <a:rPr b="1" i="0" lang="pt-BR" sz="23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explicabilidade</a:t>
            </a:r>
            <a:r>
              <a:rPr b="0" i="0" lang="pt-BR" sz="23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vai um passo além e analisa como a IA chegou ao resultado.</a:t>
            </a:r>
            <a:endParaRPr b="0" i="0" sz="23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2d5eec22272_0_34"/>
          <p:cNvSpPr txBox="1"/>
          <p:nvPr>
            <p:ph type="title"/>
          </p:nvPr>
        </p:nvSpPr>
        <p:spPr>
          <a:xfrm>
            <a:off x="511575" y="691175"/>
            <a:ext cx="101808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600">
                <a:solidFill>
                  <a:srgbClr val="0E71BA"/>
                </a:solidFill>
              </a:rPr>
              <a:t>IA Explicável (XAI)</a:t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217" name="Google Shape;217;g2d5eec22272_0_34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g2d5eec22272_0_34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19" name="Google Shape;219;g2d5eec22272_0_34"/>
          <p:cNvSpPr/>
          <p:nvPr/>
        </p:nvSpPr>
        <p:spPr>
          <a:xfrm>
            <a:off x="210900" y="2319200"/>
            <a:ext cx="1297800" cy="43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0" name="Google Shape;220;g2d5eec22272_0_34"/>
          <p:cNvSpPr txBox="1"/>
          <p:nvPr/>
        </p:nvSpPr>
        <p:spPr>
          <a:xfrm>
            <a:off x="685450" y="1592875"/>
            <a:ext cx="93225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3650">
            <a:spAutoFit/>
          </a:bodyPr>
          <a:lstStyle/>
          <a:p>
            <a:pPr indent="0" lvl="0" marL="127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1" name="Google Shape;221;g2d5eec22272_0_34"/>
          <p:cNvSpPr txBox="1"/>
          <p:nvPr/>
        </p:nvSpPr>
        <p:spPr>
          <a:xfrm>
            <a:off x="402700" y="1724675"/>
            <a:ext cx="9888000" cy="30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XAI implementa técnicas e métodos específicos para garantir que cada decisão tomada durante o processo de ML possa ser r</a:t>
            </a:r>
            <a:r>
              <a:rPr b="1" i="0" lang="pt-BR" sz="23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astreada e explicada</a:t>
            </a:r>
            <a:r>
              <a:rPr b="0" i="0" lang="pt-BR" sz="23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b="0" i="0" sz="23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Não confundir com a </a:t>
            </a:r>
            <a:r>
              <a:rPr b="0" i="0" lang="pt-BR" sz="2300" u="sng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xAI</a:t>
            </a:r>
            <a:r>
              <a:rPr b="0" i="0" lang="pt-BR" sz="23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b="0" i="0" sz="23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2d5eec22272_0_52"/>
          <p:cNvSpPr txBox="1"/>
          <p:nvPr>
            <p:ph type="title"/>
          </p:nvPr>
        </p:nvSpPr>
        <p:spPr>
          <a:xfrm>
            <a:off x="511575" y="691175"/>
            <a:ext cx="101808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600">
                <a:solidFill>
                  <a:srgbClr val="0E71BA"/>
                </a:solidFill>
              </a:rPr>
              <a:t>IA Explicável (XAI)</a:t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227" name="Google Shape;227;g2d5eec22272_0_52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g2d5eec22272_0_52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29" name="Google Shape;229;g2d5eec22272_0_52"/>
          <p:cNvSpPr/>
          <p:nvPr/>
        </p:nvSpPr>
        <p:spPr>
          <a:xfrm>
            <a:off x="210900" y="2319200"/>
            <a:ext cx="1297800" cy="43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0" name="Google Shape;230;g2d5eec22272_0_52"/>
          <p:cNvSpPr txBox="1"/>
          <p:nvPr/>
        </p:nvSpPr>
        <p:spPr>
          <a:xfrm>
            <a:off x="685450" y="1592875"/>
            <a:ext cx="93225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3650">
            <a:spAutoFit/>
          </a:bodyPr>
          <a:lstStyle/>
          <a:p>
            <a:pPr indent="0" lvl="0" marL="127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1" name="Google Shape;231;g2d5eec22272_0_52"/>
          <p:cNvSpPr txBox="1"/>
          <p:nvPr/>
        </p:nvSpPr>
        <p:spPr>
          <a:xfrm>
            <a:off x="402700" y="1724675"/>
            <a:ext cx="9888000" cy="4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Atualmente, conseguimos uma explicação mais clara para alguns modelos de IA, especialmente para algoritmos mais simples, como árvores de decisão e regressão logística.</a:t>
            </a:r>
            <a:endParaRPr b="0" i="0" sz="23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Para modelos mais complexos, como DL, ainda há desafios significativos para tornar seus processos de tomada de decisão totalmente transparentes e compreensíveis para os humanos.</a:t>
            </a:r>
            <a:endParaRPr b="0" i="0" sz="23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32" name="Google Shape;232;g2d5eec22272_0_52"/>
          <p:cNvPicPr preferRelativeResize="0"/>
          <p:nvPr/>
        </p:nvPicPr>
        <p:blipFill rotWithShape="1">
          <a:blip r:embed="rId4">
            <a:alphaModFix/>
          </a:blip>
          <a:srcRect b="54591" l="0" r="37818" t="15888"/>
          <a:stretch/>
        </p:blipFill>
        <p:spPr>
          <a:xfrm>
            <a:off x="2343350" y="5217223"/>
            <a:ext cx="5685850" cy="1515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2d5eec22272_0_64"/>
          <p:cNvSpPr txBox="1"/>
          <p:nvPr>
            <p:ph type="title"/>
          </p:nvPr>
        </p:nvSpPr>
        <p:spPr>
          <a:xfrm>
            <a:off x="511575" y="691175"/>
            <a:ext cx="101808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600">
                <a:solidFill>
                  <a:srgbClr val="0E71BA"/>
                </a:solidFill>
              </a:rPr>
              <a:t>IA Explicável (XAI)</a:t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238" name="Google Shape;238;g2d5eec22272_0_64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g2d5eec22272_0_64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40" name="Google Shape;240;g2d5eec22272_0_64"/>
          <p:cNvSpPr/>
          <p:nvPr/>
        </p:nvSpPr>
        <p:spPr>
          <a:xfrm>
            <a:off x="210900" y="2319200"/>
            <a:ext cx="1297800" cy="43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1" name="Google Shape;241;g2d5eec22272_0_64"/>
          <p:cNvSpPr txBox="1"/>
          <p:nvPr/>
        </p:nvSpPr>
        <p:spPr>
          <a:xfrm>
            <a:off x="685450" y="1592875"/>
            <a:ext cx="93225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3650">
            <a:spAutoFit/>
          </a:bodyPr>
          <a:lstStyle/>
          <a:p>
            <a:pPr indent="0" lvl="0" marL="127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42" name="Google Shape;242;g2d5eec22272_0_64"/>
          <p:cNvPicPr preferRelativeResize="0"/>
          <p:nvPr/>
        </p:nvPicPr>
        <p:blipFill rotWithShape="1">
          <a:blip r:embed="rId4">
            <a:alphaModFix/>
          </a:blip>
          <a:srcRect b="0" l="1449" r="-1449" t="0"/>
          <a:stretch/>
        </p:blipFill>
        <p:spPr>
          <a:xfrm>
            <a:off x="1287901" y="1592874"/>
            <a:ext cx="8319974" cy="5199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2d5eec22272_0_0"/>
          <p:cNvSpPr txBox="1"/>
          <p:nvPr>
            <p:ph type="title"/>
          </p:nvPr>
        </p:nvSpPr>
        <p:spPr>
          <a:xfrm>
            <a:off x="511575" y="691175"/>
            <a:ext cx="101808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600">
                <a:solidFill>
                  <a:srgbClr val="0E71BA"/>
                </a:solidFill>
              </a:rPr>
              <a:t>IA Explicável</a:t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248" name="Google Shape;248;g2d5eec22272_0_0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g2d5eec22272_0_0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50" name="Google Shape;250;g2d5eec22272_0_0"/>
          <p:cNvSpPr/>
          <p:nvPr/>
        </p:nvSpPr>
        <p:spPr>
          <a:xfrm>
            <a:off x="210900" y="2319200"/>
            <a:ext cx="1297800" cy="43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1" name="Google Shape;251;g2d5eec22272_0_0"/>
          <p:cNvSpPr txBox="1"/>
          <p:nvPr/>
        </p:nvSpPr>
        <p:spPr>
          <a:xfrm>
            <a:off x="685450" y="1592875"/>
            <a:ext cx="93225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3650">
            <a:spAutoFit/>
          </a:bodyPr>
          <a:lstStyle/>
          <a:p>
            <a:pPr indent="0" lvl="0" marL="12700" marR="5080" rtl="0" algn="l">
              <a:lnSpc>
                <a:spcPct val="118437"/>
              </a:lnSpc>
              <a:spcBef>
                <a:spcPts val="108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52" name="Google Shape;252;g2d5eec22272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28000" y="2319200"/>
            <a:ext cx="8281476" cy="3795675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g2d5eec22272_0_0"/>
          <p:cNvSpPr txBox="1"/>
          <p:nvPr/>
        </p:nvSpPr>
        <p:spPr>
          <a:xfrm>
            <a:off x="3429000" y="2471300"/>
            <a:ext cx="23430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pt-BR" sz="19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Black box</a:t>
            </a:r>
            <a:endParaRPr b="0" i="0" sz="19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4" name="Google Shape;254;g2d5eec22272_0_0"/>
          <p:cNvSpPr txBox="1"/>
          <p:nvPr/>
        </p:nvSpPr>
        <p:spPr>
          <a:xfrm>
            <a:off x="277900" y="3048225"/>
            <a:ext cx="2090100" cy="4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pt-BR" sz="19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Today</a:t>
            </a:r>
            <a:endParaRPr b="0" i="0" sz="19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5" name="Google Shape;255;g2d5eec22272_0_0"/>
          <p:cNvSpPr txBox="1"/>
          <p:nvPr/>
        </p:nvSpPr>
        <p:spPr>
          <a:xfrm>
            <a:off x="93775" y="4728000"/>
            <a:ext cx="2090100" cy="4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pt-BR" sz="19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“Tomorrow”</a:t>
            </a:r>
            <a:endParaRPr b="0" i="0" sz="19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2023-07-02T21:27:13Z</dcterms:created>
  <dc:creator>Online2PDF.com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2015-09-23T00:00:00Z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2023-07-02T00:00:00Z</vt:filetime>
  </property>
</Properties>
</file>