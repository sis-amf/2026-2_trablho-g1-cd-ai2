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</p:sldIdLst>
  <p:sldSz cy="7556500" cx="10693400"/>
  <p:notesSz cx="10693400" cy="7556500"/>
  <p:embeddedFontLst>
    <p:embeddedFont>
      <p:font typeface="Montserrat"/>
      <p:regular r:id="rId63"/>
      <p:bold r:id="rId64"/>
      <p:italic r:id="rId65"/>
      <p:boldItalic r:id="rId66"/>
    </p:embeddedFont>
    <p:embeddedFont>
      <p:font typeface="Montserrat Black"/>
      <p:bold r:id="rId67"/>
      <p:boldItalic r:id="rId68"/>
    </p:embeddedFont>
    <p:embeddedFont>
      <p:font typeface="Helvetica Neue"/>
      <p:regular r:id="rId69"/>
      <p:bold r:id="rId70"/>
      <p:italic r:id="rId71"/>
      <p:boldItalic r:id="rId7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r:id="rId73" roundtripDataSignature="AMtx7miMB5WdvvwWklTfUwSSP9GfeTNh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D85FE6C-5B09-46B0-A810-C9B1D2D4C52D}">
  <a:tblStyle styleId="{ED85FE6C-5B09-46B0-A810-C9B1D2D4C52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customschemas.google.com/relationships/presentationmetadata" Target="metadata"/><Relationship Id="rId72" Type="http://schemas.openxmlformats.org/officeDocument/2006/relationships/font" Target="fonts/HelveticaNeue-boldItalic.fntdata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71" Type="http://schemas.openxmlformats.org/officeDocument/2006/relationships/font" Target="fonts/HelveticaNeue-italic.fntdata"/><Relationship Id="rId70" Type="http://schemas.openxmlformats.org/officeDocument/2006/relationships/font" Target="fonts/HelveticaNeue-bold.fntdata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font" Target="fonts/Montserrat-bold.fntdata"/><Relationship Id="rId63" Type="http://schemas.openxmlformats.org/officeDocument/2006/relationships/font" Target="fonts/Montserrat-regular.fntdata"/><Relationship Id="rId22" Type="http://schemas.openxmlformats.org/officeDocument/2006/relationships/slide" Target="slides/slide16.xml"/><Relationship Id="rId66" Type="http://schemas.openxmlformats.org/officeDocument/2006/relationships/font" Target="fonts/Montserrat-boldItalic.fntdata"/><Relationship Id="rId21" Type="http://schemas.openxmlformats.org/officeDocument/2006/relationships/slide" Target="slides/slide15.xml"/><Relationship Id="rId65" Type="http://schemas.openxmlformats.org/officeDocument/2006/relationships/font" Target="fonts/Montserrat-italic.fntdata"/><Relationship Id="rId24" Type="http://schemas.openxmlformats.org/officeDocument/2006/relationships/slide" Target="slides/slide18.xml"/><Relationship Id="rId68" Type="http://schemas.openxmlformats.org/officeDocument/2006/relationships/font" Target="fonts/MontserratBlack-boldItalic.fntdata"/><Relationship Id="rId23" Type="http://schemas.openxmlformats.org/officeDocument/2006/relationships/slide" Target="slides/slide17.xml"/><Relationship Id="rId67" Type="http://schemas.openxmlformats.org/officeDocument/2006/relationships/font" Target="fonts/MontserratBlack-bold.fntdata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font" Target="fonts/HelveticaNeue-regular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782575" y="566725"/>
            <a:ext cx="7129275" cy="28336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/>
          <p:nvPr>
            <p:ph idx="1" type="body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0" name="Google Shape;60;p2:notes"/>
          <p:cNvSpPr/>
          <p:nvPr>
            <p:ph idx="2" type="sldImg"/>
          </p:nvPr>
        </p:nvSpPr>
        <p:spPr>
          <a:xfrm>
            <a:off x="1782575" y="566725"/>
            <a:ext cx="7129275" cy="28336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204fabc35a_0_2392:notes"/>
          <p:cNvSpPr/>
          <p:nvPr>
            <p:ph idx="2" type="sldImg"/>
          </p:nvPr>
        </p:nvSpPr>
        <p:spPr>
          <a:xfrm>
            <a:off x="1563573" y="566738"/>
            <a:ext cx="7566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g2204fabc35a_0_2392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f174543b14_2_194:notes"/>
          <p:cNvSpPr/>
          <p:nvPr>
            <p:ph idx="2" type="sldImg"/>
          </p:nvPr>
        </p:nvSpPr>
        <p:spPr>
          <a:xfrm>
            <a:off x="1563573" y="566738"/>
            <a:ext cx="7566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g2f174543b14_2_194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f174543b14_2_202:notes"/>
          <p:cNvSpPr/>
          <p:nvPr>
            <p:ph idx="2" type="sldImg"/>
          </p:nvPr>
        </p:nvSpPr>
        <p:spPr>
          <a:xfrm>
            <a:off x="1563573" y="566738"/>
            <a:ext cx="7566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g2f174543b14_2_202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204fabc35a_0_2300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" name="Google Shape;93;g2204fabc35a_0_2300:notes"/>
          <p:cNvSpPr/>
          <p:nvPr>
            <p:ph idx="2" type="sldImg"/>
          </p:nvPr>
        </p:nvSpPr>
        <p:spPr>
          <a:xfrm>
            <a:off x="1563913" y="566738"/>
            <a:ext cx="75666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204fabc35a_0_2305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" name="Google Shape;101;g2204fabc35a_0_2305:notes"/>
          <p:cNvSpPr/>
          <p:nvPr>
            <p:ph idx="2" type="sldImg"/>
          </p:nvPr>
        </p:nvSpPr>
        <p:spPr>
          <a:xfrm>
            <a:off x="1563913" y="566738"/>
            <a:ext cx="75666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204fabc35a_0_2312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0" name="Google Shape;110;g2204fabc35a_0_2312:notes"/>
          <p:cNvSpPr/>
          <p:nvPr>
            <p:ph idx="2" type="sldImg"/>
          </p:nvPr>
        </p:nvSpPr>
        <p:spPr>
          <a:xfrm>
            <a:off x="1563913" y="566738"/>
            <a:ext cx="75666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204fabc35a_0_2317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" name="Google Shape;117;g2204fabc35a_0_2317:notes"/>
          <p:cNvSpPr/>
          <p:nvPr>
            <p:ph idx="2" type="sldImg"/>
          </p:nvPr>
        </p:nvSpPr>
        <p:spPr>
          <a:xfrm>
            <a:off x="1563913" y="566738"/>
            <a:ext cx="75666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204fabc35a_0_2323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5" name="Google Shape;125;g2204fabc35a_0_2323:notes"/>
          <p:cNvSpPr/>
          <p:nvPr>
            <p:ph idx="2" type="sldImg"/>
          </p:nvPr>
        </p:nvSpPr>
        <p:spPr>
          <a:xfrm>
            <a:off x="1563913" y="566738"/>
            <a:ext cx="75666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204fabc35a_0_2330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g2204fabc35a_0_2330:notes"/>
          <p:cNvSpPr/>
          <p:nvPr>
            <p:ph idx="2" type="sldImg"/>
          </p:nvPr>
        </p:nvSpPr>
        <p:spPr>
          <a:xfrm>
            <a:off x="1563913" y="566738"/>
            <a:ext cx="75666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204fabc35a_0_2337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" name="Google Shape;143;g2204fabc35a_0_2337:notes"/>
          <p:cNvSpPr/>
          <p:nvPr>
            <p:ph idx="2" type="sldImg"/>
          </p:nvPr>
        </p:nvSpPr>
        <p:spPr>
          <a:xfrm>
            <a:off x="1563913" y="566738"/>
            <a:ext cx="75666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204fabc35a_0_2343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1" name="Google Shape;151;g2204fabc35a_0_2343:notes"/>
          <p:cNvSpPr/>
          <p:nvPr>
            <p:ph idx="2" type="sldImg"/>
          </p:nvPr>
        </p:nvSpPr>
        <p:spPr>
          <a:xfrm>
            <a:off x="1563913" y="566738"/>
            <a:ext cx="75666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204fabc35a_0_2348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8" name="Google Shape;158;g2204fabc35a_0_2348:notes"/>
          <p:cNvSpPr/>
          <p:nvPr>
            <p:ph idx="2" type="sldImg"/>
          </p:nvPr>
        </p:nvSpPr>
        <p:spPr>
          <a:xfrm>
            <a:off x="1563913" y="566738"/>
            <a:ext cx="75666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20570bd03a_0_23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g220570bd03a_0_23:notes"/>
          <p:cNvSpPr/>
          <p:nvPr>
            <p:ph idx="2" type="sldImg"/>
          </p:nvPr>
        </p:nvSpPr>
        <p:spPr>
          <a:xfrm>
            <a:off x="1563913" y="566738"/>
            <a:ext cx="75666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204fabc35a_0_1832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5" name="Google Shape;175;g2204fabc35a_0_1832:notes"/>
          <p:cNvSpPr/>
          <p:nvPr>
            <p:ph idx="2" type="sldImg"/>
          </p:nvPr>
        </p:nvSpPr>
        <p:spPr>
          <a:xfrm>
            <a:off x="1563913" y="566738"/>
            <a:ext cx="75666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204fabc35a_0_1848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3" name="Google Shape;193;g2204fabc35a_0_1848:notes"/>
          <p:cNvSpPr/>
          <p:nvPr>
            <p:ph idx="2" type="sldImg"/>
          </p:nvPr>
        </p:nvSpPr>
        <p:spPr>
          <a:xfrm>
            <a:off x="1563913" y="566738"/>
            <a:ext cx="75666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204fabc35a_0_1854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1" name="Google Shape;201;g2204fabc35a_0_1854:notes"/>
          <p:cNvSpPr/>
          <p:nvPr>
            <p:ph idx="2" type="sldImg"/>
          </p:nvPr>
        </p:nvSpPr>
        <p:spPr>
          <a:xfrm>
            <a:off x="1563913" y="566738"/>
            <a:ext cx="75666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204fabc35a_0_1871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0" name="Google Shape;220;g2204fabc35a_0_1871:notes"/>
          <p:cNvSpPr/>
          <p:nvPr>
            <p:ph idx="2" type="sldImg"/>
          </p:nvPr>
        </p:nvSpPr>
        <p:spPr>
          <a:xfrm>
            <a:off x="1563913" y="566738"/>
            <a:ext cx="75666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204fabc35a_0_1879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0" name="Google Shape;230;g2204fabc35a_0_1879:notes"/>
          <p:cNvSpPr/>
          <p:nvPr>
            <p:ph idx="2" type="sldImg"/>
          </p:nvPr>
        </p:nvSpPr>
        <p:spPr>
          <a:xfrm>
            <a:off x="1563913" y="566738"/>
            <a:ext cx="75666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2204fabc35a_0_1897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8" name="Google Shape;238;g2204fabc35a_0_1897:notes"/>
          <p:cNvSpPr/>
          <p:nvPr>
            <p:ph idx="2" type="sldImg"/>
          </p:nvPr>
        </p:nvSpPr>
        <p:spPr>
          <a:xfrm>
            <a:off x="1563913" y="566738"/>
            <a:ext cx="75666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204fabc35a_0_1908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1" name="Google Shape;251;g2204fabc35a_0_1908:notes"/>
          <p:cNvSpPr/>
          <p:nvPr>
            <p:ph idx="2" type="sldImg"/>
          </p:nvPr>
        </p:nvSpPr>
        <p:spPr>
          <a:xfrm>
            <a:off x="1563913" y="566738"/>
            <a:ext cx="75666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2204fabc35a_0_1924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9" name="Google Shape;269;g2204fabc35a_0_1924:notes"/>
          <p:cNvSpPr/>
          <p:nvPr>
            <p:ph idx="2" type="sldImg"/>
          </p:nvPr>
        </p:nvSpPr>
        <p:spPr>
          <a:xfrm>
            <a:off x="1563913" y="566738"/>
            <a:ext cx="75666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2204fabc35a_1_8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6" name="Google Shape;276;g2204fabc35a_1_8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204fabc35a_1_59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5" name="Google Shape;285;g2204fabc35a_1_59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204fabc35a_1_111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5" name="Google Shape;295;g2204fabc35a_1_111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2204fabc35a_1_119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4" name="Google Shape;304;g2204fabc35a_1_119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2204fabc35a_1_128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4" name="Google Shape;314;g2204fabc35a_1_128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2204fabc35a_0_1929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4" name="Google Shape;324;g2204fabc35a_0_1929:notes"/>
          <p:cNvSpPr/>
          <p:nvPr>
            <p:ph idx="2" type="sldImg"/>
          </p:nvPr>
        </p:nvSpPr>
        <p:spPr>
          <a:xfrm>
            <a:off x="1563913" y="566738"/>
            <a:ext cx="75666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2204fabc35a_0_1945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2" name="Google Shape;342;g2204fabc35a_0_1945:notes"/>
          <p:cNvSpPr/>
          <p:nvPr>
            <p:ph idx="2" type="sldImg"/>
          </p:nvPr>
        </p:nvSpPr>
        <p:spPr>
          <a:xfrm>
            <a:off x="1563913" y="566738"/>
            <a:ext cx="75666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2204fabc35a_0_1950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9" name="Google Shape;349;g2204fabc35a_0_1950:notes"/>
          <p:cNvSpPr/>
          <p:nvPr>
            <p:ph idx="2" type="sldImg"/>
          </p:nvPr>
        </p:nvSpPr>
        <p:spPr>
          <a:xfrm>
            <a:off x="1563913" y="566738"/>
            <a:ext cx="75666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2204fabc35a_0_2411:notes"/>
          <p:cNvSpPr/>
          <p:nvPr>
            <p:ph idx="2" type="sldImg"/>
          </p:nvPr>
        </p:nvSpPr>
        <p:spPr>
          <a:xfrm>
            <a:off x="1563573" y="566738"/>
            <a:ext cx="7566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" name="Google Shape;356;g2204fabc35a_0_2411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2204fabc35a_0_2420:notes"/>
          <p:cNvSpPr/>
          <p:nvPr>
            <p:ph idx="2" type="sldImg"/>
          </p:nvPr>
        </p:nvSpPr>
        <p:spPr>
          <a:xfrm>
            <a:off x="1563573" y="566738"/>
            <a:ext cx="7566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g2204fabc35a_0_2420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2204fabc35a_0_2482:notes"/>
          <p:cNvSpPr/>
          <p:nvPr>
            <p:ph idx="2" type="sldImg"/>
          </p:nvPr>
        </p:nvSpPr>
        <p:spPr>
          <a:xfrm>
            <a:off x="1563573" y="566738"/>
            <a:ext cx="7566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" name="Google Shape;370;g2204fabc35a_0_2482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2204fabc35a_0_2492:notes"/>
          <p:cNvSpPr/>
          <p:nvPr>
            <p:ph idx="2" type="sldImg"/>
          </p:nvPr>
        </p:nvSpPr>
        <p:spPr>
          <a:xfrm>
            <a:off x="1563573" y="566738"/>
            <a:ext cx="7566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" name="Google Shape;377;g2204fabc35a_0_2492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2204fabc35a_0_2502:notes"/>
          <p:cNvSpPr/>
          <p:nvPr>
            <p:ph idx="2" type="sldImg"/>
          </p:nvPr>
        </p:nvSpPr>
        <p:spPr>
          <a:xfrm>
            <a:off x="1563573" y="566738"/>
            <a:ext cx="7566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4" name="Google Shape;384;g2204fabc35a_0_2502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2204fabc35a_0_2428:notes"/>
          <p:cNvSpPr/>
          <p:nvPr>
            <p:ph idx="2" type="sldImg"/>
          </p:nvPr>
        </p:nvSpPr>
        <p:spPr>
          <a:xfrm>
            <a:off x="1563573" y="566738"/>
            <a:ext cx="7566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1" name="Google Shape;391;g2204fabc35a_0_2428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220570bd03a_0_6:notes"/>
          <p:cNvSpPr/>
          <p:nvPr>
            <p:ph idx="2" type="sldImg"/>
          </p:nvPr>
        </p:nvSpPr>
        <p:spPr>
          <a:xfrm>
            <a:off x="1563573" y="566738"/>
            <a:ext cx="7566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9" name="Google Shape;399;g220570bd03a_0_6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220570bd03a_0_0:notes"/>
          <p:cNvSpPr/>
          <p:nvPr>
            <p:ph idx="2" type="sldImg"/>
          </p:nvPr>
        </p:nvSpPr>
        <p:spPr>
          <a:xfrm>
            <a:off x="1563573" y="566738"/>
            <a:ext cx="7566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8" name="Google Shape;408;g220570bd03a_0_0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2204fabc35a_0_2436:notes"/>
          <p:cNvSpPr/>
          <p:nvPr>
            <p:ph idx="2" type="sldImg"/>
          </p:nvPr>
        </p:nvSpPr>
        <p:spPr>
          <a:xfrm>
            <a:off x="1563573" y="566738"/>
            <a:ext cx="7566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5" name="Google Shape;415;g2204fabc35a_0_2436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2204fabc35a_0_2444:notes"/>
          <p:cNvSpPr/>
          <p:nvPr>
            <p:ph idx="2" type="sldImg"/>
          </p:nvPr>
        </p:nvSpPr>
        <p:spPr>
          <a:xfrm>
            <a:off x="1563573" y="566738"/>
            <a:ext cx="7566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4" name="Google Shape;424;g2204fabc35a_0_2444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2204fabc35a_0_2533:notes"/>
          <p:cNvSpPr/>
          <p:nvPr>
            <p:ph idx="2" type="sldImg"/>
          </p:nvPr>
        </p:nvSpPr>
        <p:spPr>
          <a:xfrm>
            <a:off x="1563573" y="566738"/>
            <a:ext cx="7566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1" name="Google Shape;431;g2204fabc35a_0_2533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2204fabc35a_0_2543:notes"/>
          <p:cNvSpPr/>
          <p:nvPr>
            <p:ph idx="2" type="sldImg"/>
          </p:nvPr>
        </p:nvSpPr>
        <p:spPr>
          <a:xfrm>
            <a:off x="1563573" y="566738"/>
            <a:ext cx="7566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8" name="Google Shape;438;g2204fabc35a_0_2543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220570bd03a_0_46:notes"/>
          <p:cNvSpPr/>
          <p:nvPr>
            <p:ph idx="2" type="sldImg"/>
          </p:nvPr>
        </p:nvSpPr>
        <p:spPr>
          <a:xfrm>
            <a:off x="1563573" y="566738"/>
            <a:ext cx="7566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7" name="Google Shape;447;g220570bd03a_0_46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2204fabc35a_0_2452:notes"/>
          <p:cNvSpPr/>
          <p:nvPr>
            <p:ph idx="2" type="sldImg"/>
          </p:nvPr>
        </p:nvSpPr>
        <p:spPr>
          <a:xfrm>
            <a:off x="1563573" y="566738"/>
            <a:ext cx="7566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4" name="Google Shape;454;g2204fabc35a_0_2452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2204fabc35a_0_2470:notes"/>
          <p:cNvSpPr/>
          <p:nvPr>
            <p:ph idx="2" type="sldImg"/>
          </p:nvPr>
        </p:nvSpPr>
        <p:spPr>
          <a:xfrm>
            <a:off x="1563573" y="566738"/>
            <a:ext cx="7566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2" name="Google Shape;462;g2204fabc35a_0_2470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2f174543b14_2_244:notes"/>
          <p:cNvSpPr/>
          <p:nvPr>
            <p:ph idx="2" type="sldImg"/>
          </p:nvPr>
        </p:nvSpPr>
        <p:spPr>
          <a:xfrm>
            <a:off x="1563573" y="566738"/>
            <a:ext cx="7566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9" name="Google Shape;469;g2f174543b14_2_244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2f174543b14_2_211:notes"/>
          <p:cNvSpPr/>
          <p:nvPr>
            <p:ph idx="2" type="sldImg"/>
          </p:nvPr>
        </p:nvSpPr>
        <p:spPr>
          <a:xfrm>
            <a:off x="1563573" y="566738"/>
            <a:ext cx="7566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7" name="Google Shape;477;g2f174543b14_2_211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2f174543b14_2_253:notes"/>
          <p:cNvSpPr/>
          <p:nvPr>
            <p:ph idx="2" type="sldImg"/>
          </p:nvPr>
        </p:nvSpPr>
        <p:spPr>
          <a:xfrm>
            <a:off x="1563573" y="566738"/>
            <a:ext cx="7566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5" name="Google Shape;485;g2f174543b14_2_253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2f174543b14_2_262:notes"/>
          <p:cNvSpPr/>
          <p:nvPr>
            <p:ph idx="2" type="sldImg"/>
          </p:nvPr>
        </p:nvSpPr>
        <p:spPr>
          <a:xfrm>
            <a:off x="1563573" y="566738"/>
            <a:ext cx="7566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3" name="Google Shape;493;g2f174543b14_2_262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2f174543b14_2_271:notes"/>
          <p:cNvSpPr/>
          <p:nvPr>
            <p:ph idx="2" type="sldImg"/>
          </p:nvPr>
        </p:nvSpPr>
        <p:spPr>
          <a:xfrm>
            <a:off x="1563573" y="566738"/>
            <a:ext cx="7566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3" name="Google Shape;503;g2f174543b14_2_271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2f174543b14_2_219:notes"/>
          <p:cNvSpPr/>
          <p:nvPr>
            <p:ph idx="2" type="sldImg"/>
          </p:nvPr>
        </p:nvSpPr>
        <p:spPr>
          <a:xfrm>
            <a:off x="1563573" y="566738"/>
            <a:ext cx="7566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5" name="Google Shape;515;g2f174543b14_2_219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2f174543b14_2_283:notes"/>
          <p:cNvSpPr/>
          <p:nvPr>
            <p:ph idx="2" type="sldImg"/>
          </p:nvPr>
        </p:nvSpPr>
        <p:spPr>
          <a:xfrm>
            <a:off x="1564041" y="566738"/>
            <a:ext cx="7566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2" name="Google Shape;522;g2f174543b14_2_283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2f174543b14_2_290:notes"/>
          <p:cNvSpPr/>
          <p:nvPr>
            <p:ph idx="2" type="sldImg"/>
          </p:nvPr>
        </p:nvSpPr>
        <p:spPr>
          <a:xfrm>
            <a:off x="1564041" y="566738"/>
            <a:ext cx="7566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8" name="Google Shape;528;g2f174543b14_2_290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2f174543b14_2_1021:notes"/>
          <p:cNvSpPr/>
          <p:nvPr>
            <p:ph idx="2" type="sldImg"/>
          </p:nvPr>
        </p:nvSpPr>
        <p:spPr>
          <a:xfrm>
            <a:off x="1564041" y="566738"/>
            <a:ext cx="7566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4" name="Google Shape;534;g2f174543b14_2_1021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2204fabc35a_0_2354:notes"/>
          <p:cNvSpPr/>
          <p:nvPr>
            <p:ph idx="2" type="sldImg"/>
          </p:nvPr>
        </p:nvSpPr>
        <p:spPr>
          <a:xfrm>
            <a:off x="1564041" y="566738"/>
            <a:ext cx="75663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0" name="Google Shape;540;g2204fabc35a_0_2354:notes"/>
          <p:cNvSpPr txBox="1"/>
          <p:nvPr>
            <p:ph idx="1" type="body"/>
          </p:nvPr>
        </p:nvSpPr>
        <p:spPr>
          <a:xfrm>
            <a:off x="1069340" y="3589338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25f3584e39e_3_150:notes"/>
          <p:cNvSpPr txBox="1"/>
          <p:nvPr>
            <p:ph idx="1" type="body"/>
          </p:nvPr>
        </p:nvSpPr>
        <p:spPr>
          <a:xfrm>
            <a:off x="1069325" y="3589325"/>
            <a:ext cx="85548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0" name="Google Shape;550;g25f3584e39e_3_150:notes"/>
          <p:cNvSpPr/>
          <p:nvPr>
            <p:ph idx="2" type="sldImg"/>
          </p:nvPr>
        </p:nvSpPr>
        <p:spPr>
          <a:xfrm>
            <a:off x="1782575" y="566725"/>
            <a:ext cx="7129200" cy="28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9"/>
          <p:cNvSpPr txBox="1"/>
          <p:nvPr>
            <p:ph type="title"/>
          </p:nvPr>
        </p:nvSpPr>
        <p:spPr>
          <a:xfrm>
            <a:off x="626465" y="480822"/>
            <a:ext cx="8199755" cy="1276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100">
                <a:solidFill>
                  <a:srgbClr val="D2523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9"/>
          <p:cNvSpPr txBox="1"/>
          <p:nvPr>
            <p:ph idx="1" type="body"/>
          </p:nvPr>
        </p:nvSpPr>
        <p:spPr>
          <a:xfrm>
            <a:off x="626465" y="1711867"/>
            <a:ext cx="9218930" cy="1711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700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9"/>
          <p:cNvSpPr txBox="1"/>
          <p:nvPr>
            <p:ph idx="11" type="ftr"/>
          </p:nvPr>
        </p:nvSpPr>
        <p:spPr>
          <a:xfrm>
            <a:off x="3637915" y="7027545"/>
            <a:ext cx="3423920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9"/>
          <p:cNvSpPr txBox="1"/>
          <p:nvPr>
            <p:ph idx="10" type="dt"/>
          </p:nvPr>
        </p:nvSpPr>
        <p:spPr>
          <a:xfrm>
            <a:off x="534987" y="7027545"/>
            <a:ext cx="2460942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9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2f174543b14_2_1013"/>
          <p:cNvSpPr txBox="1"/>
          <p:nvPr>
            <p:ph type="title"/>
          </p:nvPr>
        </p:nvSpPr>
        <p:spPr>
          <a:xfrm>
            <a:off x="364516" y="653802"/>
            <a:ext cx="9964500" cy="8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6" name="Google Shape;26;g2f174543b14_2_1013"/>
          <p:cNvSpPr txBox="1"/>
          <p:nvPr>
            <p:ph idx="1" type="body"/>
          </p:nvPr>
        </p:nvSpPr>
        <p:spPr>
          <a:xfrm>
            <a:off x="364516" y="1693142"/>
            <a:ext cx="9964500" cy="50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rmAutofit/>
          </a:bodyPr>
          <a:lstStyle>
            <a:lvl1pPr indent="-3746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7" name="Google Shape;27;g2f174543b14_2_1013"/>
          <p:cNvSpPr txBox="1"/>
          <p:nvPr>
            <p:ph idx="12" type="sldNum"/>
          </p:nvPr>
        </p:nvSpPr>
        <p:spPr>
          <a:xfrm>
            <a:off x="9908069" y="6850899"/>
            <a:ext cx="641700" cy="5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6050" lIns="116050" spcFirstLastPara="1" rIns="116050" wrap="square" tIns="1160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OBJECT_1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2204fabc35a_0_2184"/>
          <p:cNvSpPr txBox="1"/>
          <p:nvPr>
            <p:ph type="title"/>
          </p:nvPr>
        </p:nvSpPr>
        <p:spPr>
          <a:xfrm>
            <a:off x="798410" y="547565"/>
            <a:ext cx="9096300" cy="6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g2204fabc35a_0_2184"/>
          <p:cNvSpPr txBox="1"/>
          <p:nvPr>
            <p:ph idx="1" type="body"/>
          </p:nvPr>
        </p:nvSpPr>
        <p:spPr>
          <a:xfrm>
            <a:off x="625266" y="1660882"/>
            <a:ext cx="9443100" cy="42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g2204fabc35a_0_2184"/>
          <p:cNvSpPr txBox="1"/>
          <p:nvPr>
            <p:ph idx="11" type="ftr"/>
          </p:nvPr>
        </p:nvSpPr>
        <p:spPr>
          <a:xfrm>
            <a:off x="3635756" y="7027545"/>
            <a:ext cx="34221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g2204fabc35a_0_2184"/>
          <p:cNvSpPr txBox="1"/>
          <p:nvPr>
            <p:ph idx="10" type="dt"/>
          </p:nvPr>
        </p:nvSpPr>
        <p:spPr>
          <a:xfrm>
            <a:off x="534670" y="7027545"/>
            <a:ext cx="24594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g2204fabc35a_0_2184"/>
          <p:cNvSpPr txBox="1"/>
          <p:nvPr>
            <p:ph idx="12" type="sldNum"/>
          </p:nvPr>
        </p:nvSpPr>
        <p:spPr>
          <a:xfrm>
            <a:off x="7699248" y="7027545"/>
            <a:ext cx="2459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1"/>
          <p:cNvSpPr txBox="1"/>
          <p:nvPr>
            <p:ph type="title"/>
          </p:nvPr>
        </p:nvSpPr>
        <p:spPr>
          <a:xfrm>
            <a:off x="626465" y="480822"/>
            <a:ext cx="8199755" cy="1276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100">
                <a:solidFill>
                  <a:srgbClr val="D2523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1"/>
          <p:cNvSpPr txBox="1"/>
          <p:nvPr>
            <p:ph idx="11" type="ftr"/>
          </p:nvPr>
        </p:nvSpPr>
        <p:spPr>
          <a:xfrm>
            <a:off x="3637915" y="7027545"/>
            <a:ext cx="3423920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1"/>
          <p:cNvSpPr txBox="1"/>
          <p:nvPr>
            <p:ph idx="10" type="dt"/>
          </p:nvPr>
        </p:nvSpPr>
        <p:spPr>
          <a:xfrm>
            <a:off x="534987" y="7027545"/>
            <a:ext cx="2460942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1"/>
          <p:cNvSpPr txBox="1"/>
          <p:nvPr>
            <p:ph idx="12" type="sldNum"/>
          </p:nvPr>
        </p:nvSpPr>
        <p:spPr>
          <a:xfrm>
            <a:off x="8092120" y="116895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obj">
  <p:cSld name="OBJECT">
    <p:bg>
      <p:bgPr>
        <a:solidFill>
          <a:schemeClr val="lt1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8"/>
          <p:cNvSpPr/>
          <p:nvPr/>
        </p:nvSpPr>
        <p:spPr>
          <a:xfrm>
            <a:off x="0" y="0"/>
            <a:ext cx="10693400" cy="403225"/>
          </a:xfrm>
          <a:custGeom>
            <a:rect b="b" l="l" r="r" t="t"/>
            <a:pathLst>
              <a:path extrusionOk="0" h="403225" w="10693400">
                <a:moveTo>
                  <a:pt x="10693400" y="0"/>
                </a:moveTo>
                <a:lnTo>
                  <a:pt x="0" y="0"/>
                </a:lnTo>
                <a:lnTo>
                  <a:pt x="0" y="403009"/>
                </a:lnTo>
                <a:lnTo>
                  <a:pt x="10693400" y="403009"/>
                </a:lnTo>
                <a:lnTo>
                  <a:pt x="10693400" y="0"/>
                </a:lnTo>
                <a:close/>
              </a:path>
            </a:pathLst>
          </a:custGeom>
          <a:solidFill>
            <a:srgbClr val="92A19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48"/>
          <p:cNvSpPr/>
          <p:nvPr/>
        </p:nvSpPr>
        <p:spPr>
          <a:xfrm>
            <a:off x="802005" y="3744722"/>
            <a:ext cx="9178925" cy="1905"/>
          </a:xfrm>
          <a:custGeom>
            <a:rect b="b" l="l" r="r" t="t"/>
            <a:pathLst>
              <a:path extrusionOk="0" h="1904" w="9178925">
                <a:moveTo>
                  <a:pt x="0" y="0"/>
                </a:moveTo>
                <a:lnTo>
                  <a:pt x="9178544" y="1650"/>
                </a:lnTo>
              </a:path>
            </a:pathLst>
          </a:custGeom>
          <a:noFill/>
          <a:ln cap="flat" cmpd="sng" w="19050">
            <a:solidFill>
              <a:srgbClr val="D252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48"/>
          <p:cNvSpPr txBox="1"/>
          <p:nvPr>
            <p:ph type="ctrTitle"/>
          </p:nvPr>
        </p:nvSpPr>
        <p:spPr>
          <a:xfrm>
            <a:off x="893775" y="2602814"/>
            <a:ext cx="8912199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8"/>
          <p:cNvSpPr txBox="1"/>
          <p:nvPr>
            <p:ph idx="1" type="subTitle"/>
          </p:nvPr>
        </p:nvSpPr>
        <p:spPr>
          <a:xfrm>
            <a:off x="1604962" y="4231640"/>
            <a:ext cx="7489825" cy="188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8"/>
          <p:cNvSpPr txBox="1"/>
          <p:nvPr>
            <p:ph idx="11" type="ftr"/>
          </p:nvPr>
        </p:nvSpPr>
        <p:spPr>
          <a:xfrm>
            <a:off x="3637915" y="7027545"/>
            <a:ext cx="3423920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48"/>
          <p:cNvSpPr txBox="1"/>
          <p:nvPr>
            <p:ph idx="10" type="dt"/>
          </p:nvPr>
        </p:nvSpPr>
        <p:spPr>
          <a:xfrm>
            <a:off x="534987" y="7027545"/>
            <a:ext cx="2460942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48"/>
          <p:cNvSpPr txBox="1"/>
          <p:nvPr>
            <p:ph idx="12" type="sldNum"/>
          </p:nvPr>
        </p:nvSpPr>
        <p:spPr>
          <a:xfrm>
            <a:off x="8092120" y="116895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0"/>
          <p:cNvSpPr txBox="1"/>
          <p:nvPr>
            <p:ph type="title"/>
          </p:nvPr>
        </p:nvSpPr>
        <p:spPr>
          <a:xfrm>
            <a:off x="626465" y="480822"/>
            <a:ext cx="8199755" cy="1276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100">
                <a:solidFill>
                  <a:srgbClr val="D2523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50"/>
          <p:cNvSpPr txBox="1"/>
          <p:nvPr>
            <p:ph idx="1" type="body"/>
          </p:nvPr>
        </p:nvSpPr>
        <p:spPr>
          <a:xfrm>
            <a:off x="534987" y="1737995"/>
            <a:ext cx="4654391" cy="4987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50"/>
          <p:cNvSpPr txBox="1"/>
          <p:nvPr>
            <p:ph idx="2" type="body"/>
          </p:nvPr>
        </p:nvSpPr>
        <p:spPr>
          <a:xfrm>
            <a:off x="5510371" y="1737995"/>
            <a:ext cx="4654391" cy="4987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0"/>
          <p:cNvSpPr txBox="1"/>
          <p:nvPr>
            <p:ph idx="11" type="ftr"/>
          </p:nvPr>
        </p:nvSpPr>
        <p:spPr>
          <a:xfrm>
            <a:off x="3637915" y="7027545"/>
            <a:ext cx="3423920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0"/>
          <p:cNvSpPr txBox="1"/>
          <p:nvPr>
            <p:ph idx="10" type="dt"/>
          </p:nvPr>
        </p:nvSpPr>
        <p:spPr>
          <a:xfrm>
            <a:off x="534987" y="7027545"/>
            <a:ext cx="2460942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0"/>
          <p:cNvSpPr txBox="1"/>
          <p:nvPr>
            <p:ph idx="12" type="sldNum"/>
          </p:nvPr>
        </p:nvSpPr>
        <p:spPr>
          <a:xfrm>
            <a:off x="8092120" y="116895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2"/>
          <p:cNvSpPr txBox="1"/>
          <p:nvPr>
            <p:ph idx="11" type="ftr"/>
          </p:nvPr>
        </p:nvSpPr>
        <p:spPr>
          <a:xfrm>
            <a:off x="3637915" y="7027545"/>
            <a:ext cx="3423920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2"/>
          <p:cNvSpPr txBox="1"/>
          <p:nvPr>
            <p:ph idx="10" type="dt"/>
          </p:nvPr>
        </p:nvSpPr>
        <p:spPr>
          <a:xfrm>
            <a:off x="534987" y="7027545"/>
            <a:ext cx="2460942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2"/>
          <p:cNvSpPr txBox="1"/>
          <p:nvPr>
            <p:ph idx="12" type="sldNum"/>
          </p:nvPr>
        </p:nvSpPr>
        <p:spPr>
          <a:xfrm>
            <a:off x="8092120" y="116895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7.jp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7.xml"/><Relationship Id="rId9" Type="http://schemas.openxmlformats.org/officeDocument/2006/relationships/slideLayout" Target="../slideLayouts/slideLayout6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47"/>
          <p:cNvGrpSpPr/>
          <p:nvPr/>
        </p:nvGrpSpPr>
        <p:grpSpPr>
          <a:xfrm>
            <a:off x="-50" y="-163100"/>
            <a:ext cx="10736274" cy="837200"/>
            <a:chOff x="-50" y="-152609"/>
            <a:chExt cx="10693500" cy="837200"/>
          </a:xfrm>
        </p:grpSpPr>
        <p:pic>
          <p:nvPicPr>
            <p:cNvPr id="7" name="Google Shape;7;p47"/>
            <p:cNvPicPr preferRelativeResize="0"/>
            <p:nvPr/>
          </p:nvPicPr>
          <p:blipFill rotWithShape="1">
            <a:blip r:embed="rId1">
              <a:alphaModFix/>
            </a:blip>
            <a:srcRect b="0" l="0" r="0" t="0"/>
            <a:stretch/>
          </p:blipFill>
          <p:spPr>
            <a:xfrm>
              <a:off x="-50" y="-152609"/>
              <a:ext cx="1506924" cy="83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" name="Google Shape;8;p47"/>
            <p:cNvSpPr/>
            <p:nvPr/>
          </p:nvSpPr>
          <p:spPr>
            <a:xfrm>
              <a:off x="-50" y="0"/>
              <a:ext cx="10693500" cy="543000"/>
            </a:xfrm>
            <a:prstGeom prst="rect">
              <a:avLst/>
            </a:prstGeom>
            <a:solidFill>
              <a:srgbClr val="0E71BA"/>
            </a:solidFill>
            <a:ln cap="flat" cmpd="sng" w="9525">
              <a:solidFill>
                <a:srgbClr val="0E71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" name="Google Shape;9;p47"/>
          <p:cNvSpPr txBox="1"/>
          <p:nvPr>
            <p:ph type="title"/>
          </p:nvPr>
        </p:nvSpPr>
        <p:spPr>
          <a:xfrm>
            <a:off x="626465" y="480822"/>
            <a:ext cx="8199755" cy="1276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100" u="none" cap="none" strike="noStrike">
                <a:solidFill>
                  <a:srgbClr val="D2523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47"/>
          <p:cNvSpPr txBox="1"/>
          <p:nvPr>
            <p:ph idx="1" type="body"/>
          </p:nvPr>
        </p:nvSpPr>
        <p:spPr>
          <a:xfrm>
            <a:off x="626465" y="1711867"/>
            <a:ext cx="9218930" cy="1711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47"/>
          <p:cNvSpPr txBox="1"/>
          <p:nvPr>
            <p:ph idx="11" type="ftr"/>
          </p:nvPr>
        </p:nvSpPr>
        <p:spPr>
          <a:xfrm>
            <a:off x="3637915" y="7027545"/>
            <a:ext cx="3423920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47"/>
          <p:cNvSpPr txBox="1"/>
          <p:nvPr>
            <p:ph idx="10" type="dt"/>
          </p:nvPr>
        </p:nvSpPr>
        <p:spPr>
          <a:xfrm>
            <a:off x="534987" y="7027545"/>
            <a:ext cx="2460942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3" name="Google Shape;13;p4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50" y="-139350"/>
            <a:ext cx="1429351" cy="794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47"/>
          <p:cNvSpPr txBox="1"/>
          <p:nvPr>
            <p:ph idx="12" type="sldNum"/>
          </p:nvPr>
        </p:nvSpPr>
        <p:spPr>
          <a:xfrm>
            <a:off x="8092120" y="116895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 sz="1400"/>
          </a:p>
        </p:txBody>
      </p:sp>
      <p:sp>
        <p:nvSpPr>
          <p:cNvPr id="15" name="Google Shape;15;p47"/>
          <p:cNvSpPr txBox="1"/>
          <p:nvPr/>
        </p:nvSpPr>
        <p:spPr>
          <a:xfrm>
            <a:off x="2628039" y="74888"/>
            <a:ext cx="521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Inteligência Artificial I</a:t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" name="Google Shape;16;p47"/>
          <p:cNvPicPr preferRelativeResize="0"/>
          <p:nvPr/>
        </p:nvPicPr>
        <p:blipFill rotWithShape="1">
          <a:blip r:embed="rId2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53850" y="29376"/>
            <a:ext cx="742650" cy="49122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rhauani.fazul@amf.edu.br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Relationship Id="rId4" Type="http://schemas.openxmlformats.org/officeDocument/2006/relationships/image" Target="../media/image15.jpg"/><Relationship Id="rId5" Type="http://schemas.openxmlformats.org/officeDocument/2006/relationships/image" Target="../media/image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jpg"/><Relationship Id="rId4" Type="http://schemas.openxmlformats.org/officeDocument/2006/relationships/image" Target="../media/image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jpg"/><Relationship Id="rId4" Type="http://schemas.openxmlformats.org/officeDocument/2006/relationships/image" Target="../media/image8.jpg"/><Relationship Id="rId5" Type="http://schemas.openxmlformats.org/officeDocument/2006/relationships/image" Target="../media/image7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jpg"/><Relationship Id="rId4" Type="http://schemas.openxmlformats.org/officeDocument/2006/relationships/image" Target="../media/image6.jpg"/><Relationship Id="rId5" Type="http://schemas.openxmlformats.org/officeDocument/2006/relationships/image" Target="../media/image7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jpg"/><Relationship Id="rId4" Type="http://schemas.openxmlformats.org/officeDocument/2006/relationships/image" Target="../media/image7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7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jpg"/><Relationship Id="rId4" Type="http://schemas.openxmlformats.org/officeDocument/2006/relationships/image" Target="../media/image7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0.jpg"/><Relationship Id="rId4" Type="http://schemas.openxmlformats.org/officeDocument/2006/relationships/image" Target="../media/image7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9.jpg"/><Relationship Id="rId4" Type="http://schemas.openxmlformats.org/officeDocument/2006/relationships/image" Target="../media/image18.jpg"/><Relationship Id="rId5" Type="http://schemas.openxmlformats.org/officeDocument/2006/relationships/image" Target="../media/image7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4.jpg"/><Relationship Id="rId4" Type="http://schemas.openxmlformats.org/officeDocument/2006/relationships/image" Target="../media/image7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1.jpg"/><Relationship Id="rId4" Type="http://schemas.openxmlformats.org/officeDocument/2006/relationships/image" Target="../media/image20.jpg"/><Relationship Id="rId5" Type="http://schemas.openxmlformats.org/officeDocument/2006/relationships/image" Target="../media/image7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2.jpg"/><Relationship Id="rId4" Type="http://schemas.openxmlformats.org/officeDocument/2006/relationships/image" Target="../media/image28.jpg"/><Relationship Id="rId5" Type="http://schemas.openxmlformats.org/officeDocument/2006/relationships/image" Target="../media/image7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7.jpg"/><Relationship Id="rId4" Type="http://schemas.openxmlformats.org/officeDocument/2006/relationships/image" Target="../media/image7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jpg"/><Relationship Id="rId4" Type="http://schemas.openxmlformats.org/officeDocument/2006/relationships/image" Target="../media/image23.jpg"/><Relationship Id="rId9" Type="http://schemas.openxmlformats.org/officeDocument/2006/relationships/image" Target="../media/image7.jpg"/><Relationship Id="rId5" Type="http://schemas.openxmlformats.org/officeDocument/2006/relationships/image" Target="../media/image37.jpg"/><Relationship Id="rId6" Type="http://schemas.openxmlformats.org/officeDocument/2006/relationships/image" Target="../media/image22.jpg"/><Relationship Id="rId7" Type="http://schemas.openxmlformats.org/officeDocument/2006/relationships/image" Target="../media/image19.jpg"/><Relationship Id="rId8" Type="http://schemas.openxmlformats.org/officeDocument/2006/relationships/image" Target="../media/image4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1.jpg"/><Relationship Id="rId4" Type="http://schemas.openxmlformats.org/officeDocument/2006/relationships/image" Target="../media/image26.jpg"/><Relationship Id="rId5" Type="http://schemas.openxmlformats.org/officeDocument/2006/relationships/image" Target="../media/image7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jpg"/><Relationship Id="rId4" Type="http://schemas.openxmlformats.org/officeDocument/2006/relationships/image" Target="../media/image3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jpg"/><Relationship Id="rId4" Type="http://schemas.openxmlformats.org/officeDocument/2006/relationships/image" Target="../media/image38.png"/><Relationship Id="rId5" Type="http://schemas.openxmlformats.org/officeDocument/2006/relationships/image" Target="../media/image3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jpg"/><Relationship Id="rId4" Type="http://schemas.openxmlformats.org/officeDocument/2006/relationships/image" Target="../media/image3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.jpg"/><Relationship Id="rId4" Type="http://schemas.openxmlformats.org/officeDocument/2006/relationships/hyperlink" Target="https://www.tylervigen.com/spurious-correlations" TargetMode="External"/><Relationship Id="rId5" Type="http://schemas.openxmlformats.org/officeDocument/2006/relationships/image" Target="../media/image4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0.jpg"/><Relationship Id="rId4" Type="http://schemas.openxmlformats.org/officeDocument/2006/relationships/image" Target="../media/image62.jpg"/><Relationship Id="rId5" Type="http://schemas.openxmlformats.org/officeDocument/2006/relationships/image" Target="../media/image7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6.png"/><Relationship Id="rId4" Type="http://schemas.openxmlformats.org/officeDocument/2006/relationships/hyperlink" Target="https://www.engadget.com/2017-05-15-not-hotdog-app-hbo-silicon-valley.html" TargetMode="Externa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3.png"/><Relationship Id="rId4" Type="http://schemas.openxmlformats.org/officeDocument/2006/relationships/image" Target="../media/image4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3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7.png"/><Relationship Id="rId4" Type="http://schemas.openxmlformats.org/officeDocument/2006/relationships/image" Target="../media/image4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://www.shodor.org/interactivate/activities/Fire/" TargetMode="Externa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6.png"/><Relationship Id="rId4" Type="http://schemas.openxmlformats.org/officeDocument/2006/relationships/hyperlink" Target="https://www.youtube.com/watch?v=NZlIYr1slAk&amp;t=245s" TargetMode="Externa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9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55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8.jp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51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4.png"/><Relationship Id="rId4" Type="http://schemas.openxmlformats.org/officeDocument/2006/relationships/image" Target="../media/image58.png"/><Relationship Id="rId5" Type="http://schemas.openxmlformats.org/officeDocument/2006/relationships/image" Target="../media/image57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0.png"/><Relationship Id="rId4" Type="http://schemas.openxmlformats.org/officeDocument/2006/relationships/image" Target="../media/image56.png"/><Relationship Id="rId5" Type="http://schemas.openxmlformats.org/officeDocument/2006/relationships/image" Target="../media/image52.png"/><Relationship Id="rId6" Type="http://schemas.openxmlformats.org/officeDocument/2006/relationships/image" Target="../media/image60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hyperlink" Target="https://www.youtube.com/watch?v=O68y0yRZL1Y" TargetMode="External"/><Relationship Id="rId4" Type="http://schemas.openxmlformats.org/officeDocument/2006/relationships/image" Target="../media/image53.png"/><Relationship Id="rId5" Type="http://schemas.openxmlformats.org/officeDocument/2006/relationships/hyperlink" Target="https://openai.com/index/testing-ads-in-chatgpt/" TargetMode="External"/><Relationship Id="rId6" Type="http://schemas.openxmlformats.org/officeDocument/2006/relationships/image" Target="../media/image61.png"/><Relationship Id="rId7" Type="http://schemas.openxmlformats.org/officeDocument/2006/relationships/image" Target="../media/image59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/>
          <p:nvPr/>
        </p:nvSpPr>
        <p:spPr>
          <a:xfrm>
            <a:off x="803439" y="3038047"/>
            <a:ext cx="9183900" cy="6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00"/>
              <a:buFont typeface="Arial"/>
              <a:buNone/>
            </a:pPr>
            <a:r>
              <a:rPr b="0" i="0" lang="pt-BR" sz="3900" u="none" cap="none" strike="noStrike">
                <a:solidFill>
                  <a:srgbClr val="0E71B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Aula 2 - Introdução à IA</a:t>
            </a:r>
            <a:endParaRPr b="0" i="0" sz="3900" u="none" cap="none" strike="noStrike">
              <a:solidFill>
                <a:srgbClr val="0E71B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3" name="Google Shape;63;p2"/>
          <p:cNvSpPr txBox="1"/>
          <p:nvPr/>
        </p:nvSpPr>
        <p:spPr>
          <a:xfrm>
            <a:off x="893775" y="3893312"/>
            <a:ext cx="22734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pt-BR" sz="2700" u="none" cap="none" strike="noStrike">
                <a:solidFill>
                  <a:srgbClr val="56566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Rhauani Fazul</a:t>
            </a:r>
            <a:endParaRPr b="0" i="0" sz="27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64" name="Google Shape;64;p2"/>
          <p:cNvCxnSpPr/>
          <p:nvPr/>
        </p:nvCxnSpPr>
        <p:spPr>
          <a:xfrm>
            <a:off x="803450" y="3742670"/>
            <a:ext cx="9183900" cy="0"/>
          </a:xfrm>
          <a:prstGeom prst="straightConnector1">
            <a:avLst/>
          </a:prstGeom>
          <a:noFill/>
          <a:ln cap="flat" cmpd="sng" w="28575">
            <a:solidFill>
              <a:srgbClr val="0E71B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" name="Google Shape;65;p2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6" name="Google Shape;66;p2"/>
          <p:cNvSpPr txBox="1"/>
          <p:nvPr/>
        </p:nvSpPr>
        <p:spPr>
          <a:xfrm>
            <a:off x="816216" y="4247302"/>
            <a:ext cx="2460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uFill>
                  <a:noFill/>
                </a:uFill>
                <a:latin typeface="Helvetica Neue"/>
                <a:ea typeface="Helvetica Neue"/>
                <a:cs typeface="Helvetica Neue"/>
                <a:sym typeface="Helvetica Neue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rhauani.fazul@amf.edu.br</a:t>
            </a:r>
            <a:r>
              <a:rPr b="0" i="0" lang="pt-BR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 b="0" i="0" sz="14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7" name="Google Shape;67;p2"/>
          <p:cNvSpPr txBox="1"/>
          <p:nvPr/>
        </p:nvSpPr>
        <p:spPr>
          <a:xfrm>
            <a:off x="812850" y="1475450"/>
            <a:ext cx="331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Inteligência Artificial</a:t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8" name="Google Shape;68;p2"/>
          <p:cNvSpPr txBox="1"/>
          <p:nvPr/>
        </p:nvSpPr>
        <p:spPr>
          <a:xfrm>
            <a:off x="812850" y="1262700"/>
            <a:ext cx="331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Sistemas de Informação | AMF</a:t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9" name="Google Shape;69;p2"/>
          <p:cNvSpPr txBox="1"/>
          <p:nvPr/>
        </p:nvSpPr>
        <p:spPr>
          <a:xfrm>
            <a:off x="812850" y="1716182"/>
            <a:ext cx="331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13</a:t>
            </a:r>
            <a:r>
              <a:rPr b="0" i="0" lang="pt-BR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 março de 202</a:t>
            </a: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204fabc35a_0_2392"/>
          <p:cNvSpPr txBox="1"/>
          <p:nvPr>
            <p:ph idx="4294967295" type="ctrTitle"/>
          </p:nvPr>
        </p:nvSpPr>
        <p:spPr>
          <a:xfrm>
            <a:off x="531200" y="316566"/>
            <a:ext cx="7130700" cy="182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6050" lIns="116050" spcFirstLastPara="1" rIns="116050" wrap="square" tIns="1160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b="0" i="0" lang="pt-BR" sz="3200" u="none" cap="none" strike="noStrike">
                <a:solidFill>
                  <a:schemeClr val="accen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I</a:t>
            </a:r>
            <a:r>
              <a:rPr b="0" i="0" lang="pt-BR" sz="3200" u="none" cap="none" strike="noStrik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nteligência</a:t>
            </a:r>
            <a:r>
              <a:rPr b="0" i="0" lang="pt-BR" sz="3200" u="none" cap="none" strike="noStrike">
                <a:solidFill>
                  <a:schemeClr val="accen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A</a:t>
            </a:r>
            <a:r>
              <a:rPr b="0" i="0" lang="pt-BR" sz="3200" u="none" cap="none" strike="noStrik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rtificial </a:t>
            </a:r>
            <a:r>
              <a:rPr b="0" i="0" lang="pt-BR" sz="3200" u="none" cap="none" strike="noStrike">
                <a:solidFill>
                  <a:schemeClr val="accen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(IA)</a:t>
            </a:r>
            <a:endParaRPr b="0" i="0" sz="3200" u="none" cap="none" strike="noStrike">
              <a:solidFill>
                <a:schemeClr val="accent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75" name="Google Shape;75;g2204fabc35a_0_2392"/>
          <p:cNvSpPr txBox="1"/>
          <p:nvPr/>
        </p:nvSpPr>
        <p:spPr>
          <a:xfrm>
            <a:off x="73147" y="1962686"/>
            <a:ext cx="9900300" cy="41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spAutoFit/>
          </a:bodyPr>
          <a:lstStyle/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IA é a simulação de processos de inteligência humana por máquinas, especialmente sistemas de computador.</a:t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Envolve processos como aprendizado, raciocínio, e autocorreção.</a:t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1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Exemplos?</a:t>
            </a:r>
            <a:endParaRPr b="1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f174543b14_2_194"/>
          <p:cNvSpPr txBox="1"/>
          <p:nvPr>
            <p:ph idx="4294967295" type="ctrTitle"/>
          </p:nvPr>
        </p:nvSpPr>
        <p:spPr>
          <a:xfrm>
            <a:off x="197450" y="86141"/>
            <a:ext cx="7130700" cy="182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6050" lIns="116050" spcFirstLastPara="1" rIns="116050" wrap="square" tIns="1160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b="0" i="0" lang="pt-BR" sz="3200" u="none" cap="none" strike="noStrike">
                <a:solidFill>
                  <a:schemeClr val="accen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I</a:t>
            </a:r>
            <a:r>
              <a:rPr b="0" i="0" lang="pt-BR" sz="3200" u="none" cap="none" strike="noStrik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nteligência</a:t>
            </a:r>
            <a:r>
              <a:rPr b="0" i="0" lang="pt-BR" sz="3200" u="none" cap="none" strike="noStrike">
                <a:solidFill>
                  <a:schemeClr val="accen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A</a:t>
            </a:r>
            <a:r>
              <a:rPr b="0" i="0" lang="pt-BR" sz="3200" u="none" cap="none" strike="noStrik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rtificial </a:t>
            </a:r>
            <a:r>
              <a:rPr b="0" i="0" lang="pt-BR" sz="3200" u="none" cap="none" strike="noStrike">
                <a:solidFill>
                  <a:schemeClr val="accen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(IA)</a:t>
            </a:r>
            <a:endParaRPr b="0" i="0" sz="3200" u="none" cap="none" strike="noStrike">
              <a:solidFill>
                <a:schemeClr val="accent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81" name="Google Shape;81;g2f174543b14_2_194"/>
          <p:cNvSpPr txBox="1"/>
          <p:nvPr/>
        </p:nvSpPr>
        <p:spPr>
          <a:xfrm>
            <a:off x="65200" y="1525650"/>
            <a:ext cx="10270500" cy="46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spAutoFit/>
          </a:bodyPr>
          <a:lstStyle/>
          <a:p>
            <a:pPr indent="-317500" lvl="0" marL="469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Montserrat"/>
              <a:buChar char="➔"/>
            </a:pPr>
            <a:r>
              <a:rPr b="0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Abrange </a:t>
            </a:r>
            <a:r>
              <a:rPr b="1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muitas disciplinas</a:t>
            </a:r>
            <a:r>
              <a:rPr b="0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incluindo ciência da computação, </a:t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584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análise e estatística de dados, engenharia de </a:t>
            </a:r>
            <a:r>
              <a:rPr b="0" i="1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hardware</a:t>
            </a:r>
            <a:r>
              <a:rPr b="0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e </a:t>
            </a:r>
            <a:r>
              <a:rPr b="0" i="1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software</a:t>
            </a:r>
            <a:r>
              <a:rPr b="0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linguística, neurociência e até mesmo filosofia e psicologia;</a:t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584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69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Montserrat"/>
              <a:buChar char="➔"/>
            </a:pPr>
            <a:r>
              <a:rPr b="0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Em um nível operacional para uso comercial, entende-se como um conjunto de tecnologias que permitem aos computadores executar uma variedade de </a:t>
            </a:r>
            <a:r>
              <a:rPr b="1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funções avançadas</a:t>
            </a:r>
            <a:r>
              <a:rPr b="0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1155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ontserrat"/>
              <a:buChar char="○"/>
            </a:pPr>
            <a:r>
              <a:rPr b="0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Capacidade de entender, ver, prever, categorizar, traduzir, analisar dados, fazer recomendações e muito mais. </a:t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f174543b14_2_202"/>
          <p:cNvSpPr txBox="1"/>
          <p:nvPr>
            <p:ph idx="4294967295" type="ctrTitle"/>
          </p:nvPr>
        </p:nvSpPr>
        <p:spPr>
          <a:xfrm>
            <a:off x="132625" y="215791"/>
            <a:ext cx="7130700" cy="182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6050" lIns="116050" spcFirstLastPara="1" rIns="116050" wrap="square" tIns="1160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b="0" i="0" lang="pt-BR" sz="3200" u="none" cap="none" strike="noStrike">
                <a:solidFill>
                  <a:schemeClr val="accen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I</a:t>
            </a:r>
            <a:r>
              <a:rPr b="0" i="0" lang="pt-BR" sz="3200" u="none" cap="none" strike="noStrik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nteligência</a:t>
            </a:r>
            <a:r>
              <a:rPr b="0" i="0" lang="pt-BR" sz="3200" u="none" cap="none" strike="noStrike">
                <a:solidFill>
                  <a:schemeClr val="accen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A</a:t>
            </a:r>
            <a:r>
              <a:rPr b="0" i="0" lang="pt-BR" sz="3200" u="none" cap="none" strike="noStrik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rtificial </a:t>
            </a:r>
            <a:r>
              <a:rPr b="0" i="0" lang="pt-BR" sz="3200" u="none" cap="none" strike="noStrike">
                <a:solidFill>
                  <a:schemeClr val="accen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(IA)</a:t>
            </a:r>
            <a:endParaRPr b="0" i="0" sz="3200" u="none" cap="none" strike="noStrike">
              <a:solidFill>
                <a:schemeClr val="accent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pic>
        <p:nvPicPr>
          <p:cNvPr id="87" name="Google Shape;87;g2f174543b14_2_202"/>
          <p:cNvPicPr preferRelativeResize="0"/>
          <p:nvPr/>
        </p:nvPicPr>
        <p:blipFill rotWithShape="1">
          <a:blip r:embed="rId3">
            <a:alphaModFix/>
          </a:blip>
          <a:srcRect b="0" l="0" r="0" t="5285"/>
          <a:stretch/>
        </p:blipFill>
        <p:spPr>
          <a:xfrm>
            <a:off x="5901025" y="1119100"/>
            <a:ext cx="4570125" cy="56104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g2f174543b14_2_202"/>
          <p:cNvSpPr txBox="1"/>
          <p:nvPr/>
        </p:nvSpPr>
        <p:spPr>
          <a:xfrm>
            <a:off x="421672" y="1165392"/>
            <a:ext cx="3204600" cy="7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g2f174543b14_2_202"/>
          <p:cNvSpPr txBox="1"/>
          <p:nvPr/>
        </p:nvSpPr>
        <p:spPr>
          <a:xfrm>
            <a:off x="74447" y="2099811"/>
            <a:ext cx="6377700" cy="27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spAutoFit/>
          </a:bodyPr>
          <a:lstStyle/>
          <a:p>
            <a:pPr indent="-317500" lvl="0" marL="469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2200"/>
              <a:buFont typeface="Montserrat"/>
              <a:buChar char="➔"/>
            </a:pPr>
            <a:r>
              <a:rPr b="0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 termo é frequentemente usado de forma intercambiável com seus subcampos;</a:t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69900" marR="0" rtl="0" algn="l">
              <a:lnSpc>
                <a:spcPct val="150000"/>
              </a:lnSpc>
              <a:spcBef>
                <a:spcPts val="1300"/>
              </a:spcBef>
              <a:spcAft>
                <a:spcPts val="0"/>
              </a:spcAft>
              <a:buClr>
                <a:srgbClr val="4285F4"/>
              </a:buClr>
              <a:buSzPts val="2200"/>
              <a:buFont typeface="Montserrat"/>
              <a:buChar char="➔"/>
            </a:pPr>
            <a:r>
              <a:rPr b="0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É uma “novidade” antiga (datada da </a:t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584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década de 1950).</a:t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" name="Google Shape;90;g2f174543b14_2_202"/>
          <p:cNvSpPr txBox="1"/>
          <p:nvPr/>
        </p:nvSpPr>
        <p:spPr>
          <a:xfrm>
            <a:off x="317825" y="5370100"/>
            <a:ext cx="51630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1956: Conferência de Dartmouth, “nascimento” da 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Anos 60-70: Sistemas especialistas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Anos 80: Redescoberta das Redes Neurais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Anos 2000+: Machine Learning e Deep Learning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204fabc35a_0_2300"/>
          <p:cNvSpPr txBox="1"/>
          <p:nvPr>
            <p:ph type="title"/>
          </p:nvPr>
        </p:nvSpPr>
        <p:spPr>
          <a:xfrm>
            <a:off x="1182050" y="302350"/>
            <a:ext cx="87483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5000"/>
              <a:t>Linha do Tempo (resumida) da IA</a:t>
            </a:r>
            <a:endParaRPr sz="5000"/>
          </a:p>
        </p:txBody>
      </p:sp>
      <p:pic>
        <p:nvPicPr>
          <p:cNvPr id="96" name="Google Shape;96;g2204fabc35a_0_23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9275" y="1357600"/>
            <a:ext cx="10233140" cy="59576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g2204fabc35a_0_2300"/>
          <p:cNvSpPr txBox="1"/>
          <p:nvPr/>
        </p:nvSpPr>
        <p:spPr>
          <a:xfrm>
            <a:off x="1644950" y="7183575"/>
            <a:ext cx="89949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Slides a seguir (sem tarja) são baseados no material do Prof. Gustavo Batista</a:t>
            </a:r>
            <a:endParaRPr b="0" i="0" sz="14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98" name="Google Shape;98;g2204fabc35a_0_2300"/>
          <p:cNvPicPr preferRelativeResize="0"/>
          <p:nvPr/>
        </p:nvPicPr>
        <p:blipFill rotWithShape="1">
          <a:blip r:embed="rId4">
            <a:alphaModFix/>
          </a:blip>
          <a:srcRect b="25066" l="0" r="0" t="0"/>
          <a:stretch/>
        </p:blipFill>
        <p:spPr>
          <a:xfrm>
            <a:off x="13074" y="6716953"/>
            <a:ext cx="1085525" cy="81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204fabc35a_0_2305"/>
          <p:cNvSpPr txBox="1"/>
          <p:nvPr>
            <p:ph type="title"/>
          </p:nvPr>
        </p:nvSpPr>
        <p:spPr>
          <a:xfrm>
            <a:off x="729075" y="512500"/>
            <a:ext cx="76044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8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Deep Blue x Kasparov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4" name="Google Shape;104;g2204fabc35a_0_2305"/>
          <p:cNvSpPr txBox="1"/>
          <p:nvPr/>
        </p:nvSpPr>
        <p:spPr>
          <a:xfrm>
            <a:off x="626752" y="2191525"/>
            <a:ext cx="5078100" cy="23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75">
            <a:spAutoFit/>
          </a:bodyPr>
          <a:lstStyle/>
          <a:p>
            <a:pPr indent="-355600" lvl="0" marL="406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Char char="•"/>
            </a:pPr>
            <a:r>
              <a:rPr b="0" i="0" lang="pt-BR" sz="3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Deep Blue: sistema  desenvolvido pela IBM  para jogar xadrez, que  venceu o campeão Gary  Kasparov em 1997.</a:t>
            </a:r>
            <a:endParaRPr b="0" i="0" sz="30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05" name="Google Shape;105;g2204fabc35a_0_23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50876" y="2099028"/>
            <a:ext cx="3826800" cy="2487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106" name="Google Shape;106;g2204fabc35a_0_230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50876" y="4785783"/>
            <a:ext cx="3838800" cy="2478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107" name="Google Shape;107;g2204fabc35a_0_2305"/>
          <p:cNvPicPr preferRelativeResize="0"/>
          <p:nvPr/>
        </p:nvPicPr>
        <p:blipFill rotWithShape="1">
          <a:blip r:embed="rId5">
            <a:alphaModFix/>
          </a:blip>
          <a:srcRect b="25066" l="0" r="0" t="0"/>
          <a:stretch/>
        </p:blipFill>
        <p:spPr>
          <a:xfrm>
            <a:off x="39221" y="6703879"/>
            <a:ext cx="1085525" cy="81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204fabc35a_0_2312"/>
          <p:cNvSpPr txBox="1"/>
          <p:nvPr>
            <p:ph type="title"/>
          </p:nvPr>
        </p:nvSpPr>
        <p:spPr>
          <a:xfrm>
            <a:off x="1941901" y="508950"/>
            <a:ext cx="66837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5000">
                <a:latin typeface="Helvetica Neue"/>
                <a:ea typeface="Helvetica Neue"/>
                <a:cs typeface="Helvetica Neue"/>
                <a:sym typeface="Helvetica Neue"/>
              </a:rPr>
              <a:t>Deep Blue x Kasparov</a:t>
            </a:r>
            <a:endParaRPr sz="50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3" name="Google Shape;113;g2204fabc35a_0_2312"/>
          <p:cNvSpPr txBox="1"/>
          <p:nvPr/>
        </p:nvSpPr>
        <p:spPr>
          <a:xfrm>
            <a:off x="927593" y="1822096"/>
            <a:ext cx="8712300" cy="3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825">
            <a:spAutoFit/>
          </a:bodyPr>
          <a:lstStyle/>
          <a:p>
            <a:pPr indent="-368300" lvl="0" marL="406400" marR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Char char="•"/>
            </a:pPr>
            <a:r>
              <a:rPr b="0" i="0" lang="pt-BR" sz="2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Deep Blue utiliza uma grande árvore de busca e  examina 200.000.000 movimentos por segundo</a:t>
            </a:r>
            <a:endParaRPr b="0" i="0" sz="2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1" marL="863600" marR="1524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–"/>
            </a:pPr>
            <a:r>
              <a:rPr b="0" i="0" lang="pt-BR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Banco de dados com jogadas de grandes mestres nos  últimos 100 anos (inclusive as do Kasparov)</a:t>
            </a:r>
            <a:endParaRPr b="0" i="0" sz="2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1" marL="863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–"/>
            </a:pPr>
            <a:r>
              <a:rPr b="0" i="0" lang="pt-BR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Sem aprendizado durante o jogo</a:t>
            </a:r>
            <a:endParaRPr b="0" i="0" sz="2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8300" lvl="0" marL="406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Char char="•"/>
            </a:pPr>
            <a:r>
              <a:rPr b="0" i="0" lang="pt-BR" sz="2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Um jogador profissional de xadrez examina  aproximadamente dois movimentos por segundo</a:t>
            </a:r>
            <a:endParaRPr b="0" i="0" sz="2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8300" lvl="0" marL="406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Char char="•"/>
            </a:pPr>
            <a:r>
              <a:rPr b="0" i="0" lang="pt-BR" sz="2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Venceu Kasparov essencialmente por força bruta</a:t>
            </a:r>
            <a:endParaRPr b="0" i="0" sz="2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14" name="Google Shape;114;g2204fabc35a_0_2312"/>
          <p:cNvPicPr preferRelativeResize="0"/>
          <p:nvPr/>
        </p:nvPicPr>
        <p:blipFill rotWithShape="1">
          <a:blip r:embed="rId3">
            <a:alphaModFix/>
          </a:blip>
          <a:srcRect b="25066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204fabc35a_0_2317"/>
          <p:cNvSpPr txBox="1"/>
          <p:nvPr/>
        </p:nvSpPr>
        <p:spPr>
          <a:xfrm>
            <a:off x="799629" y="1904377"/>
            <a:ext cx="4512900" cy="44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575">
            <a:spAutoFit/>
          </a:bodyPr>
          <a:lstStyle/>
          <a:p>
            <a:pPr indent="-393700" lvl="0" marL="406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pt-BR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b="0" i="1" lang="pt-BR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 could feel – I could smell –  a new kind of intelligence  across the table</a:t>
            </a:r>
            <a:r>
              <a:rPr b="0" i="0" lang="pt-BR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06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 Garry Kasparov.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06400" marR="292100" rtl="0" algn="just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pt-BR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b="0" i="1" lang="pt-BR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Saying Deep Blue doesn’t  really think about chess is  like saying an airplane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06400" marR="1651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pt-BR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doesn’t really fly because it  doesn’t flap its wings</a:t>
            </a:r>
            <a:r>
              <a:rPr b="0" i="0" lang="pt-BR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.”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06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– Drew McDermott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2204fabc35a_0_2317"/>
          <p:cNvSpPr txBox="1"/>
          <p:nvPr>
            <p:ph type="title"/>
          </p:nvPr>
        </p:nvSpPr>
        <p:spPr>
          <a:xfrm>
            <a:off x="2386848" y="542100"/>
            <a:ext cx="78135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5000">
                <a:latin typeface="Helvetica Neue"/>
                <a:ea typeface="Helvetica Neue"/>
                <a:cs typeface="Helvetica Neue"/>
                <a:sym typeface="Helvetica Neue"/>
              </a:rPr>
              <a:t>Deep Blue x Kasparov</a:t>
            </a:r>
            <a:endParaRPr sz="50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21" name="Google Shape;121;g2204fabc35a_0_23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8802" y="1731278"/>
            <a:ext cx="3385200" cy="5252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122" name="Google Shape;122;g2204fabc35a_0_2317"/>
          <p:cNvPicPr preferRelativeResize="0"/>
          <p:nvPr/>
        </p:nvPicPr>
        <p:blipFill rotWithShape="1">
          <a:blip r:embed="rId4">
            <a:alphaModFix/>
          </a:blip>
          <a:srcRect b="25066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204fabc35a_0_2323"/>
          <p:cNvSpPr txBox="1"/>
          <p:nvPr>
            <p:ph type="title"/>
          </p:nvPr>
        </p:nvSpPr>
        <p:spPr>
          <a:xfrm>
            <a:off x="1825452" y="508944"/>
            <a:ext cx="7041300" cy="7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IBM Watson em Jeopardy!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8" name="Google Shape;128;g2204fabc35a_0_2323"/>
          <p:cNvSpPr txBox="1"/>
          <p:nvPr/>
        </p:nvSpPr>
        <p:spPr>
          <a:xfrm>
            <a:off x="626752" y="1775077"/>
            <a:ext cx="4869300" cy="26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825">
            <a:spAutoFit/>
          </a:bodyPr>
          <a:lstStyle/>
          <a:p>
            <a:pPr indent="-368300" lvl="0" marL="406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Char char="•"/>
            </a:pPr>
            <a:r>
              <a:rPr b="0" i="0" lang="pt-BR" sz="2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Watson é um sistema que  compreende linguagem  natural e venceu os dois  maiores campeões do  programa de TV Jeopardy!</a:t>
            </a:r>
            <a:endParaRPr b="0" i="0" sz="2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863600" marR="3048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29" name="Google Shape;129;g2204fabc35a_0_23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37817" y="2182989"/>
            <a:ext cx="3086400" cy="1805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130" name="Google Shape;130;g2204fabc35a_0_23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49708" y="4282017"/>
            <a:ext cx="2498700" cy="2225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131" name="Google Shape;131;g2204fabc35a_0_2323"/>
          <p:cNvPicPr preferRelativeResize="0"/>
          <p:nvPr/>
        </p:nvPicPr>
        <p:blipFill rotWithShape="1">
          <a:blip r:embed="rId5">
            <a:alphaModFix/>
          </a:blip>
          <a:srcRect b="25066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204fabc35a_0_2330"/>
          <p:cNvSpPr txBox="1"/>
          <p:nvPr>
            <p:ph type="title"/>
          </p:nvPr>
        </p:nvSpPr>
        <p:spPr>
          <a:xfrm>
            <a:off x="2169424" y="752011"/>
            <a:ext cx="63537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400">
                <a:latin typeface="Helvetica Neue"/>
                <a:ea typeface="Helvetica Neue"/>
                <a:cs typeface="Helvetica Neue"/>
                <a:sym typeface="Helvetica Neue"/>
              </a:rPr>
              <a:t>DARPA Grand Challenge</a:t>
            </a:r>
            <a:endParaRPr sz="4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7" name="Google Shape;137;g2204fabc35a_0_2330"/>
          <p:cNvSpPr txBox="1"/>
          <p:nvPr/>
        </p:nvSpPr>
        <p:spPr>
          <a:xfrm>
            <a:off x="626752" y="2115960"/>
            <a:ext cx="5406600" cy="46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175">
            <a:spAutoFit/>
          </a:bodyPr>
          <a:lstStyle/>
          <a:p>
            <a:pPr indent="-368300" lvl="0" marL="406400" marR="5334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Char char="•"/>
            </a:pPr>
            <a:r>
              <a:rPr b="0" i="0" lang="pt-BR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DARPA - Defense Advanced Research  Projects Agency</a:t>
            </a:r>
            <a:endParaRPr b="0" i="0" sz="20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8300" lvl="0" marL="406400" marR="76200" rtl="0" algn="l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Char char="•"/>
            </a:pPr>
            <a:r>
              <a:rPr b="0" i="0" lang="pt-BR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Competição para carros autônomos, ou  seja, são dirigidos sem interferência  humana. Com o uso de vários sensores e  de sistemas de posicionando, o veículo  determina todas as características  relevantes de seu ambiente.</a:t>
            </a:r>
            <a:endParaRPr b="0" i="0" sz="20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8300" lvl="0" marL="406400" marR="0" rtl="0" algn="l">
              <a:lnSpc>
                <a:spcPct val="102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Char char="•"/>
            </a:pPr>
            <a:r>
              <a:rPr b="0" i="0" lang="pt-BR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2004</a:t>
            </a:r>
            <a:endParaRPr b="0" i="0" sz="20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1" marL="863600" marR="0" rtl="0" algn="l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–"/>
            </a:pPr>
            <a:r>
              <a:rPr b="0" i="0" lang="pt-BR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142 milhas no deserto, 15 times, nenhum  vencedor, prêmio USD 1M.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8300" lvl="0" marL="406400" marR="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Char char="•"/>
            </a:pPr>
            <a:r>
              <a:rPr b="0" i="0" lang="pt-BR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2005</a:t>
            </a:r>
            <a:endParaRPr b="0" i="0" sz="20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1" marL="863600" marR="571500" rtl="0" algn="l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–"/>
            </a:pPr>
            <a:r>
              <a:rPr b="0" i="0" lang="pt-BR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131.2 milhas no deserto, 23 times, 4  completaram, prêmio USD 2M.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8300" lvl="0" marL="406400" marR="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Char char="•"/>
            </a:pPr>
            <a:r>
              <a:rPr b="0" i="0" lang="pt-BR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2007</a:t>
            </a:r>
            <a:endParaRPr b="0" i="0" sz="20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1" marL="863600" marR="50800" rtl="0" algn="l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–"/>
            </a:pPr>
            <a:r>
              <a:rPr b="0" i="0" lang="pt-BR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Circuito urbano em uma base da Força  Aérea americana.  60 milhas, 11  competidores, 6 terminaram, prêmios de  USD 2, USD 1 e USD 0,5 milhões.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38" name="Google Shape;138;g2204fabc35a_0_23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16040" y="2182989"/>
            <a:ext cx="4149000" cy="3205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139" name="Google Shape;139;g2204fabc35a_0_23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72487" y="5543111"/>
            <a:ext cx="2834400" cy="1172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140" name="Google Shape;140;g2204fabc35a_0_2330"/>
          <p:cNvPicPr preferRelativeResize="0"/>
          <p:nvPr/>
        </p:nvPicPr>
        <p:blipFill rotWithShape="1">
          <a:blip r:embed="rId5">
            <a:alphaModFix/>
          </a:blip>
          <a:srcRect b="25066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204fabc35a_0_2337"/>
          <p:cNvSpPr txBox="1"/>
          <p:nvPr>
            <p:ph type="title"/>
          </p:nvPr>
        </p:nvSpPr>
        <p:spPr>
          <a:xfrm>
            <a:off x="3962051" y="445375"/>
            <a:ext cx="31395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5000">
                <a:latin typeface="Helvetica Neue"/>
                <a:ea typeface="Helvetica Neue"/>
                <a:cs typeface="Helvetica Neue"/>
                <a:sym typeface="Helvetica Neue"/>
              </a:rPr>
              <a:t>Apple Siri</a:t>
            </a:r>
            <a:endParaRPr sz="50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6" name="Google Shape;146;g2204fabc35a_0_2337"/>
          <p:cNvSpPr txBox="1"/>
          <p:nvPr/>
        </p:nvSpPr>
        <p:spPr>
          <a:xfrm>
            <a:off x="656002" y="1575747"/>
            <a:ext cx="5966700" cy="36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550">
            <a:spAutoFit/>
          </a:bodyPr>
          <a:lstStyle/>
          <a:p>
            <a:pPr indent="-336550" lvl="0" marL="406400" marR="2159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Helvetica Neue"/>
              <a:buChar char="•"/>
            </a:pPr>
            <a:r>
              <a:rPr b="0" i="0" lang="pt-BR" sz="2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Assistente pessoal inteligente  por comando de voz.</a:t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0" marL="406400" marR="457200" rtl="0" algn="l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Helvetica Neue"/>
              <a:buChar char="•"/>
            </a:pPr>
            <a:r>
              <a:rPr b="0" i="0" lang="pt-BR" sz="2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Originalmente desenvolvido  como um aplicativo para o  App Store.</a:t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0" marL="406400" marR="0" rtl="0" algn="l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Helvetica Neue"/>
              <a:buChar char="•"/>
            </a:pPr>
            <a:r>
              <a:rPr b="0" i="0" lang="pt-BR" sz="2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Posteriormente adquirido pela  Apple e fornecido com iOS 5.</a:t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0" marL="406400" marR="520700" rtl="0" algn="l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Helvetica Neue"/>
              <a:buChar char="•"/>
            </a:pPr>
            <a:r>
              <a:rPr b="0" i="0" lang="pt-BR" sz="2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Utiliza resultado de 40 anos  de pesquisa financiada -  DARPA.</a:t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47" name="Google Shape;147;g2204fabc35a_0_23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07157" y="1789330"/>
            <a:ext cx="2624624" cy="3936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g2204fabc35a_0_2337"/>
          <p:cNvPicPr preferRelativeResize="0"/>
          <p:nvPr/>
        </p:nvPicPr>
        <p:blipFill rotWithShape="1">
          <a:blip r:embed="rId4">
            <a:alphaModFix/>
          </a:blip>
          <a:srcRect b="25066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204fabc35a_0_2343"/>
          <p:cNvSpPr txBox="1"/>
          <p:nvPr>
            <p:ph type="title"/>
          </p:nvPr>
        </p:nvSpPr>
        <p:spPr>
          <a:xfrm>
            <a:off x="1572873" y="254675"/>
            <a:ext cx="56799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Filtro de SPAM</a:t>
            </a:r>
            <a:endParaRPr sz="5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4" name="Google Shape;154;g2204fabc35a_0_23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9655" y="1405509"/>
            <a:ext cx="7187071" cy="57983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g2204fabc35a_0_2343"/>
          <p:cNvPicPr preferRelativeResize="0"/>
          <p:nvPr/>
        </p:nvPicPr>
        <p:blipFill rotWithShape="1">
          <a:blip r:embed="rId4">
            <a:alphaModFix/>
          </a:blip>
          <a:srcRect b="25066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204fabc35a_0_2348"/>
          <p:cNvSpPr txBox="1"/>
          <p:nvPr>
            <p:ph type="title"/>
          </p:nvPr>
        </p:nvSpPr>
        <p:spPr>
          <a:xfrm>
            <a:off x="1650794" y="508944"/>
            <a:ext cx="7388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100">
                <a:latin typeface="Helvetica Neue"/>
                <a:ea typeface="Helvetica Neue"/>
                <a:cs typeface="Helvetica Neue"/>
                <a:sym typeface="Helvetica Neue"/>
              </a:rPr>
              <a:t>Sistemas de Recomendação</a:t>
            </a:r>
            <a:endParaRPr sz="4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1" name="Google Shape;161;g2204fabc35a_0_2348"/>
          <p:cNvSpPr txBox="1"/>
          <p:nvPr/>
        </p:nvSpPr>
        <p:spPr>
          <a:xfrm>
            <a:off x="626752" y="1771718"/>
            <a:ext cx="77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75">
            <a:spAutoFit/>
          </a:bodyPr>
          <a:lstStyle/>
          <a:p>
            <a:pPr indent="-349250" lvl="0" marL="406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Helvetica Neue"/>
              <a:buChar char="•"/>
            </a:pPr>
            <a:r>
              <a:rPr b="0" i="0" lang="pt-BR" sz="2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Utilizado por lojas como a Amazon</a:t>
            </a:r>
            <a:endParaRPr b="0" i="0" sz="2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62" name="Google Shape;162;g2204fabc35a_0_23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1320" y="2964069"/>
            <a:ext cx="9571078" cy="3467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g2204fabc35a_0_2348"/>
          <p:cNvPicPr preferRelativeResize="0"/>
          <p:nvPr/>
        </p:nvPicPr>
        <p:blipFill rotWithShape="1">
          <a:blip r:embed="rId4">
            <a:alphaModFix/>
          </a:blip>
          <a:srcRect b="25066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20570bd03a_0_23"/>
          <p:cNvSpPr txBox="1"/>
          <p:nvPr>
            <p:ph type="title"/>
          </p:nvPr>
        </p:nvSpPr>
        <p:spPr>
          <a:xfrm>
            <a:off x="1650794" y="508944"/>
            <a:ext cx="73881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4100">
                <a:latin typeface="Helvetica Neue"/>
                <a:ea typeface="Helvetica Neue"/>
                <a:cs typeface="Helvetica Neue"/>
                <a:sym typeface="Helvetica Neue"/>
              </a:rPr>
              <a:t>Inteligência Artificial (IA)</a:t>
            </a:r>
            <a:endParaRPr sz="4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9" name="Google Shape;169;g220570bd03a_0_23"/>
          <p:cNvSpPr txBox="1"/>
          <p:nvPr/>
        </p:nvSpPr>
        <p:spPr>
          <a:xfrm>
            <a:off x="626752" y="1771718"/>
            <a:ext cx="77142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75">
            <a:spAutoFit/>
          </a:bodyPr>
          <a:lstStyle/>
          <a:p>
            <a:pPr indent="-438150" lvl="0" marL="520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Helvetica Neue"/>
              <a:buChar char="•"/>
            </a:pPr>
            <a:r>
              <a:rPr b="0" i="0" lang="pt-BR" sz="2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Grande área de pesquisa</a:t>
            </a:r>
            <a:endParaRPr b="0" i="0" sz="2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38150" lvl="0" marL="520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Helvetica Neue"/>
              <a:buChar char="•"/>
            </a:pPr>
            <a:r>
              <a:rPr b="0" i="0" lang="pt-BR" sz="2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Existem diversas definições para I.A.</a:t>
            </a:r>
            <a:endParaRPr b="0" i="0" sz="2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38150" lvl="0" marL="520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Helvetica Neue"/>
              <a:buChar char="•"/>
            </a:pPr>
            <a:r>
              <a:rPr b="0" i="0" lang="pt-BR" sz="2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Há 4 categorias (Russell &amp; Norvig, 2010):</a:t>
            </a:r>
            <a:endParaRPr b="0" i="0" sz="2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t/>
            </a:r>
            <a:endParaRPr b="0" i="0" sz="2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70" name="Google Shape;170;g220570bd03a_0_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68326" y="771850"/>
            <a:ext cx="1931925" cy="25722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1" name="Google Shape;171;g220570bd03a_0_23"/>
          <p:cNvGraphicFramePr/>
          <p:nvPr/>
        </p:nvGraphicFramePr>
        <p:xfrm>
          <a:off x="3564470" y="36523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{ED85FE6C-5B09-46B0-A810-C9B1D2D4C52D}</a:tableStyleId>
              </a:tblPr>
              <a:tblGrid>
                <a:gridCol w="3564475"/>
              </a:tblGrid>
              <a:tr h="458950">
                <a:tc>
                  <a:txBody>
                    <a:bodyPr/>
                    <a:lstStyle/>
                    <a:p>
                      <a:pPr indent="0" lvl="0" marL="101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pt-BR" sz="2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Sistemas que pensam como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101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pt-BR" sz="2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humanos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C"/>
                    </a:solidFill>
                  </a:tcPr>
                </a:tc>
              </a:tr>
              <a:tr h="705125">
                <a:tc>
                  <a:txBody>
                    <a:bodyPr/>
                    <a:lstStyle/>
                    <a:p>
                      <a:pPr indent="0" lvl="0" marL="101600" marR="6477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Sistemas que agem como  humanos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7E8"/>
                    </a:solidFill>
                  </a:tcPr>
                </a:tc>
              </a:tr>
              <a:tr h="705125">
                <a:tc>
                  <a:txBody>
                    <a:bodyPr/>
                    <a:lstStyle/>
                    <a:p>
                      <a:pPr indent="0" lvl="0" marL="101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pt-BR" sz="2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Sistemas que pensam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101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pt-BR" sz="2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racionalmente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C"/>
                    </a:solidFill>
                  </a:tcPr>
                </a:tc>
              </a:tr>
              <a:tr h="705125">
                <a:tc>
                  <a:txBody>
                    <a:bodyPr/>
                    <a:lstStyle/>
                    <a:p>
                      <a:pPr indent="0" lvl="0" marL="101600" marR="12827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Sistemas que agem  racionalmente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7E8"/>
                    </a:solidFill>
                  </a:tcPr>
                </a:tc>
              </a:tr>
            </a:tbl>
          </a:graphicData>
        </a:graphic>
      </p:graphicFrame>
      <p:pic>
        <p:nvPicPr>
          <p:cNvPr id="172" name="Google Shape;172;g220570bd03a_0_23"/>
          <p:cNvPicPr preferRelativeResize="0"/>
          <p:nvPr/>
        </p:nvPicPr>
        <p:blipFill rotWithShape="1">
          <a:blip r:embed="rId4">
            <a:alphaModFix/>
          </a:blip>
          <a:srcRect b="25066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204fabc35a_0_1832"/>
          <p:cNvSpPr txBox="1"/>
          <p:nvPr>
            <p:ph type="title"/>
          </p:nvPr>
        </p:nvSpPr>
        <p:spPr>
          <a:xfrm>
            <a:off x="798410" y="547565"/>
            <a:ext cx="90963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8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700">
                <a:latin typeface="Helvetica Neue"/>
                <a:ea typeface="Helvetica Neue"/>
                <a:cs typeface="Helvetica Neue"/>
                <a:sym typeface="Helvetica Neue"/>
              </a:rPr>
              <a:t>Sistemas que pensam como humanos</a:t>
            </a:r>
            <a:endParaRPr sz="37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78" name="Google Shape;178;g2204fabc35a_0_18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5558" y="1595261"/>
            <a:ext cx="2068800" cy="2602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179" name="Google Shape;179;g2204fabc35a_0_1832"/>
          <p:cNvSpPr txBox="1"/>
          <p:nvPr/>
        </p:nvSpPr>
        <p:spPr>
          <a:xfrm>
            <a:off x="651347" y="4286214"/>
            <a:ext cx="17637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5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John Haugeland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0" name="Google Shape;180;g2204fabc35a_0_18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41827" y="3694289"/>
            <a:ext cx="1892400" cy="2634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181" name="Google Shape;181;g2204fabc35a_0_1832"/>
          <p:cNvSpPr txBox="1"/>
          <p:nvPr/>
        </p:nvSpPr>
        <p:spPr>
          <a:xfrm>
            <a:off x="537640" y="6302904"/>
            <a:ext cx="94740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575">
            <a:spAutoFit/>
          </a:bodyPr>
          <a:lstStyle/>
          <a:p>
            <a:pPr indent="0" lvl="0" marL="0" marR="1143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Richard E. Bellman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Haugeland, J. </a:t>
            </a:r>
            <a:r>
              <a:rPr b="0" i="1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Artificial Intelligence: The Very Idea. </a:t>
            </a: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MIT Press,1986.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Bellman, R.E. </a:t>
            </a:r>
            <a:r>
              <a:rPr b="0" i="1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 Introduction to Artificial Intelligence: Can Computers Think? </a:t>
            </a: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Boyd &amp; Fraser, 1978.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2" name="Google Shape;182;g2204fabc35a_0_1832"/>
          <p:cNvGrpSpPr/>
          <p:nvPr/>
        </p:nvGrpSpPr>
        <p:grpSpPr>
          <a:xfrm>
            <a:off x="2941463" y="1596169"/>
            <a:ext cx="4633631" cy="1664601"/>
            <a:chOff x="2515361" y="1448561"/>
            <a:chExt cx="3962400" cy="1510664"/>
          </a:xfrm>
        </p:grpSpPr>
        <p:sp>
          <p:nvSpPr>
            <p:cNvPr id="183" name="Google Shape;183;g2204fabc35a_0_1832"/>
            <p:cNvSpPr/>
            <p:nvPr/>
          </p:nvSpPr>
          <p:spPr>
            <a:xfrm>
              <a:off x="2515361" y="1448561"/>
              <a:ext cx="3962400" cy="1510664"/>
            </a:xfrm>
            <a:custGeom>
              <a:rect b="b" l="l" r="r" t="t"/>
              <a:pathLst>
                <a:path extrusionOk="0" h="1510664" w="3962400">
                  <a:moveTo>
                    <a:pt x="1651000" y="1219200"/>
                  </a:moveTo>
                  <a:lnTo>
                    <a:pt x="660400" y="1219200"/>
                  </a:lnTo>
                  <a:lnTo>
                    <a:pt x="147065" y="1510157"/>
                  </a:lnTo>
                  <a:lnTo>
                    <a:pt x="1651000" y="1219200"/>
                  </a:lnTo>
                  <a:close/>
                </a:path>
                <a:path extrusionOk="0" h="1510664" w="3962400">
                  <a:moveTo>
                    <a:pt x="3759200" y="0"/>
                  </a:moveTo>
                  <a:lnTo>
                    <a:pt x="203200" y="0"/>
                  </a:lnTo>
                  <a:lnTo>
                    <a:pt x="156594" y="5364"/>
                  </a:lnTo>
                  <a:lnTo>
                    <a:pt x="113818" y="20645"/>
                  </a:lnTo>
                  <a:lnTo>
                    <a:pt x="76090" y="44626"/>
                  </a:lnTo>
                  <a:lnTo>
                    <a:pt x="44626" y="76090"/>
                  </a:lnTo>
                  <a:lnTo>
                    <a:pt x="20645" y="113818"/>
                  </a:lnTo>
                  <a:lnTo>
                    <a:pt x="5364" y="156594"/>
                  </a:lnTo>
                  <a:lnTo>
                    <a:pt x="0" y="203200"/>
                  </a:lnTo>
                  <a:lnTo>
                    <a:pt x="0" y="1016000"/>
                  </a:lnTo>
                  <a:lnTo>
                    <a:pt x="5364" y="1062605"/>
                  </a:lnTo>
                  <a:lnTo>
                    <a:pt x="20645" y="1105381"/>
                  </a:lnTo>
                  <a:lnTo>
                    <a:pt x="44626" y="1143109"/>
                  </a:lnTo>
                  <a:lnTo>
                    <a:pt x="76090" y="1174573"/>
                  </a:lnTo>
                  <a:lnTo>
                    <a:pt x="113818" y="1198554"/>
                  </a:lnTo>
                  <a:lnTo>
                    <a:pt x="156594" y="1213835"/>
                  </a:lnTo>
                  <a:lnTo>
                    <a:pt x="203200" y="1219200"/>
                  </a:lnTo>
                  <a:lnTo>
                    <a:pt x="3759200" y="1219200"/>
                  </a:lnTo>
                  <a:lnTo>
                    <a:pt x="3805805" y="1213835"/>
                  </a:lnTo>
                  <a:lnTo>
                    <a:pt x="3848581" y="1198554"/>
                  </a:lnTo>
                  <a:lnTo>
                    <a:pt x="3886309" y="1174573"/>
                  </a:lnTo>
                  <a:lnTo>
                    <a:pt x="3917773" y="1143109"/>
                  </a:lnTo>
                  <a:lnTo>
                    <a:pt x="3941754" y="1105381"/>
                  </a:lnTo>
                  <a:lnTo>
                    <a:pt x="3957035" y="1062605"/>
                  </a:lnTo>
                  <a:lnTo>
                    <a:pt x="3962400" y="1016000"/>
                  </a:lnTo>
                  <a:lnTo>
                    <a:pt x="3962400" y="203200"/>
                  </a:lnTo>
                  <a:lnTo>
                    <a:pt x="3957035" y="156594"/>
                  </a:lnTo>
                  <a:lnTo>
                    <a:pt x="3941754" y="113818"/>
                  </a:lnTo>
                  <a:lnTo>
                    <a:pt x="3917773" y="76090"/>
                  </a:lnTo>
                  <a:lnTo>
                    <a:pt x="3886309" y="44626"/>
                  </a:lnTo>
                  <a:lnTo>
                    <a:pt x="3848581" y="20645"/>
                  </a:lnTo>
                  <a:lnTo>
                    <a:pt x="3805805" y="5364"/>
                  </a:lnTo>
                  <a:lnTo>
                    <a:pt x="3759200" y="0"/>
                  </a:lnTo>
                  <a:close/>
                </a:path>
              </a:pathLst>
            </a:custGeom>
            <a:solidFill>
              <a:srgbClr val="4F81B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t/>
              </a:r>
              <a:endPara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g2204fabc35a_0_1832"/>
            <p:cNvSpPr/>
            <p:nvPr/>
          </p:nvSpPr>
          <p:spPr>
            <a:xfrm>
              <a:off x="2515361" y="1448561"/>
              <a:ext cx="3962400" cy="1510664"/>
            </a:xfrm>
            <a:custGeom>
              <a:rect b="b" l="l" r="r" t="t"/>
              <a:pathLst>
                <a:path extrusionOk="0" h="1510664" w="3962400">
                  <a:moveTo>
                    <a:pt x="0" y="203200"/>
                  </a:moveTo>
                  <a:lnTo>
                    <a:pt x="5364" y="156594"/>
                  </a:lnTo>
                  <a:lnTo>
                    <a:pt x="20645" y="113818"/>
                  </a:lnTo>
                  <a:lnTo>
                    <a:pt x="44626" y="76090"/>
                  </a:lnTo>
                  <a:lnTo>
                    <a:pt x="76090" y="44626"/>
                  </a:lnTo>
                  <a:lnTo>
                    <a:pt x="113818" y="20645"/>
                  </a:lnTo>
                  <a:lnTo>
                    <a:pt x="156594" y="5364"/>
                  </a:lnTo>
                  <a:lnTo>
                    <a:pt x="203200" y="0"/>
                  </a:lnTo>
                  <a:lnTo>
                    <a:pt x="660400" y="0"/>
                  </a:lnTo>
                  <a:lnTo>
                    <a:pt x="1651000" y="0"/>
                  </a:lnTo>
                  <a:lnTo>
                    <a:pt x="3759200" y="0"/>
                  </a:lnTo>
                  <a:lnTo>
                    <a:pt x="3805805" y="5364"/>
                  </a:lnTo>
                  <a:lnTo>
                    <a:pt x="3848581" y="20645"/>
                  </a:lnTo>
                  <a:lnTo>
                    <a:pt x="3886309" y="44626"/>
                  </a:lnTo>
                  <a:lnTo>
                    <a:pt x="3917773" y="76090"/>
                  </a:lnTo>
                  <a:lnTo>
                    <a:pt x="3941754" y="113818"/>
                  </a:lnTo>
                  <a:lnTo>
                    <a:pt x="3957035" y="156594"/>
                  </a:lnTo>
                  <a:lnTo>
                    <a:pt x="3962400" y="203200"/>
                  </a:lnTo>
                  <a:lnTo>
                    <a:pt x="3962400" y="711200"/>
                  </a:lnTo>
                  <a:lnTo>
                    <a:pt x="3962400" y="1016000"/>
                  </a:lnTo>
                  <a:lnTo>
                    <a:pt x="3957035" y="1062605"/>
                  </a:lnTo>
                  <a:lnTo>
                    <a:pt x="3941754" y="1105381"/>
                  </a:lnTo>
                  <a:lnTo>
                    <a:pt x="3917773" y="1143109"/>
                  </a:lnTo>
                  <a:lnTo>
                    <a:pt x="3886309" y="1174573"/>
                  </a:lnTo>
                  <a:lnTo>
                    <a:pt x="3848581" y="1198554"/>
                  </a:lnTo>
                  <a:lnTo>
                    <a:pt x="3805805" y="1213835"/>
                  </a:lnTo>
                  <a:lnTo>
                    <a:pt x="3759200" y="1219200"/>
                  </a:lnTo>
                  <a:lnTo>
                    <a:pt x="1651000" y="1219200"/>
                  </a:lnTo>
                  <a:lnTo>
                    <a:pt x="147065" y="1510157"/>
                  </a:lnTo>
                  <a:lnTo>
                    <a:pt x="660400" y="1219200"/>
                  </a:lnTo>
                  <a:lnTo>
                    <a:pt x="203200" y="1219200"/>
                  </a:lnTo>
                  <a:lnTo>
                    <a:pt x="156594" y="1213835"/>
                  </a:lnTo>
                  <a:lnTo>
                    <a:pt x="113818" y="1198554"/>
                  </a:lnTo>
                  <a:lnTo>
                    <a:pt x="76090" y="1174573"/>
                  </a:lnTo>
                  <a:lnTo>
                    <a:pt x="44626" y="1143109"/>
                  </a:lnTo>
                  <a:lnTo>
                    <a:pt x="20645" y="1105381"/>
                  </a:lnTo>
                  <a:lnTo>
                    <a:pt x="5364" y="1062605"/>
                  </a:lnTo>
                  <a:lnTo>
                    <a:pt x="0" y="1016000"/>
                  </a:lnTo>
                  <a:lnTo>
                    <a:pt x="0" y="711200"/>
                  </a:lnTo>
                  <a:lnTo>
                    <a:pt x="0" y="203200"/>
                  </a:lnTo>
                  <a:close/>
                </a:path>
              </a:pathLst>
            </a:custGeom>
            <a:noFill/>
            <a:ln cap="flat" cmpd="sng" w="25400">
              <a:solidFill>
                <a:srgbClr val="385D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t/>
              </a:r>
              <a:endPara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5" name="Google Shape;185;g2204fabc35a_0_1832"/>
          <p:cNvSpPr txBox="1"/>
          <p:nvPr/>
        </p:nvSpPr>
        <p:spPr>
          <a:xfrm>
            <a:off x="3205347" y="1631588"/>
            <a:ext cx="4101300" cy="13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novo e excitante esforço de fazer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 que os computadores pensem ...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77800" marR="1651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Máquinas com mentes, no sentido  completo e literal.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6" name="Google Shape;186;g2204fabc35a_0_1832"/>
          <p:cNvGrpSpPr/>
          <p:nvPr/>
        </p:nvGrpSpPr>
        <p:grpSpPr>
          <a:xfrm>
            <a:off x="2941463" y="3443395"/>
            <a:ext cx="4633631" cy="2263551"/>
            <a:chOff x="2515361" y="3124961"/>
            <a:chExt cx="3962400" cy="2054225"/>
          </a:xfrm>
        </p:grpSpPr>
        <p:sp>
          <p:nvSpPr>
            <p:cNvPr id="187" name="Google Shape;187;g2204fabc35a_0_1832"/>
            <p:cNvSpPr/>
            <p:nvPr/>
          </p:nvSpPr>
          <p:spPr>
            <a:xfrm>
              <a:off x="2515361" y="3124961"/>
              <a:ext cx="3962400" cy="2054225"/>
            </a:xfrm>
            <a:custGeom>
              <a:rect b="b" l="l" r="r" t="t"/>
              <a:pathLst>
                <a:path extrusionOk="0" h="2054225" w="3962400">
                  <a:moveTo>
                    <a:pt x="3302000" y="1447800"/>
                  </a:moveTo>
                  <a:lnTo>
                    <a:pt x="2311400" y="1447800"/>
                  </a:lnTo>
                  <a:lnTo>
                    <a:pt x="3958716" y="2053970"/>
                  </a:lnTo>
                  <a:lnTo>
                    <a:pt x="3302000" y="1447800"/>
                  </a:lnTo>
                  <a:close/>
                </a:path>
                <a:path extrusionOk="0" h="2054225" w="3962400">
                  <a:moveTo>
                    <a:pt x="3721100" y="0"/>
                  </a:moveTo>
                  <a:lnTo>
                    <a:pt x="241300" y="0"/>
                  </a:lnTo>
                  <a:lnTo>
                    <a:pt x="192682" y="4904"/>
                  </a:lnTo>
                  <a:lnTo>
                    <a:pt x="147393" y="18968"/>
                  </a:lnTo>
                  <a:lnTo>
                    <a:pt x="106405" y="41221"/>
                  </a:lnTo>
                  <a:lnTo>
                    <a:pt x="70691" y="70691"/>
                  </a:lnTo>
                  <a:lnTo>
                    <a:pt x="41221" y="106405"/>
                  </a:lnTo>
                  <a:lnTo>
                    <a:pt x="18968" y="147393"/>
                  </a:lnTo>
                  <a:lnTo>
                    <a:pt x="4904" y="192682"/>
                  </a:lnTo>
                  <a:lnTo>
                    <a:pt x="0" y="241300"/>
                  </a:lnTo>
                  <a:lnTo>
                    <a:pt x="0" y="1206500"/>
                  </a:lnTo>
                  <a:lnTo>
                    <a:pt x="4904" y="1255117"/>
                  </a:lnTo>
                  <a:lnTo>
                    <a:pt x="18968" y="1300406"/>
                  </a:lnTo>
                  <a:lnTo>
                    <a:pt x="41221" y="1341394"/>
                  </a:lnTo>
                  <a:lnTo>
                    <a:pt x="70691" y="1377108"/>
                  </a:lnTo>
                  <a:lnTo>
                    <a:pt x="106405" y="1406578"/>
                  </a:lnTo>
                  <a:lnTo>
                    <a:pt x="147393" y="1428831"/>
                  </a:lnTo>
                  <a:lnTo>
                    <a:pt x="192682" y="1442895"/>
                  </a:lnTo>
                  <a:lnTo>
                    <a:pt x="241300" y="1447800"/>
                  </a:lnTo>
                  <a:lnTo>
                    <a:pt x="3721100" y="1447800"/>
                  </a:lnTo>
                  <a:lnTo>
                    <a:pt x="3769717" y="1442895"/>
                  </a:lnTo>
                  <a:lnTo>
                    <a:pt x="3815006" y="1428831"/>
                  </a:lnTo>
                  <a:lnTo>
                    <a:pt x="3855994" y="1406578"/>
                  </a:lnTo>
                  <a:lnTo>
                    <a:pt x="3891708" y="1377108"/>
                  </a:lnTo>
                  <a:lnTo>
                    <a:pt x="3921178" y="1341394"/>
                  </a:lnTo>
                  <a:lnTo>
                    <a:pt x="3943431" y="1300406"/>
                  </a:lnTo>
                  <a:lnTo>
                    <a:pt x="3957495" y="1255117"/>
                  </a:lnTo>
                  <a:lnTo>
                    <a:pt x="3962400" y="1206500"/>
                  </a:lnTo>
                  <a:lnTo>
                    <a:pt x="3962400" y="241300"/>
                  </a:lnTo>
                  <a:lnTo>
                    <a:pt x="3957495" y="192682"/>
                  </a:lnTo>
                  <a:lnTo>
                    <a:pt x="3943431" y="147393"/>
                  </a:lnTo>
                  <a:lnTo>
                    <a:pt x="3921178" y="106405"/>
                  </a:lnTo>
                  <a:lnTo>
                    <a:pt x="3891708" y="70691"/>
                  </a:lnTo>
                  <a:lnTo>
                    <a:pt x="3855994" y="41221"/>
                  </a:lnTo>
                  <a:lnTo>
                    <a:pt x="3815006" y="18968"/>
                  </a:lnTo>
                  <a:lnTo>
                    <a:pt x="3769717" y="4904"/>
                  </a:lnTo>
                  <a:lnTo>
                    <a:pt x="3721100" y="0"/>
                  </a:lnTo>
                  <a:close/>
                </a:path>
              </a:pathLst>
            </a:custGeom>
            <a:solidFill>
              <a:srgbClr val="4F81B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t/>
              </a:r>
              <a:endPara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g2204fabc35a_0_1832"/>
            <p:cNvSpPr/>
            <p:nvPr/>
          </p:nvSpPr>
          <p:spPr>
            <a:xfrm>
              <a:off x="2515361" y="3124961"/>
              <a:ext cx="3962400" cy="2054225"/>
            </a:xfrm>
            <a:custGeom>
              <a:rect b="b" l="l" r="r" t="t"/>
              <a:pathLst>
                <a:path extrusionOk="0" h="2054225" w="3962400">
                  <a:moveTo>
                    <a:pt x="0" y="241300"/>
                  </a:moveTo>
                  <a:lnTo>
                    <a:pt x="4904" y="192682"/>
                  </a:lnTo>
                  <a:lnTo>
                    <a:pt x="18968" y="147393"/>
                  </a:lnTo>
                  <a:lnTo>
                    <a:pt x="41221" y="106405"/>
                  </a:lnTo>
                  <a:lnTo>
                    <a:pt x="70691" y="70691"/>
                  </a:lnTo>
                  <a:lnTo>
                    <a:pt x="106405" y="41221"/>
                  </a:lnTo>
                  <a:lnTo>
                    <a:pt x="147393" y="18968"/>
                  </a:lnTo>
                  <a:lnTo>
                    <a:pt x="192682" y="4904"/>
                  </a:lnTo>
                  <a:lnTo>
                    <a:pt x="241300" y="0"/>
                  </a:lnTo>
                  <a:lnTo>
                    <a:pt x="2311400" y="0"/>
                  </a:lnTo>
                  <a:lnTo>
                    <a:pt x="3302000" y="0"/>
                  </a:lnTo>
                  <a:lnTo>
                    <a:pt x="3721100" y="0"/>
                  </a:lnTo>
                  <a:lnTo>
                    <a:pt x="3769717" y="4904"/>
                  </a:lnTo>
                  <a:lnTo>
                    <a:pt x="3815006" y="18968"/>
                  </a:lnTo>
                  <a:lnTo>
                    <a:pt x="3855994" y="41221"/>
                  </a:lnTo>
                  <a:lnTo>
                    <a:pt x="3891708" y="70691"/>
                  </a:lnTo>
                  <a:lnTo>
                    <a:pt x="3921178" y="106405"/>
                  </a:lnTo>
                  <a:lnTo>
                    <a:pt x="3943431" y="147393"/>
                  </a:lnTo>
                  <a:lnTo>
                    <a:pt x="3957495" y="192682"/>
                  </a:lnTo>
                  <a:lnTo>
                    <a:pt x="3962400" y="241300"/>
                  </a:lnTo>
                  <a:lnTo>
                    <a:pt x="3962400" y="844550"/>
                  </a:lnTo>
                  <a:lnTo>
                    <a:pt x="3962400" y="1206500"/>
                  </a:lnTo>
                  <a:lnTo>
                    <a:pt x="3957495" y="1255117"/>
                  </a:lnTo>
                  <a:lnTo>
                    <a:pt x="3943431" y="1300406"/>
                  </a:lnTo>
                  <a:lnTo>
                    <a:pt x="3921178" y="1341394"/>
                  </a:lnTo>
                  <a:lnTo>
                    <a:pt x="3891708" y="1377108"/>
                  </a:lnTo>
                  <a:lnTo>
                    <a:pt x="3855994" y="1406578"/>
                  </a:lnTo>
                  <a:lnTo>
                    <a:pt x="3815006" y="1428831"/>
                  </a:lnTo>
                  <a:lnTo>
                    <a:pt x="3769717" y="1442895"/>
                  </a:lnTo>
                  <a:lnTo>
                    <a:pt x="3721100" y="1447800"/>
                  </a:lnTo>
                  <a:lnTo>
                    <a:pt x="3302000" y="1447800"/>
                  </a:lnTo>
                  <a:lnTo>
                    <a:pt x="3958716" y="2053970"/>
                  </a:lnTo>
                  <a:lnTo>
                    <a:pt x="2311400" y="1447800"/>
                  </a:lnTo>
                  <a:lnTo>
                    <a:pt x="241300" y="1447800"/>
                  </a:lnTo>
                  <a:lnTo>
                    <a:pt x="192682" y="1442895"/>
                  </a:lnTo>
                  <a:lnTo>
                    <a:pt x="147393" y="1428831"/>
                  </a:lnTo>
                  <a:lnTo>
                    <a:pt x="106405" y="1406578"/>
                  </a:lnTo>
                  <a:lnTo>
                    <a:pt x="70691" y="1377108"/>
                  </a:lnTo>
                  <a:lnTo>
                    <a:pt x="41221" y="1341394"/>
                  </a:lnTo>
                  <a:lnTo>
                    <a:pt x="18968" y="1300406"/>
                  </a:lnTo>
                  <a:lnTo>
                    <a:pt x="4904" y="1255117"/>
                  </a:lnTo>
                  <a:lnTo>
                    <a:pt x="0" y="1206500"/>
                  </a:lnTo>
                  <a:lnTo>
                    <a:pt x="0" y="844550"/>
                  </a:lnTo>
                  <a:lnTo>
                    <a:pt x="0" y="241300"/>
                  </a:lnTo>
                  <a:close/>
                </a:path>
              </a:pathLst>
            </a:custGeom>
            <a:noFill/>
            <a:ln cap="flat" cmpd="sng" w="25400">
              <a:solidFill>
                <a:srgbClr val="385D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t/>
              </a:r>
              <a:endPara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9" name="Google Shape;189;g2204fabc35a_0_1832"/>
          <p:cNvSpPr txBox="1"/>
          <p:nvPr/>
        </p:nvSpPr>
        <p:spPr>
          <a:xfrm>
            <a:off x="3146830" y="3454579"/>
            <a:ext cx="4216200" cy="16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575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“[A automação de] atividades que nós  associamos com o pensamento  humano, atividades tais como tomada  de decisões, resolução de problemas e  aprendizado.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0" name="Google Shape;190;g2204fabc35a_0_1832"/>
          <p:cNvPicPr preferRelativeResize="0"/>
          <p:nvPr/>
        </p:nvPicPr>
        <p:blipFill rotWithShape="1">
          <a:blip r:embed="rId5">
            <a:alphaModFix/>
          </a:blip>
          <a:srcRect b="25066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204fabc35a_0_1848"/>
          <p:cNvSpPr txBox="1"/>
          <p:nvPr>
            <p:ph type="title"/>
          </p:nvPr>
        </p:nvSpPr>
        <p:spPr>
          <a:xfrm>
            <a:off x="798410" y="547565"/>
            <a:ext cx="90963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8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800">
                <a:latin typeface="Helvetica Neue"/>
                <a:ea typeface="Helvetica Neue"/>
                <a:cs typeface="Helvetica Neue"/>
                <a:sym typeface="Helvetica Neue"/>
              </a:rPr>
              <a:t>Sistemas que pensam como humanos</a:t>
            </a:r>
            <a:endParaRPr sz="3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6" name="Google Shape;196;g2204fabc35a_0_1848"/>
          <p:cNvSpPr txBox="1"/>
          <p:nvPr/>
        </p:nvSpPr>
        <p:spPr>
          <a:xfrm>
            <a:off x="626752" y="1660882"/>
            <a:ext cx="9141300" cy="31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0350">
            <a:spAutoFit/>
          </a:bodyPr>
          <a:lstStyle/>
          <a:p>
            <a:pPr indent="-330200" lvl="0" marL="406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Helvetica Neue"/>
              <a:buChar char="•"/>
            </a:pPr>
            <a:r>
              <a:rPr b="0" i="0" lang="pt-BR" sz="2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Requer descobrir como os humanos pensam:</a:t>
            </a:r>
            <a:endParaRPr b="0" i="0" sz="2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60350" lvl="1" marL="863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Char char="–"/>
            </a:pPr>
            <a:r>
              <a:rPr b="0" i="0" lang="pt-BR" sz="21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Introspecção;</a:t>
            </a:r>
            <a:endParaRPr b="0" i="0" sz="21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60350" lvl="1" marL="863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Char char="–"/>
            </a:pPr>
            <a:r>
              <a:rPr b="0" i="0" lang="pt-BR" sz="21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Experimentos psicológicos;</a:t>
            </a:r>
            <a:endParaRPr b="0" i="0" sz="21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60350" lvl="1" marL="863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Char char="–"/>
            </a:pPr>
            <a:r>
              <a:rPr b="0" i="0" lang="pt-BR" sz="21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Imagens do cérebro.</a:t>
            </a:r>
            <a:endParaRPr b="0" i="0" sz="21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06400" marR="16129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Helvetica Neue"/>
              <a:buChar char="•"/>
            </a:pPr>
            <a:r>
              <a:rPr b="0" i="0" lang="pt-BR" sz="2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Os custos de equipamentos de  eletroencefalografia (EEG) têm caído  significativamente nos últimos anos.</a:t>
            </a:r>
            <a:endParaRPr b="0" i="0" sz="2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97" name="Google Shape;197;g2204fabc35a_0_18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87385" y="4659842"/>
            <a:ext cx="2099100" cy="2728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198" name="Google Shape;198;g2204fabc35a_0_1848"/>
          <p:cNvPicPr preferRelativeResize="0"/>
          <p:nvPr/>
        </p:nvPicPr>
        <p:blipFill rotWithShape="1">
          <a:blip r:embed="rId4">
            <a:alphaModFix/>
          </a:blip>
          <a:srcRect b="25066" l="0" r="0" t="0"/>
          <a:stretch/>
        </p:blipFill>
        <p:spPr>
          <a:xfrm>
            <a:off x="26147" y="6716953"/>
            <a:ext cx="1085525" cy="81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204fabc35a_0_1854"/>
          <p:cNvSpPr txBox="1"/>
          <p:nvPr>
            <p:ph type="title"/>
          </p:nvPr>
        </p:nvSpPr>
        <p:spPr>
          <a:xfrm>
            <a:off x="656337" y="508944"/>
            <a:ext cx="9378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100">
                <a:latin typeface="Helvetica Neue"/>
                <a:ea typeface="Helvetica Neue"/>
                <a:cs typeface="Helvetica Neue"/>
                <a:sym typeface="Helvetica Neue"/>
              </a:rPr>
              <a:t>Sistemas que agem como humanos</a:t>
            </a:r>
            <a:endParaRPr sz="4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04" name="Google Shape;204;g2204fabc35a_0_18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41827" y="3694289"/>
            <a:ext cx="2183100" cy="255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205" name="Google Shape;205;g2204fabc35a_0_18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6447" y="1679222"/>
            <a:ext cx="2183100" cy="2601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206" name="Google Shape;206;g2204fabc35a_0_1854"/>
          <p:cNvSpPr txBox="1"/>
          <p:nvPr/>
        </p:nvSpPr>
        <p:spPr>
          <a:xfrm>
            <a:off x="487381" y="4301886"/>
            <a:ext cx="20325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5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Raymond Kurzweil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7" name="Google Shape;207;g2204fabc35a_0_1854"/>
          <p:cNvGrpSpPr/>
          <p:nvPr/>
        </p:nvGrpSpPr>
        <p:grpSpPr>
          <a:xfrm>
            <a:off x="2941463" y="1680134"/>
            <a:ext cx="4633631" cy="1456089"/>
            <a:chOff x="2515361" y="1524761"/>
            <a:chExt cx="3962400" cy="1321435"/>
          </a:xfrm>
        </p:grpSpPr>
        <p:sp>
          <p:nvSpPr>
            <p:cNvPr id="208" name="Google Shape;208;g2204fabc35a_0_1854"/>
            <p:cNvSpPr/>
            <p:nvPr/>
          </p:nvSpPr>
          <p:spPr>
            <a:xfrm>
              <a:off x="2515361" y="1524761"/>
              <a:ext cx="3962400" cy="1321435"/>
            </a:xfrm>
            <a:custGeom>
              <a:rect b="b" l="l" r="r" t="t"/>
              <a:pathLst>
                <a:path extrusionOk="0" h="1321435" w="3962400">
                  <a:moveTo>
                    <a:pt x="1651000" y="1066800"/>
                  </a:moveTo>
                  <a:lnTo>
                    <a:pt x="660400" y="1066800"/>
                  </a:lnTo>
                  <a:lnTo>
                    <a:pt x="147065" y="1321435"/>
                  </a:lnTo>
                  <a:lnTo>
                    <a:pt x="1651000" y="1066800"/>
                  </a:lnTo>
                  <a:close/>
                </a:path>
                <a:path extrusionOk="0" h="1321435" w="3962400">
                  <a:moveTo>
                    <a:pt x="3784600" y="0"/>
                  </a:moveTo>
                  <a:lnTo>
                    <a:pt x="177800" y="0"/>
                  </a:lnTo>
                  <a:lnTo>
                    <a:pt x="130542" y="6352"/>
                  </a:lnTo>
                  <a:lnTo>
                    <a:pt x="88072" y="24280"/>
                  </a:lnTo>
                  <a:lnTo>
                    <a:pt x="52085" y="52085"/>
                  </a:lnTo>
                  <a:lnTo>
                    <a:pt x="24280" y="88072"/>
                  </a:lnTo>
                  <a:lnTo>
                    <a:pt x="6352" y="130542"/>
                  </a:lnTo>
                  <a:lnTo>
                    <a:pt x="0" y="177800"/>
                  </a:lnTo>
                  <a:lnTo>
                    <a:pt x="0" y="889000"/>
                  </a:lnTo>
                  <a:lnTo>
                    <a:pt x="6352" y="936257"/>
                  </a:lnTo>
                  <a:lnTo>
                    <a:pt x="24280" y="978727"/>
                  </a:lnTo>
                  <a:lnTo>
                    <a:pt x="52085" y="1014714"/>
                  </a:lnTo>
                  <a:lnTo>
                    <a:pt x="88072" y="1042519"/>
                  </a:lnTo>
                  <a:lnTo>
                    <a:pt x="130542" y="1060447"/>
                  </a:lnTo>
                  <a:lnTo>
                    <a:pt x="177800" y="1066800"/>
                  </a:lnTo>
                  <a:lnTo>
                    <a:pt x="3784600" y="1066800"/>
                  </a:lnTo>
                  <a:lnTo>
                    <a:pt x="3831857" y="1060447"/>
                  </a:lnTo>
                  <a:lnTo>
                    <a:pt x="3874327" y="1042519"/>
                  </a:lnTo>
                  <a:lnTo>
                    <a:pt x="3910314" y="1014714"/>
                  </a:lnTo>
                  <a:lnTo>
                    <a:pt x="3938119" y="978727"/>
                  </a:lnTo>
                  <a:lnTo>
                    <a:pt x="3956047" y="936257"/>
                  </a:lnTo>
                  <a:lnTo>
                    <a:pt x="3962400" y="889000"/>
                  </a:lnTo>
                  <a:lnTo>
                    <a:pt x="3962400" y="177800"/>
                  </a:lnTo>
                  <a:lnTo>
                    <a:pt x="3956047" y="130542"/>
                  </a:lnTo>
                  <a:lnTo>
                    <a:pt x="3938119" y="88072"/>
                  </a:lnTo>
                  <a:lnTo>
                    <a:pt x="3910314" y="52085"/>
                  </a:lnTo>
                  <a:lnTo>
                    <a:pt x="3874327" y="24280"/>
                  </a:lnTo>
                  <a:lnTo>
                    <a:pt x="3831857" y="6352"/>
                  </a:lnTo>
                  <a:lnTo>
                    <a:pt x="3784600" y="0"/>
                  </a:lnTo>
                  <a:close/>
                </a:path>
              </a:pathLst>
            </a:custGeom>
            <a:solidFill>
              <a:srgbClr val="4F81B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t/>
              </a:r>
              <a:endPara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g2204fabc35a_0_1854"/>
            <p:cNvSpPr/>
            <p:nvPr/>
          </p:nvSpPr>
          <p:spPr>
            <a:xfrm>
              <a:off x="2515361" y="1524761"/>
              <a:ext cx="3962400" cy="1321435"/>
            </a:xfrm>
            <a:custGeom>
              <a:rect b="b" l="l" r="r" t="t"/>
              <a:pathLst>
                <a:path extrusionOk="0" h="1321435" w="3962400">
                  <a:moveTo>
                    <a:pt x="0" y="177800"/>
                  </a:moveTo>
                  <a:lnTo>
                    <a:pt x="6352" y="130542"/>
                  </a:lnTo>
                  <a:lnTo>
                    <a:pt x="24280" y="88072"/>
                  </a:lnTo>
                  <a:lnTo>
                    <a:pt x="52085" y="52085"/>
                  </a:lnTo>
                  <a:lnTo>
                    <a:pt x="88072" y="24280"/>
                  </a:lnTo>
                  <a:lnTo>
                    <a:pt x="130542" y="6352"/>
                  </a:lnTo>
                  <a:lnTo>
                    <a:pt x="177800" y="0"/>
                  </a:lnTo>
                  <a:lnTo>
                    <a:pt x="660400" y="0"/>
                  </a:lnTo>
                  <a:lnTo>
                    <a:pt x="1651000" y="0"/>
                  </a:lnTo>
                  <a:lnTo>
                    <a:pt x="3784600" y="0"/>
                  </a:lnTo>
                  <a:lnTo>
                    <a:pt x="3831857" y="6352"/>
                  </a:lnTo>
                  <a:lnTo>
                    <a:pt x="3874327" y="24280"/>
                  </a:lnTo>
                  <a:lnTo>
                    <a:pt x="3910314" y="52085"/>
                  </a:lnTo>
                  <a:lnTo>
                    <a:pt x="3938119" y="88072"/>
                  </a:lnTo>
                  <a:lnTo>
                    <a:pt x="3956047" y="130542"/>
                  </a:lnTo>
                  <a:lnTo>
                    <a:pt x="3962400" y="177800"/>
                  </a:lnTo>
                  <a:lnTo>
                    <a:pt x="3962400" y="622300"/>
                  </a:lnTo>
                  <a:lnTo>
                    <a:pt x="3962400" y="889000"/>
                  </a:lnTo>
                  <a:lnTo>
                    <a:pt x="3956047" y="936257"/>
                  </a:lnTo>
                  <a:lnTo>
                    <a:pt x="3938119" y="978727"/>
                  </a:lnTo>
                  <a:lnTo>
                    <a:pt x="3910314" y="1014714"/>
                  </a:lnTo>
                  <a:lnTo>
                    <a:pt x="3874327" y="1042519"/>
                  </a:lnTo>
                  <a:lnTo>
                    <a:pt x="3831857" y="1060447"/>
                  </a:lnTo>
                  <a:lnTo>
                    <a:pt x="3784600" y="1066800"/>
                  </a:lnTo>
                  <a:lnTo>
                    <a:pt x="1651000" y="1066800"/>
                  </a:lnTo>
                  <a:lnTo>
                    <a:pt x="147065" y="1321435"/>
                  </a:lnTo>
                  <a:lnTo>
                    <a:pt x="660400" y="1066800"/>
                  </a:lnTo>
                  <a:lnTo>
                    <a:pt x="177800" y="1066800"/>
                  </a:lnTo>
                  <a:lnTo>
                    <a:pt x="130542" y="1060447"/>
                  </a:lnTo>
                  <a:lnTo>
                    <a:pt x="88072" y="1042519"/>
                  </a:lnTo>
                  <a:lnTo>
                    <a:pt x="52085" y="1014714"/>
                  </a:lnTo>
                  <a:lnTo>
                    <a:pt x="24280" y="978727"/>
                  </a:lnTo>
                  <a:lnTo>
                    <a:pt x="6352" y="936257"/>
                  </a:lnTo>
                  <a:lnTo>
                    <a:pt x="0" y="889000"/>
                  </a:lnTo>
                  <a:lnTo>
                    <a:pt x="0" y="622300"/>
                  </a:lnTo>
                  <a:lnTo>
                    <a:pt x="0" y="177800"/>
                  </a:lnTo>
                  <a:close/>
                </a:path>
              </a:pathLst>
            </a:custGeom>
            <a:noFill/>
            <a:ln cap="flat" cmpd="sng" w="25400">
              <a:solidFill>
                <a:srgbClr val="385D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t/>
              </a:r>
              <a:endPara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0" name="Google Shape;210;g2204fabc35a_0_1854"/>
          <p:cNvSpPr txBox="1"/>
          <p:nvPr/>
        </p:nvSpPr>
        <p:spPr>
          <a:xfrm>
            <a:off x="3185297" y="1782718"/>
            <a:ext cx="4143600" cy="9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575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arte de criar máquinas que realizam  funções que requerem inteligência  quando realizadas por pessoas.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1" name="Google Shape;211;g2204fabc35a_0_1854"/>
          <p:cNvGrpSpPr/>
          <p:nvPr/>
        </p:nvGrpSpPr>
        <p:grpSpPr>
          <a:xfrm>
            <a:off x="2941463" y="3443395"/>
            <a:ext cx="4633631" cy="1668099"/>
            <a:chOff x="2515361" y="3124961"/>
            <a:chExt cx="3962400" cy="1513839"/>
          </a:xfrm>
        </p:grpSpPr>
        <p:sp>
          <p:nvSpPr>
            <p:cNvPr id="212" name="Google Shape;212;g2204fabc35a_0_1854"/>
            <p:cNvSpPr/>
            <p:nvPr/>
          </p:nvSpPr>
          <p:spPr>
            <a:xfrm>
              <a:off x="2515361" y="3124961"/>
              <a:ext cx="3962400" cy="1513839"/>
            </a:xfrm>
            <a:custGeom>
              <a:rect b="b" l="l" r="r" t="t"/>
              <a:pathLst>
                <a:path extrusionOk="0" h="1513839" w="3962400">
                  <a:moveTo>
                    <a:pt x="3302000" y="1066800"/>
                  </a:moveTo>
                  <a:lnTo>
                    <a:pt x="2311400" y="1066800"/>
                  </a:lnTo>
                  <a:lnTo>
                    <a:pt x="3958716" y="1513458"/>
                  </a:lnTo>
                  <a:lnTo>
                    <a:pt x="3302000" y="1066800"/>
                  </a:lnTo>
                  <a:close/>
                </a:path>
                <a:path extrusionOk="0" h="1513839" w="3962400">
                  <a:moveTo>
                    <a:pt x="3784600" y="0"/>
                  </a:moveTo>
                  <a:lnTo>
                    <a:pt x="177800" y="0"/>
                  </a:lnTo>
                  <a:lnTo>
                    <a:pt x="130542" y="6352"/>
                  </a:lnTo>
                  <a:lnTo>
                    <a:pt x="88072" y="24280"/>
                  </a:lnTo>
                  <a:lnTo>
                    <a:pt x="52085" y="52085"/>
                  </a:lnTo>
                  <a:lnTo>
                    <a:pt x="24280" y="88072"/>
                  </a:lnTo>
                  <a:lnTo>
                    <a:pt x="6352" y="130542"/>
                  </a:lnTo>
                  <a:lnTo>
                    <a:pt x="0" y="177800"/>
                  </a:lnTo>
                  <a:lnTo>
                    <a:pt x="0" y="889000"/>
                  </a:lnTo>
                  <a:lnTo>
                    <a:pt x="6352" y="936257"/>
                  </a:lnTo>
                  <a:lnTo>
                    <a:pt x="24280" y="978727"/>
                  </a:lnTo>
                  <a:lnTo>
                    <a:pt x="52085" y="1014714"/>
                  </a:lnTo>
                  <a:lnTo>
                    <a:pt x="88072" y="1042519"/>
                  </a:lnTo>
                  <a:lnTo>
                    <a:pt x="130542" y="1060447"/>
                  </a:lnTo>
                  <a:lnTo>
                    <a:pt x="177800" y="1066800"/>
                  </a:lnTo>
                  <a:lnTo>
                    <a:pt x="3784600" y="1066800"/>
                  </a:lnTo>
                  <a:lnTo>
                    <a:pt x="3831857" y="1060447"/>
                  </a:lnTo>
                  <a:lnTo>
                    <a:pt x="3874327" y="1042519"/>
                  </a:lnTo>
                  <a:lnTo>
                    <a:pt x="3910314" y="1014714"/>
                  </a:lnTo>
                  <a:lnTo>
                    <a:pt x="3938119" y="978727"/>
                  </a:lnTo>
                  <a:lnTo>
                    <a:pt x="3956047" y="936257"/>
                  </a:lnTo>
                  <a:lnTo>
                    <a:pt x="3962400" y="889000"/>
                  </a:lnTo>
                  <a:lnTo>
                    <a:pt x="3962400" y="177800"/>
                  </a:lnTo>
                  <a:lnTo>
                    <a:pt x="3956047" y="130542"/>
                  </a:lnTo>
                  <a:lnTo>
                    <a:pt x="3938119" y="88072"/>
                  </a:lnTo>
                  <a:lnTo>
                    <a:pt x="3910314" y="52085"/>
                  </a:lnTo>
                  <a:lnTo>
                    <a:pt x="3874327" y="24280"/>
                  </a:lnTo>
                  <a:lnTo>
                    <a:pt x="3831857" y="6352"/>
                  </a:lnTo>
                  <a:lnTo>
                    <a:pt x="3784600" y="0"/>
                  </a:lnTo>
                  <a:close/>
                </a:path>
              </a:pathLst>
            </a:custGeom>
            <a:solidFill>
              <a:srgbClr val="4F81B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t/>
              </a:r>
              <a:endPara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g2204fabc35a_0_1854"/>
            <p:cNvSpPr/>
            <p:nvPr/>
          </p:nvSpPr>
          <p:spPr>
            <a:xfrm>
              <a:off x="2515361" y="3124961"/>
              <a:ext cx="3962400" cy="1513839"/>
            </a:xfrm>
            <a:custGeom>
              <a:rect b="b" l="l" r="r" t="t"/>
              <a:pathLst>
                <a:path extrusionOk="0" h="1513839" w="3962400">
                  <a:moveTo>
                    <a:pt x="0" y="177800"/>
                  </a:moveTo>
                  <a:lnTo>
                    <a:pt x="6352" y="130542"/>
                  </a:lnTo>
                  <a:lnTo>
                    <a:pt x="24280" y="88072"/>
                  </a:lnTo>
                  <a:lnTo>
                    <a:pt x="52085" y="52085"/>
                  </a:lnTo>
                  <a:lnTo>
                    <a:pt x="88072" y="24280"/>
                  </a:lnTo>
                  <a:lnTo>
                    <a:pt x="130542" y="6352"/>
                  </a:lnTo>
                  <a:lnTo>
                    <a:pt x="177800" y="0"/>
                  </a:lnTo>
                  <a:lnTo>
                    <a:pt x="2311400" y="0"/>
                  </a:lnTo>
                  <a:lnTo>
                    <a:pt x="3302000" y="0"/>
                  </a:lnTo>
                  <a:lnTo>
                    <a:pt x="3784600" y="0"/>
                  </a:lnTo>
                  <a:lnTo>
                    <a:pt x="3831857" y="6352"/>
                  </a:lnTo>
                  <a:lnTo>
                    <a:pt x="3874327" y="24280"/>
                  </a:lnTo>
                  <a:lnTo>
                    <a:pt x="3910314" y="52085"/>
                  </a:lnTo>
                  <a:lnTo>
                    <a:pt x="3938119" y="88072"/>
                  </a:lnTo>
                  <a:lnTo>
                    <a:pt x="3956047" y="130542"/>
                  </a:lnTo>
                  <a:lnTo>
                    <a:pt x="3962400" y="177800"/>
                  </a:lnTo>
                  <a:lnTo>
                    <a:pt x="3962400" y="622300"/>
                  </a:lnTo>
                  <a:lnTo>
                    <a:pt x="3962400" y="889000"/>
                  </a:lnTo>
                  <a:lnTo>
                    <a:pt x="3956047" y="936257"/>
                  </a:lnTo>
                  <a:lnTo>
                    <a:pt x="3938119" y="978727"/>
                  </a:lnTo>
                  <a:lnTo>
                    <a:pt x="3910314" y="1014714"/>
                  </a:lnTo>
                  <a:lnTo>
                    <a:pt x="3874327" y="1042519"/>
                  </a:lnTo>
                  <a:lnTo>
                    <a:pt x="3831857" y="1060447"/>
                  </a:lnTo>
                  <a:lnTo>
                    <a:pt x="3784600" y="1066800"/>
                  </a:lnTo>
                  <a:lnTo>
                    <a:pt x="3302000" y="1066800"/>
                  </a:lnTo>
                  <a:lnTo>
                    <a:pt x="3958716" y="1513458"/>
                  </a:lnTo>
                  <a:lnTo>
                    <a:pt x="2311400" y="1066800"/>
                  </a:lnTo>
                  <a:lnTo>
                    <a:pt x="177800" y="1066800"/>
                  </a:lnTo>
                  <a:lnTo>
                    <a:pt x="130542" y="1060447"/>
                  </a:lnTo>
                  <a:lnTo>
                    <a:pt x="88072" y="1042519"/>
                  </a:lnTo>
                  <a:lnTo>
                    <a:pt x="52085" y="1014714"/>
                  </a:lnTo>
                  <a:lnTo>
                    <a:pt x="24280" y="978727"/>
                  </a:lnTo>
                  <a:lnTo>
                    <a:pt x="6352" y="936257"/>
                  </a:lnTo>
                  <a:lnTo>
                    <a:pt x="0" y="889000"/>
                  </a:lnTo>
                  <a:lnTo>
                    <a:pt x="0" y="622300"/>
                  </a:lnTo>
                  <a:lnTo>
                    <a:pt x="0" y="177800"/>
                  </a:lnTo>
                  <a:close/>
                </a:path>
              </a:pathLst>
            </a:custGeom>
            <a:noFill/>
            <a:ln cap="flat" cmpd="sng" w="25400">
              <a:solidFill>
                <a:srgbClr val="385D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t/>
              </a:r>
              <a:endPara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4" name="Google Shape;214;g2204fabc35a_0_1854"/>
          <p:cNvSpPr txBox="1"/>
          <p:nvPr/>
        </p:nvSpPr>
        <p:spPr>
          <a:xfrm>
            <a:off x="3105096" y="3546937"/>
            <a:ext cx="4304700" cy="9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575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estudo de como fazer computadores  realizar tarefas nas quais, no momento,  pessoas são melhores.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g2204fabc35a_0_1854"/>
          <p:cNvSpPr txBox="1"/>
          <p:nvPr/>
        </p:nvSpPr>
        <p:spPr>
          <a:xfrm>
            <a:off x="8391646" y="6265289"/>
            <a:ext cx="12030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5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Elaine Rich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g2204fabc35a_0_1854"/>
          <p:cNvSpPr txBox="1"/>
          <p:nvPr/>
        </p:nvSpPr>
        <p:spPr>
          <a:xfrm>
            <a:off x="537640" y="6909440"/>
            <a:ext cx="5913300" cy="5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8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Kurzweil, R. </a:t>
            </a:r>
            <a:r>
              <a:rPr b="0" i="1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Age Of Intelligent Machines. </a:t>
            </a: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MIT Press,1992.  Rich &amp; Knight. Artificial Intelligence. McGraw-Hill, 1991.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7" name="Google Shape;217;g2204fabc35a_0_1854"/>
          <p:cNvPicPr preferRelativeResize="0"/>
          <p:nvPr/>
        </p:nvPicPr>
        <p:blipFill rotWithShape="1">
          <a:blip r:embed="rId5">
            <a:alphaModFix/>
          </a:blip>
          <a:srcRect b="25066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204fabc35a_0_1871"/>
          <p:cNvSpPr txBox="1"/>
          <p:nvPr>
            <p:ph type="title"/>
          </p:nvPr>
        </p:nvSpPr>
        <p:spPr>
          <a:xfrm>
            <a:off x="3337231" y="508944"/>
            <a:ext cx="40152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400">
                <a:latin typeface="Helvetica Neue"/>
                <a:ea typeface="Helvetica Neue"/>
                <a:cs typeface="Helvetica Neue"/>
                <a:sym typeface="Helvetica Neue"/>
              </a:rPr>
              <a:t>Teste de Turing</a:t>
            </a:r>
            <a:endParaRPr sz="4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3" name="Google Shape;223;g2204fabc35a_0_1871"/>
          <p:cNvSpPr txBox="1"/>
          <p:nvPr/>
        </p:nvSpPr>
        <p:spPr>
          <a:xfrm>
            <a:off x="626750" y="1778425"/>
            <a:ext cx="9867900" cy="1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575">
            <a:spAutoFit/>
          </a:bodyPr>
          <a:lstStyle/>
          <a:p>
            <a:pPr indent="0" lvl="0" marL="0" marR="482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Um teste projetado para identificar se uma máquina é “</a:t>
            </a:r>
            <a:r>
              <a:rPr b="1" i="0" lang="pt-BR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inteligente</a:t>
            </a:r>
            <a:r>
              <a:rPr b="0" i="0" lang="pt-BR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”.</a:t>
            </a:r>
            <a:endParaRPr b="0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482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pt-BR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Dado que “Inteligência” é difícil de definir, o teste mede a capacidade da máquina em agir como um ser humano.</a:t>
            </a:r>
            <a:endParaRPr b="0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24" name="Google Shape;224;g2204fabc35a_0_18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29990" y="3795042"/>
            <a:ext cx="2109103" cy="2634699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g2204fabc35a_0_1871"/>
          <p:cNvSpPr txBox="1"/>
          <p:nvPr/>
        </p:nvSpPr>
        <p:spPr>
          <a:xfrm>
            <a:off x="537640" y="6481573"/>
            <a:ext cx="8147100" cy="9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575">
            <a:spAutoFit/>
          </a:bodyPr>
          <a:lstStyle/>
          <a:p>
            <a:pPr indent="0" lvl="0" marL="0" marR="11049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Alan Turing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Turing, A. </a:t>
            </a:r>
            <a:r>
              <a:rPr b="0" i="1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Computing Machinery and Intelligence</a:t>
            </a: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Mind LIX (236), pp. 433-460, 1950.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6" name="Google Shape;226;g2204fabc35a_0_18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37008" y="3778250"/>
            <a:ext cx="1983161" cy="27925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g2204fabc35a_0_1871"/>
          <p:cNvPicPr preferRelativeResize="0"/>
          <p:nvPr/>
        </p:nvPicPr>
        <p:blipFill rotWithShape="1">
          <a:blip r:embed="rId5">
            <a:alphaModFix/>
          </a:blip>
          <a:srcRect b="25066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2204fabc35a_0_1879"/>
          <p:cNvSpPr txBox="1"/>
          <p:nvPr>
            <p:ph type="title"/>
          </p:nvPr>
        </p:nvSpPr>
        <p:spPr>
          <a:xfrm>
            <a:off x="3337231" y="508944"/>
            <a:ext cx="4015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100">
                <a:latin typeface="Helvetica Neue"/>
                <a:ea typeface="Helvetica Neue"/>
                <a:cs typeface="Helvetica Neue"/>
                <a:sym typeface="Helvetica Neue"/>
              </a:rPr>
              <a:t>Teste de Turing</a:t>
            </a:r>
            <a:endParaRPr sz="4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33" name="Google Shape;233;g2204fabc35a_0_18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61598" y="4040631"/>
            <a:ext cx="2308931" cy="2834491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g2204fabc35a_0_1879"/>
          <p:cNvSpPr txBox="1"/>
          <p:nvPr/>
        </p:nvSpPr>
        <p:spPr>
          <a:xfrm>
            <a:off x="626752" y="1594981"/>
            <a:ext cx="9608700" cy="18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825">
            <a:spAutoFit/>
          </a:bodyPr>
          <a:lstStyle/>
          <a:p>
            <a:pPr indent="-361950" lvl="0" marL="406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"/>
              <a:buChar char="•"/>
            </a:pPr>
            <a:r>
              <a:rPr b="0" i="0" lang="pt-BR" sz="2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Dada uma configuração em que há uma máquina (</a:t>
            </a:r>
            <a:r>
              <a:rPr b="0" i="1" lang="pt-BR" sz="2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0" i="0" lang="pt-BR" sz="2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e  um ser humano	(</a:t>
            </a:r>
            <a:r>
              <a:rPr b="0" i="1" lang="pt-BR" sz="2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r>
              <a:rPr b="0" i="0" lang="pt-BR" sz="2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fisicamente separados do juiz (</a:t>
            </a:r>
            <a:r>
              <a:rPr b="0" i="1" lang="pt-BR" sz="2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r>
              <a:rPr b="0" i="0" lang="pt-BR" sz="2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):</a:t>
            </a:r>
            <a:endParaRPr b="0" i="0" sz="27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1950" lvl="0" marL="406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"/>
              <a:buChar char="•"/>
            </a:pPr>
            <a:r>
              <a:rPr b="0" i="0" lang="pt-BR" sz="2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Juiz é capaz de identificar a máquina?</a:t>
            </a:r>
            <a:endParaRPr b="0" i="0" sz="27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1950" lvl="0" marL="406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"/>
              <a:buChar char="•"/>
            </a:pPr>
            <a:r>
              <a:rPr b="0" i="0" lang="pt-BR" sz="2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 não for capaz: máquina passou no Teste de Turing</a:t>
            </a:r>
            <a:endParaRPr b="0" i="0" sz="27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35" name="Google Shape;235;g2204fabc35a_0_1879"/>
          <p:cNvPicPr preferRelativeResize="0"/>
          <p:nvPr/>
        </p:nvPicPr>
        <p:blipFill rotWithShape="1">
          <a:blip r:embed="rId4">
            <a:alphaModFix/>
          </a:blip>
          <a:srcRect b="25066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204fabc35a_0_1897"/>
          <p:cNvSpPr txBox="1"/>
          <p:nvPr>
            <p:ph type="title"/>
          </p:nvPr>
        </p:nvSpPr>
        <p:spPr>
          <a:xfrm>
            <a:off x="2344082" y="508944"/>
            <a:ext cx="60051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200">
                <a:latin typeface="Helvetica Neue"/>
                <a:ea typeface="Helvetica Neue"/>
                <a:cs typeface="Helvetica Neue"/>
                <a:sym typeface="Helvetica Neue"/>
              </a:rPr>
              <a:t>Curiosidade: CAPTCHA</a:t>
            </a:r>
            <a:endParaRPr sz="4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1" name="Google Shape;241;g2204fabc35a_0_1897"/>
          <p:cNvSpPr txBox="1"/>
          <p:nvPr/>
        </p:nvSpPr>
        <p:spPr>
          <a:xfrm>
            <a:off x="626752" y="1778435"/>
            <a:ext cx="9123300" cy="27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575">
            <a:spAutoFit/>
          </a:bodyPr>
          <a:lstStyle/>
          <a:p>
            <a:pPr indent="-342900" lvl="0" marL="406400" marR="190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Char char="•"/>
            </a:pPr>
            <a:r>
              <a:rPr b="0" i="0" lang="pt-BR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CAPTCHA = </a:t>
            </a:r>
            <a:r>
              <a:rPr b="0" i="1" lang="pt-BR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Completely Automated Public Turing test to Tell  Computers and Humans Apart</a:t>
            </a:r>
            <a:r>
              <a:rPr b="0" i="0" lang="pt-BR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b="0" i="0" sz="20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06400" marR="8255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Char char="•"/>
            </a:pPr>
            <a:r>
              <a:rPr b="0" i="0" lang="pt-BR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Um teste de reconhecimento de palavras em imagens,  supostamente simples para humanos.</a:t>
            </a:r>
            <a:endParaRPr b="0" i="0" sz="20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06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Char char="•"/>
            </a:pPr>
            <a:r>
              <a:rPr b="0" i="0" lang="pt-BR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Feito para identificar programas que tentam utilizar serviços  na Internet, como abrir contas de e-mail grátis.</a:t>
            </a:r>
            <a:endParaRPr b="0" i="0" sz="20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06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Char char="•"/>
            </a:pPr>
            <a:r>
              <a:rPr b="0" i="0" lang="pt-BR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É um teste de Turing, tenta-se identificar uma máquina</a:t>
            </a:r>
            <a:endParaRPr b="0" i="0" sz="20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06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passando por um ser humano.</a:t>
            </a:r>
            <a:endParaRPr b="0" i="0" sz="20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42" name="Google Shape;242;g2204fabc35a_0_18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7335" y="5457472"/>
            <a:ext cx="3044430" cy="8396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g2204fabc35a_0_189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42690" y="5457472"/>
            <a:ext cx="3044430" cy="8396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g2204fabc35a_0_189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18045" y="5457472"/>
            <a:ext cx="3044429" cy="8396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g2204fabc35a_0_189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67335" y="6465006"/>
            <a:ext cx="3044430" cy="8396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g2204fabc35a_0_189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742690" y="6540569"/>
            <a:ext cx="3044430" cy="839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g2204fabc35a_0_189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218045" y="6540569"/>
            <a:ext cx="3044429" cy="839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g2204fabc35a_0_1897"/>
          <p:cNvPicPr preferRelativeResize="0"/>
          <p:nvPr/>
        </p:nvPicPr>
        <p:blipFill rotWithShape="1">
          <a:blip r:embed="rId9">
            <a:alphaModFix/>
          </a:blip>
          <a:srcRect b="25066" l="0" r="0" t="0"/>
          <a:stretch/>
        </p:blipFill>
        <p:spPr>
          <a:xfrm>
            <a:off x="9607875" y="32775"/>
            <a:ext cx="1085525" cy="81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204fabc35a_0_1908"/>
          <p:cNvSpPr txBox="1"/>
          <p:nvPr>
            <p:ph type="title"/>
          </p:nvPr>
        </p:nvSpPr>
        <p:spPr>
          <a:xfrm>
            <a:off x="921889" y="547565"/>
            <a:ext cx="88479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8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000">
                <a:latin typeface="Helvetica Neue"/>
                <a:ea typeface="Helvetica Neue"/>
                <a:cs typeface="Helvetica Neue"/>
                <a:sym typeface="Helvetica Neue"/>
              </a:rPr>
              <a:t>Sistemas que pensam racionalmente</a:t>
            </a:r>
            <a:endParaRPr sz="40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4" name="Google Shape;254;g2204fabc35a_0_1908"/>
          <p:cNvSpPr txBox="1"/>
          <p:nvPr/>
        </p:nvSpPr>
        <p:spPr>
          <a:xfrm>
            <a:off x="8095051" y="5422012"/>
            <a:ext cx="17337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5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Patrick Winston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5" name="Google Shape;255;g2204fabc35a_0_1908"/>
          <p:cNvGrpSpPr/>
          <p:nvPr/>
        </p:nvGrpSpPr>
        <p:grpSpPr>
          <a:xfrm>
            <a:off x="2941463" y="1596169"/>
            <a:ext cx="4633631" cy="1456089"/>
            <a:chOff x="2515361" y="1448561"/>
            <a:chExt cx="3962400" cy="1321435"/>
          </a:xfrm>
        </p:grpSpPr>
        <p:sp>
          <p:nvSpPr>
            <p:cNvPr id="256" name="Google Shape;256;g2204fabc35a_0_1908"/>
            <p:cNvSpPr/>
            <p:nvPr/>
          </p:nvSpPr>
          <p:spPr>
            <a:xfrm>
              <a:off x="2515361" y="1448561"/>
              <a:ext cx="3962400" cy="1321435"/>
            </a:xfrm>
            <a:custGeom>
              <a:rect b="b" l="l" r="r" t="t"/>
              <a:pathLst>
                <a:path extrusionOk="0" h="1321435" w="3962400">
                  <a:moveTo>
                    <a:pt x="1651000" y="1066800"/>
                  </a:moveTo>
                  <a:lnTo>
                    <a:pt x="660400" y="1066800"/>
                  </a:lnTo>
                  <a:lnTo>
                    <a:pt x="147065" y="1321435"/>
                  </a:lnTo>
                  <a:lnTo>
                    <a:pt x="1651000" y="1066800"/>
                  </a:lnTo>
                  <a:close/>
                </a:path>
                <a:path extrusionOk="0" h="1321435" w="3962400">
                  <a:moveTo>
                    <a:pt x="3784600" y="0"/>
                  </a:moveTo>
                  <a:lnTo>
                    <a:pt x="177800" y="0"/>
                  </a:lnTo>
                  <a:lnTo>
                    <a:pt x="130542" y="6352"/>
                  </a:lnTo>
                  <a:lnTo>
                    <a:pt x="88072" y="24280"/>
                  </a:lnTo>
                  <a:lnTo>
                    <a:pt x="52085" y="52085"/>
                  </a:lnTo>
                  <a:lnTo>
                    <a:pt x="24280" y="88072"/>
                  </a:lnTo>
                  <a:lnTo>
                    <a:pt x="6352" y="130542"/>
                  </a:lnTo>
                  <a:lnTo>
                    <a:pt x="0" y="177800"/>
                  </a:lnTo>
                  <a:lnTo>
                    <a:pt x="0" y="889000"/>
                  </a:lnTo>
                  <a:lnTo>
                    <a:pt x="6352" y="936257"/>
                  </a:lnTo>
                  <a:lnTo>
                    <a:pt x="24280" y="978727"/>
                  </a:lnTo>
                  <a:lnTo>
                    <a:pt x="52085" y="1014714"/>
                  </a:lnTo>
                  <a:lnTo>
                    <a:pt x="88072" y="1042519"/>
                  </a:lnTo>
                  <a:lnTo>
                    <a:pt x="130542" y="1060447"/>
                  </a:lnTo>
                  <a:lnTo>
                    <a:pt x="177800" y="1066800"/>
                  </a:lnTo>
                  <a:lnTo>
                    <a:pt x="3784600" y="1066800"/>
                  </a:lnTo>
                  <a:lnTo>
                    <a:pt x="3831857" y="1060447"/>
                  </a:lnTo>
                  <a:lnTo>
                    <a:pt x="3874327" y="1042519"/>
                  </a:lnTo>
                  <a:lnTo>
                    <a:pt x="3910314" y="1014714"/>
                  </a:lnTo>
                  <a:lnTo>
                    <a:pt x="3938119" y="978727"/>
                  </a:lnTo>
                  <a:lnTo>
                    <a:pt x="3956047" y="936257"/>
                  </a:lnTo>
                  <a:lnTo>
                    <a:pt x="3962400" y="889000"/>
                  </a:lnTo>
                  <a:lnTo>
                    <a:pt x="3962400" y="177800"/>
                  </a:lnTo>
                  <a:lnTo>
                    <a:pt x="3956047" y="130542"/>
                  </a:lnTo>
                  <a:lnTo>
                    <a:pt x="3938119" y="88072"/>
                  </a:lnTo>
                  <a:lnTo>
                    <a:pt x="3910314" y="52085"/>
                  </a:lnTo>
                  <a:lnTo>
                    <a:pt x="3874327" y="24280"/>
                  </a:lnTo>
                  <a:lnTo>
                    <a:pt x="3831857" y="6352"/>
                  </a:lnTo>
                  <a:lnTo>
                    <a:pt x="3784600" y="0"/>
                  </a:lnTo>
                  <a:close/>
                </a:path>
              </a:pathLst>
            </a:custGeom>
            <a:solidFill>
              <a:srgbClr val="4F81B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t/>
              </a:r>
              <a:endPara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g2204fabc35a_0_1908"/>
            <p:cNvSpPr/>
            <p:nvPr/>
          </p:nvSpPr>
          <p:spPr>
            <a:xfrm>
              <a:off x="2515361" y="1448561"/>
              <a:ext cx="3962400" cy="1321435"/>
            </a:xfrm>
            <a:custGeom>
              <a:rect b="b" l="l" r="r" t="t"/>
              <a:pathLst>
                <a:path extrusionOk="0" h="1321435" w="3962400">
                  <a:moveTo>
                    <a:pt x="0" y="177800"/>
                  </a:moveTo>
                  <a:lnTo>
                    <a:pt x="6352" y="130542"/>
                  </a:lnTo>
                  <a:lnTo>
                    <a:pt x="24280" y="88072"/>
                  </a:lnTo>
                  <a:lnTo>
                    <a:pt x="52085" y="52085"/>
                  </a:lnTo>
                  <a:lnTo>
                    <a:pt x="88072" y="24280"/>
                  </a:lnTo>
                  <a:lnTo>
                    <a:pt x="130542" y="6352"/>
                  </a:lnTo>
                  <a:lnTo>
                    <a:pt x="177800" y="0"/>
                  </a:lnTo>
                  <a:lnTo>
                    <a:pt x="660400" y="0"/>
                  </a:lnTo>
                  <a:lnTo>
                    <a:pt x="1651000" y="0"/>
                  </a:lnTo>
                  <a:lnTo>
                    <a:pt x="3784600" y="0"/>
                  </a:lnTo>
                  <a:lnTo>
                    <a:pt x="3831857" y="6352"/>
                  </a:lnTo>
                  <a:lnTo>
                    <a:pt x="3874327" y="24280"/>
                  </a:lnTo>
                  <a:lnTo>
                    <a:pt x="3910314" y="52085"/>
                  </a:lnTo>
                  <a:lnTo>
                    <a:pt x="3938119" y="88072"/>
                  </a:lnTo>
                  <a:lnTo>
                    <a:pt x="3956047" y="130542"/>
                  </a:lnTo>
                  <a:lnTo>
                    <a:pt x="3962400" y="177800"/>
                  </a:lnTo>
                  <a:lnTo>
                    <a:pt x="3962400" y="622300"/>
                  </a:lnTo>
                  <a:lnTo>
                    <a:pt x="3962400" y="889000"/>
                  </a:lnTo>
                  <a:lnTo>
                    <a:pt x="3956047" y="936257"/>
                  </a:lnTo>
                  <a:lnTo>
                    <a:pt x="3938119" y="978727"/>
                  </a:lnTo>
                  <a:lnTo>
                    <a:pt x="3910314" y="1014714"/>
                  </a:lnTo>
                  <a:lnTo>
                    <a:pt x="3874327" y="1042519"/>
                  </a:lnTo>
                  <a:lnTo>
                    <a:pt x="3831857" y="1060447"/>
                  </a:lnTo>
                  <a:lnTo>
                    <a:pt x="3784600" y="1066800"/>
                  </a:lnTo>
                  <a:lnTo>
                    <a:pt x="1651000" y="1066800"/>
                  </a:lnTo>
                  <a:lnTo>
                    <a:pt x="147065" y="1321435"/>
                  </a:lnTo>
                  <a:lnTo>
                    <a:pt x="660400" y="1066800"/>
                  </a:lnTo>
                  <a:lnTo>
                    <a:pt x="177800" y="1066800"/>
                  </a:lnTo>
                  <a:lnTo>
                    <a:pt x="130542" y="1060447"/>
                  </a:lnTo>
                  <a:lnTo>
                    <a:pt x="88072" y="1042519"/>
                  </a:lnTo>
                  <a:lnTo>
                    <a:pt x="52085" y="1014714"/>
                  </a:lnTo>
                  <a:lnTo>
                    <a:pt x="24280" y="978727"/>
                  </a:lnTo>
                  <a:lnTo>
                    <a:pt x="6352" y="936257"/>
                  </a:lnTo>
                  <a:lnTo>
                    <a:pt x="0" y="889000"/>
                  </a:lnTo>
                  <a:lnTo>
                    <a:pt x="0" y="622300"/>
                  </a:lnTo>
                  <a:lnTo>
                    <a:pt x="0" y="177800"/>
                  </a:lnTo>
                  <a:close/>
                </a:path>
              </a:pathLst>
            </a:custGeom>
            <a:noFill/>
            <a:ln cap="flat" cmpd="sng" w="25400">
              <a:solidFill>
                <a:srgbClr val="385D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t/>
              </a:r>
              <a:endPara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8" name="Google Shape;258;g2204fabc35a_0_1908"/>
          <p:cNvSpPr txBox="1"/>
          <p:nvPr/>
        </p:nvSpPr>
        <p:spPr>
          <a:xfrm>
            <a:off x="3286883" y="1698757"/>
            <a:ext cx="3940800" cy="9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575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estudo de faculdades mentais por  meio do uso de modelos  computacionais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9" name="Google Shape;259;g2204fabc35a_0_1908"/>
          <p:cNvGrpSpPr/>
          <p:nvPr/>
        </p:nvGrpSpPr>
        <p:grpSpPr>
          <a:xfrm>
            <a:off x="2941463" y="3443395"/>
            <a:ext cx="4633631" cy="1310549"/>
            <a:chOff x="2515361" y="3124961"/>
            <a:chExt cx="3962400" cy="1189354"/>
          </a:xfrm>
        </p:grpSpPr>
        <p:sp>
          <p:nvSpPr>
            <p:cNvPr id="260" name="Google Shape;260;g2204fabc35a_0_1908"/>
            <p:cNvSpPr/>
            <p:nvPr/>
          </p:nvSpPr>
          <p:spPr>
            <a:xfrm>
              <a:off x="2515361" y="3124961"/>
              <a:ext cx="3962400" cy="1189354"/>
            </a:xfrm>
            <a:custGeom>
              <a:rect b="b" l="l" r="r" t="t"/>
              <a:pathLst>
                <a:path extrusionOk="0" h="1189354" w="3962400">
                  <a:moveTo>
                    <a:pt x="3302000" y="838200"/>
                  </a:moveTo>
                  <a:lnTo>
                    <a:pt x="2311400" y="838200"/>
                  </a:lnTo>
                  <a:lnTo>
                    <a:pt x="3958716" y="1189101"/>
                  </a:lnTo>
                  <a:lnTo>
                    <a:pt x="3302000" y="838200"/>
                  </a:lnTo>
                  <a:close/>
                </a:path>
                <a:path extrusionOk="0" h="1189354" w="3962400">
                  <a:moveTo>
                    <a:pt x="3822700" y="0"/>
                  </a:moveTo>
                  <a:lnTo>
                    <a:pt x="139700" y="0"/>
                  </a:lnTo>
                  <a:lnTo>
                    <a:pt x="95520" y="7116"/>
                  </a:lnTo>
                  <a:lnTo>
                    <a:pt x="57168" y="26936"/>
                  </a:lnTo>
                  <a:lnTo>
                    <a:pt x="26936" y="57168"/>
                  </a:lnTo>
                  <a:lnTo>
                    <a:pt x="7116" y="95520"/>
                  </a:lnTo>
                  <a:lnTo>
                    <a:pt x="0" y="139700"/>
                  </a:lnTo>
                  <a:lnTo>
                    <a:pt x="0" y="698500"/>
                  </a:lnTo>
                  <a:lnTo>
                    <a:pt x="7116" y="742679"/>
                  </a:lnTo>
                  <a:lnTo>
                    <a:pt x="26936" y="781031"/>
                  </a:lnTo>
                  <a:lnTo>
                    <a:pt x="57168" y="811263"/>
                  </a:lnTo>
                  <a:lnTo>
                    <a:pt x="95520" y="831083"/>
                  </a:lnTo>
                  <a:lnTo>
                    <a:pt x="139700" y="838200"/>
                  </a:lnTo>
                  <a:lnTo>
                    <a:pt x="3822700" y="838200"/>
                  </a:lnTo>
                  <a:lnTo>
                    <a:pt x="3866879" y="831083"/>
                  </a:lnTo>
                  <a:lnTo>
                    <a:pt x="3905231" y="811263"/>
                  </a:lnTo>
                  <a:lnTo>
                    <a:pt x="3935463" y="781031"/>
                  </a:lnTo>
                  <a:lnTo>
                    <a:pt x="3955283" y="742679"/>
                  </a:lnTo>
                  <a:lnTo>
                    <a:pt x="3962400" y="698500"/>
                  </a:lnTo>
                  <a:lnTo>
                    <a:pt x="3962400" y="139700"/>
                  </a:lnTo>
                  <a:lnTo>
                    <a:pt x="3955283" y="95520"/>
                  </a:lnTo>
                  <a:lnTo>
                    <a:pt x="3935463" y="57168"/>
                  </a:lnTo>
                  <a:lnTo>
                    <a:pt x="3905231" y="26936"/>
                  </a:lnTo>
                  <a:lnTo>
                    <a:pt x="3866879" y="7116"/>
                  </a:lnTo>
                  <a:lnTo>
                    <a:pt x="3822700" y="0"/>
                  </a:lnTo>
                  <a:close/>
                </a:path>
              </a:pathLst>
            </a:custGeom>
            <a:solidFill>
              <a:srgbClr val="4F81B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t/>
              </a:r>
              <a:endPara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g2204fabc35a_0_1908"/>
            <p:cNvSpPr/>
            <p:nvPr/>
          </p:nvSpPr>
          <p:spPr>
            <a:xfrm>
              <a:off x="2515361" y="3124961"/>
              <a:ext cx="3962400" cy="1189354"/>
            </a:xfrm>
            <a:custGeom>
              <a:rect b="b" l="l" r="r" t="t"/>
              <a:pathLst>
                <a:path extrusionOk="0" h="1189354" w="3962400">
                  <a:moveTo>
                    <a:pt x="0" y="139700"/>
                  </a:moveTo>
                  <a:lnTo>
                    <a:pt x="7116" y="95520"/>
                  </a:lnTo>
                  <a:lnTo>
                    <a:pt x="26936" y="57168"/>
                  </a:lnTo>
                  <a:lnTo>
                    <a:pt x="57168" y="26936"/>
                  </a:lnTo>
                  <a:lnTo>
                    <a:pt x="95520" y="7116"/>
                  </a:lnTo>
                  <a:lnTo>
                    <a:pt x="139700" y="0"/>
                  </a:lnTo>
                  <a:lnTo>
                    <a:pt x="2311400" y="0"/>
                  </a:lnTo>
                  <a:lnTo>
                    <a:pt x="3302000" y="0"/>
                  </a:lnTo>
                  <a:lnTo>
                    <a:pt x="3822700" y="0"/>
                  </a:lnTo>
                  <a:lnTo>
                    <a:pt x="3866879" y="7116"/>
                  </a:lnTo>
                  <a:lnTo>
                    <a:pt x="3905231" y="26936"/>
                  </a:lnTo>
                  <a:lnTo>
                    <a:pt x="3935463" y="57168"/>
                  </a:lnTo>
                  <a:lnTo>
                    <a:pt x="3955283" y="95520"/>
                  </a:lnTo>
                  <a:lnTo>
                    <a:pt x="3962400" y="139700"/>
                  </a:lnTo>
                  <a:lnTo>
                    <a:pt x="3962400" y="488950"/>
                  </a:lnTo>
                  <a:lnTo>
                    <a:pt x="3962400" y="698500"/>
                  </a:lnTo>
                  <a:lnTo>
                    <a:pt x="3955283" y="742679"/>
                  </a:lnTo>
                  <a:lnTo>
                    <a:pt x="3935463" y="781031"/>
                  </a:lnTo>
                  <a:lnTo>
                    <a:pt x="3905231" y="811263"/>
                  </a:lnTo>
                  <a:lnTo>
                    <a:pt x="3866879" y="831083"/>
                  </a:lnTo>
                  <a:lnTo>
                    <a:pt x="3822700" y="838200"/>
                  </a:lnTo>
                  <a:lnTo>
                    <a:pt x="3302000" y="838200"/>
                  </a:lnTo>
                  <a:lnTo>
                    <a:pt x="3958716" y="1189101"/>
                  </a:lnTo>
                  <a:lnTo>
                    <a:pt x="2311400" y="838200"/>
                  </a:lnTo>
                  <a:lnTo>
                    <a:pt x="139700" y="838200"/>
                  </a:lnTo>
                  <a:lnTo>
                    <a:pt x="95520" y="831083"/>
                  </a:lnTo>
                  <a:lnTo>
                    <a:pt x="57168" y="811263"/>
                  </a:lnTo>
                  <a:lnTo>
                    <a:pt x="26936" y="781031"/>
                  </a:lnTo>
                  <a:lnTo>
                    <a:pt x="7116" y="742679"/>
                  </a:lnTo>
                  <a:lnTo>
                    <a:pt x="0" y="698500"/>
                  </a:lnTo>
                  <a:lnTo>
                    <a:pt x="0" y="488950"/>
                  </a:lnTo>
                  <a:lnTo>
                    <a:pt x="0" y="139700"/>
                  </a:lnTo>
                  <a:close/>
                </a:path>
              </a:pathLst>
            </a:custGeom>
            <a:noFill/>
            <a:ln cap="flat" cmpd="sng" w="25400">
              <a:solidFill>
                <a:srgbClr val="385D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t/>
              </a:r>
              <a:endPara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2" name="Google Shape;262;g2204fabc35a_0_1908"/>
          <p:cNvSpPr txBox="1"/>
          <p:nvPr/>
        </p:nvSpPr>
        <p:spPr>
          <a:xfrm>
            <a:off x="608216" y="3572124"/>
            <a:ext cx="6722700" cy="10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575">
            <a:spAutoFit/>
          </a:bodyPr>
          <a:lstStyle/>
          <a:p>
            <a:pPr indent="-342900" lvl="0" marL="288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estudo das computações que fazem  possível perceber, pensar e agir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Eugene Charniak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3" name="Google Shape;263;g2204fabc35a_0_19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679" y="1595261"/>
            <a:ext cx="1976400" cy="2676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264" name="Google Shape;264;g2204fabc35a_0_190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0938" y="3442406"/>
            <a:ext cx="1959600" cy="1959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265" name="Google Shape;265;g2204fabc35a_0_1908"/>
          <p:cNvSpPr txBox="1"/>
          <p:nvPr/>
        </p:nvSpPr>
        <p:spPr>
          <a:xfrm>
            <a:off x="804975" y="6936978"/>
            <a:ext cx="8129100" cy="5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8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Charniak &amp; McDermott </a:t>
            </a:r>
            <a:r>
              <a:rPr b="0" i="1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Introduction to Artificial Intelligence. </a:t>
            </a: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Addison-Wesley, 1985.  Winston, P. </a:t>
            </a:r>
            <a:r>
              <a:rPr b="0" i="1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Artificial Intelligence</a:t>
            </a: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Addison Wesley, 1992.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6" name="Google Shape;266;g2204fabc35a_0_1908"/>
          <p:cNvPicPr preferRelativeResize="0"/>
          <p:nvPr/>
        </p:nvPicPr>
        <p:blipFill rotWithShape="1">
          <a:blip r:embed="rId5">
            <a:alphaModFix/>
          </a:blip>
          <a:srcRect b="25066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204fabc35a_0_1924"/>
          <p:cNvSpPr txBox="1"/>
          <p:nvPr>
            <p:ph type="title"/>
          </p:nvPr>
        </p:nvSpPr>
        <p:spPr>
          <a:xfrm>
            <a:off x="921889" y="547565"/>
            <a:ext cx="8847900" cy="6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8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900">
                <a:latin typeface="Helvetica Neue"/>
                <a:ea typeface="Helvetica Neue"/>
                <a:cs typeface="Helvetica Neue"/>
                <a:sym typeface="Helvetica Neue"/>
              </a:rPr>
              <a:t>Sistemas que pensam racionalmente</a:t>
            </a:r>
            <a:endParaRPr sz="39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2" name="Google Shape;272;g2204fabc35a_0_1924"/>
          <p:cNvSpPr txBox="1"/>
          <p:nvPr>
            <p:ph idx="1" type="body"/>
          </p:nvPr>
        </p:nvSpPr>
        <p:spPr>
          <a:xfrm>
            <a:off x="625266" y="1660882"/>
            <a:ext cx="9443100" cy="36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0350">
            <a:spAutoFit/>
          </a:bodyPr>
          <a:lstStyle/>
          <a:p>
            <a:pPr indent="-342900" lvl="0" marL="406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elvetica Neue"/>
              <a:buChar char="•"/>
            </a:pPr>
            <a:r>
              <a:rPr lang="pt-BR" sz="3000">
                <a:latin typeface="Helvetica Neue"/>
                <a:ea typeface="Helvetica Neue"/>
                <a:cs typeface="Helvetica Neue"/>
                <a:sym typeface="Helvetica Neue"/>
              </a:rPr>
              <a:t>Abordagem baseada em inferências lógicas</a:t>
            </a:r>
            <a:endParaRPr sz="3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3050" lvl="1" marL="863600" marR="127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500"/>
              <a:buFont typeface="Helvetica Neue"/>
              <a:buChar char="–"/>
            </a:pPr>
            <a:r>
              <a:rPr lang="pt-BR" sz="2500">
                <a:latin typeface="Helvetica Neue"/>
                <a:ea typeface="Helvetica Neue"/>
                <a:cs typeface="Helvetica Neue"/>
                <a:sym typeface="Helvetica Neue"/>
              </a:rPr>
              <a:t>Dedução:	processo	de	se	obter	conclusões  corretas a partir de premissas corretas</a:t>
            </a:r>
            <a:endParaRPr sz="25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3050" lvl="1" marL="863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500"/>
              <a:buFont typeface="Helvetica Neue"/>
              <a:buChar char="–"/>
            </a:pPr>
            <a:r>
              <a:rPr lang="pt-BR" sz="2500">
                <a:latin typeface="Helvetica Neue"/>
                <a:ea typeface="Helvetica Neue"/>
                <a:cs typeface="Helvetica Neue"/>
                <a:sym typeface="Helvetica Neue"/>
              </a:rPr>
              <a:t>Lógica	 é	um 	formalismo	que	permite	realizar  declarações sobre tipos de objetos e suas relações</a:t>
            </a:r>
            <a:endParaRPr sz="25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3050" lvl="1" marL="8636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500"/>
              <a:buFont typeface="Helvetica Neue"/>
              <a:buChar char="–"/>
            </a:pPr>
            <a:r>
              <a:rPr lang="pt-BR" sz="2500">
                <a:latin typeface="Helvetica Neue"/>
                <a:ea typeface="Helvetica Neue"/>
                <a:cs typeface="Helvetica Neue"/>
                <a:sym typeface="Helvetica Neue"/>
              </a:rPr>
              <a:t>Estudos a partir de 1965:</a:t>
            </a:r>
            <a:endParaRPr sz="25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09550" lvl="2" marL="13208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100"/>
              <a:buFont typeface="Helvetica Neue"/>
              <a:buChar char="•"/>
            </a:pPr>
            <a:r>
              <a:rPr lang="pt-BR" sz="2100">
                <a:latin typeface="Helvetica Neue"/>
                <a:ea typeface="Helvetica Neue"/>
                <a:cs typeface="Helvetica Neue"/>
                <a:sym typeface="Helvetica Neue"/>
              </a:rPr>
              <a:t>Há restrições de representação na linguagem lógica</a:t>
            </a:r>
            <a:endParaRPr sz="2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09550" lvl="2" marL="13208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100"/>
              <a:buFont typeface="Helvetica Neue"/>
              <a:buChar char="•"/>
            </a:pPr>
            <a:r>
              <a:rPr lang="pt-BR" sz="2100">
                <a:latin typeface="Helvetica Neue"/>
                <a:ea typeface="Helvetica Neue"/>
                <a:cs typeface="Helvetica Neue"/>
                <a:sym typeface="Helvetica Neue"/>
              </a:rPr>
              <a:t>Limitações de eficiência do procedimento de prova</a:t>
            </a:r>
            <a:endParaRPr sz="2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73" name="Google Shape;273;g2204fabc35a_0_1924"/>
          <p:cNvPicPr preferRelativeResize="0"/>
          <p:nvPr/>
        </p:nvPicPr>
        <p:blipFill rotWithShape="1">
          <a:blip r:embed="rId3">
            <a:alphaModFix/>
          </a:blip>
          <a:srcRect b="25066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2204fabc35a_1_8"/>
          <p:cNvSpPr txBox="1"/>
          <p:nvPr>
            <p:ph type="title"/>
          </p:nvPr>
        </p:nvSpPr>
        <p:spPr>
          <a:xfrm>
            <a:off x="626475" y="755100"/>
            <a:ext cx="93708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000">
                <a:solidFill>
                  <a:srgbClr val="0E71BA"/>
                </a:solidFill>
              </a:rPr>
              <a:t>Método indutivo</a:t>
            </a:r>
            <a:endParaRPr sz="4000">
              <a:solidFill>
                <a:srgbClr val="0E71BA"/>
              </a:solidFill>
            </a:endParaRPr>
          </a:p>
        </p:txBody>
      </p:sp>
      <p:sp>
        <p:nvSpPr>
          <p:cNvPr id="279" name="Google Shape;279;g2204fabc35a_1_8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80" name="Google Shape;280;g2204fabc35a_1_8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g2204fabc35a_1_8"/>
          <p:cNvSpPr txBox="1"/>
          <p:nvPr/>
        </p:nvSpPr>
        <p:spPr>
          <a:xfrm>
            <a:off x="470200" y="1851000"/>
            <a:ext cx="9921300" cy="46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57785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18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 método indutivo é empregado com muita reserva no meio científico, pois as conclusões obtidas por meio dele são </a:t>
            </a:r>
            <a:r>
              <a:rPr b="1" i="0" lang="pt-BR" sz="18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generalizações</a:t>
            </a:r>
            <a:r>
              <a:rPr b="0" i="0" lang="pt-BR" sz="18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que podem conduzir </a:t>
            </a:r>
            <a:r>
              <a:rPr b="1" i="0" lang="pt-BR" sz="18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inverdades</a:t>
            </a:r>
            <a:r>
              <a:rPr b="0" i="0" lang="pt-BR" sz="18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b="0" i="0" sz="18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57785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57785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18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Por exemplo:</a:t>
            </a:r>
            <a:endParaRPr b="0" i="0" sz="18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57785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18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○ Observo que o cisne 1 é branco.</a:t>
            </a:r>
            <a:endParaRPr b="0" i="0" sz="18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57785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18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○ Observo que o cisne 2 é branco.</a:t>
            </a:r>
            <a:endParaRPr b="0" i="0" sz="18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57785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18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○ Observo que o cisne 3 é branco.</a:t>
            </a:r>
            <a:endParaRPr b="0" i="0" sz="18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57785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18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○ Observo que o cisne 4 é branco.</a:t>
            </a:r>
            <a:endParaRPr b="0" i="0" sz="18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57785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18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○ Observo que o cisne 5000 é branco.</a:t>
            </a:r>
            <a:endParaRPr b="0" i="0" sz="18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57785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57785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82" name="Google Shape;282;g2204fabc35a_1_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42308" y="3037533"/>
            <a:ext cx="4042550" cy="245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204fabc35a_1_59"/>
          <p:cNvSpPr txBox="1"/>
          <p:nvPr>
            <p:ph type="title"/>
          </p:nvPr>
        </p:nvSpPr>
        <p:spPr>
          <a:xfrm>
            <a:off x="626475" y="755100"/>
            <a:ext cx="93708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000">
                <a:solidFill>
                  <a:srgbClr val="0E71BA"/>
                </a:solidFill>
              </a:rPr>
              <a:t>Método indutivo</a:t>
            </a:r>
            <a:endParaRPr sz="4000">
              <a:solidFill>
                <a:srgbClr val="0E71BA"/>
              </a:solidFill>
            </a:endParaRPr>
          </a:p>
        </p:txBody>
      </p:sp>
      <p:sp>
        <p:nvSpPr>
          <p:cNvPr id="288" name="Google Shape;288;g2204fabc35a_1_59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89" name="Google Shape;289;g2204fabc35a_1_59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g2204fabc35a_1_59"/>
          <p:cNvSpPr txBox="1"/>
          <p:nvPr/>
        </p:nvSpPr>
        <p:spPr>
          <a:xfrm>
            <a:off x="470200" y="1851000"/>
            <a:ext cx="9921300" cy="49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457200" marR="57785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18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○ Observo que o cisne 1 é branco.</a:t>
            </a:r>
            <a:endParaRPr b="0" i="0" sz="18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57785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18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○ Observo que o cisne 2 é branco.</a:t>
            </a:r>
            <a:endParaRPr b="0" i="0" sz="18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57785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18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○ Observo que o cisne 3 é branco.</a:t>
            </a:r>
            <a:endParaRPr b="0" i="0" sz="18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57785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18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○ Observo que o cisne 4 é branco.</a:t>
            </a:r>
            <a:endParaRPr b="0" i="0" sz="18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57785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18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○ Observo que o cisne 5000 é branco.</a:t>
            </a:r>
            <a:endParaRPr b="0" i="0" sz="18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57785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57785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18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Por indução, concluo que todo cisne é branco. Parece certo, até o momento que viajo para Nova Zelândia onde existem cisnes pretos. Então, minha conclusão baseada no raciocínio da indução me levou à conclusão errada.</a:t>
            </a:r>
            <a:endParaRPr b="0" i="0" sz="18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57785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57785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57785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91" name="Google Shape;291;g2204fabc35a_1_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65200" y="1573900"/>
            <a:ext cx="2773400" cy="168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g2204fabc35a_1_5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0325" y="5186450"/>
            <a:ext cx="3207900" cy="197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2204fabc35a_1_111"/>
          <p:cNvSpPr txBox="1"/>
          <p:nvPr>
            <p:ph type="title"/>
          </p:nvPr>
        </p:nvSpPr>
        <p:spPr>
          <a:xfrm>
            <a:off x="626475" y="755100"/>
            <a:ext cx="93708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000">
                <a:solidFill>
                  <a:srgbClr val="0E71BA"/>
                </a:solidFill>
              </a:rPr>
              <a:t>Método dedutivo</a:t>
            </a:r>
            <a:endParaRPr sz="4000">
              <a:solidFill>
                <a:srgbClr val="0E71BA"/>
              </a:solidFill>
            </a:endParaRPr>
          </a:p>
        </p:txBody>
      </p:sp>
      <p:sp>
        <p:nvSpPr>
          <p:cNvPr id="298" name="Google Shape;298;g2204fabc35a_1_111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99" name="Google Shape;299;g2204fabc35a_1_111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g2204fabc35a_1_111"/>
          <p:cNvSpPr txBox="1"/>
          <p:nvPr/>
        </p:nvSpPr>
        <p:spPr>
          <a:xfrm>
            <a:off x="470200" y="1851000"/>
            <a:ext cx="9921300" cy="13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900" lvl="0" marL="457200" marR="57785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92934"/>
              </a:buClr>
              <a:buSzPts val="1800"/>
              <a:buFont typeface="Helvetica Neue"/>
              <a:buChar char="●"/>
            </a:pPr>
            <a:r>
              <a:rPr b="0" i="0" lang="pt-BR" sz="18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 premissas são avaliadas e ordenadas em uma </a:t>
            </a:r>
            <a:r>
              <a:rPr b="1" i="0" lang="pt-BR" sz="18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sequência de causa e efeito</a:t>
            </a:r>
            <a:r>
              <a:rPr b="0" i="0" lang="pt-BR" sz="18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de modo que a conclusão obtida seja resultante da sequência completa, emergindo como fato novo extraído ou, ainda, deduzindo a partir das premissas constituintes.</a:t>
            </a:r>
            <a:endParaRPr b="0" i="0" sz="18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57785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01" name="Google Shape;301;g2204fabc35a_1_1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27550" y="3740925"/>
            <a:ext cx="4714975" cy="289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2204fabc35a_1_119"/>
          <p:cNvSpPr txBox="1"/>
          <p:nvPr>
            <p:ph type="title"/>
          </p:nvPr>
        </p:nvSpPr>
        <p:spPr>
          <a:xfrm>
            <a:off x="626475" y="755100"/>
            <a:ext cx="93708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000">
                <a:solidFill>
                  <a:srgbClr val="0E71BA"/>
                </a:solidFill>
              </a:rPr>
              <a:t>Método dedutivo</a:t>
            </a:r>
            <a:endParaRPr sz="4000">
              <a:solidFill>
                <a:srgbClr val="0E71BA"/>
              </a:solidFill>
            </a:endParaRPr>
          </a:p>
        </p:txBody>
      </p:sp>
      <p:sp>
        <p:nvSpPr>
          <p:cNvPr id="307" name="Google Shape;307;g2204fabc35a_1_119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08" name="Google Shape;308;g2204fabc35a_1_119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g2204fabc35a_1_119"/>
          <p:cNvSpPr txBox="1"/>
          <p:nvPr/>
        </p:nvSpPr>
        <p:spPr>
          <a:xfrm>
            <a:off x="470200" y="1851000"/>
            <a:ext cx="9921300" cy="10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57785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18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Vejamos um exemplo com o seguinte enunciado: </a:t>
            </a:r>
            <a:r>
              <a:rPr b="1" i="0" lang="pt-BR" sz="18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“Desejo saber se Maria é filha de João”</a:t>
            </a:r>
            <a:r>
              <a:rPr b="0" i="0" lang="pt-BR" sz="18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temos as seguintes premissas:</a:t>
            </a:r>
            <a:endParaRPr b="0" i="0" sz="18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57785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0" name="Google Shape;310;g2204fabc35a_1_119"/>
          <p:cNvSpPr txBox="1"/>
          <p:nvPr/>
        </p:nvSpPr>
        <p:spPr>
          <a:xfrm>
            <a:off x="223825" y="2740500"/>
            <a:ext cx="5105400" cy="29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1. Todo ser humano possui em seu corpo uma estrutura molecular denominada DNA.</a:t>
            </a:r>
            <a:endParaRPr b="0" i="0" sz="1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2. O DNA é único para cada ser humano e está presente no seu corpo e no corpo de seus descendentes.</a:t>
            </a:r>
            <a:endParaRPr b="0" i="0" sz="1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3. Descendentes é todo o ser humano gerado a partir de outros dois seres humanos.</a:t>
            </a:r>
            <a:endParaRPr b="0" i="0" sz="1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4. Ao ser humano gerador, denominamos pai ou mãe.</a:t>
            </a:r>
            <a:endParaRPr b="0" i="0" sz="1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5. Ao ser humano gerado, denominamos filho ou filha.</a:t>
            </a:r>
            <a:endParaRPr b="0" i="0" sz="1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1" name="Google Shape;311;g2204fabc35a_1_119"/>
          <p:cNvSpPr txBox="1"/>
          <p:nvPr/>
        </p:nvSpPr>
        <p:spPr>
          <a:xfrm>
            <a:off x="5329225" y="2740500"/>
            <a:ext cx="5309100" cy="27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6. O DNA de um ser humano pode ser identificado utilizando-se de testes inequívoco, chamado teste de DNA.</a:t>
            </a:r>
            <a:endParaRPr b="0" i="0" sz="1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7. O teste de DNA mostra o DNA presente no corpo do indivíduo, incluindo os componentes de DNA de se seus geradores.</a:t>
            </a:r>
            <a:endParaRPr b="0" i="0" sz="1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8. Maria foi submetida ao teste de DNA.</a:t>
            </a:r>
            <a:endParaRPr b="0" i="0" sz="1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9. Não foi identificado componente de DNA de João no teste de Maria</a:t>
            </a:r>
            <a:endParaRPr b="0" i="0" sz="16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2204fabc35a_1_128"/>
          <p:cNvSpPr txBox="1"/>
          <p:nvPr>
            <p:ph type="title"/>
          </p:nvPr>
        </p:nvSpPr>
        <p:spPr>
          <a:xfrm>
            <a:off x="626475" y="755100"/>
            <a:ext cx="93708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000">
                <a:solidFill>
                  <a:srgbClr val="0E71BA"/>
                </a:solidFill>
              </a:rPr>
              <a:t>Causalidade vs Correlação</a:t>
            </a:r>
            <a:endParaRPr sz="4000">
              <a:solidFill>
                <a:srgbClr val="0E71BA"/>
              </a:solidFill>
            </a:endParaRPr>
          </a:p>
        </p:txBody>
      </p:sp>
      <p:sp>
        <p:nvSpPr>
          <p:cNvPr id="317" name="Google Shape;317;g2204fabc35a_1_128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18" name="Google Shape;318;g2204fabc35a_1_128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g2204fabc35a_1_128"/>
          <p:cNvSpPr txBox="1"/>
          <p:nvPr/>
        </p:nvSpPr>
        <p:spPr>
          <a:xfrm>
            <a:off x="470200" y="1851000"/>
            <a:ext cx="99213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900" lvl="0" marL="457200" marR="57785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92934"/>
              </a:buClr>
              <a:buSzPts val="1800"/>
              <a:buFont typeface="Helvetica Neue"/>
              <a:buChar char="●"/>
            </a:pPr>
            <a:r>
              <a:rPr b="1" i="0" lang="pt-BR" sz="18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Correlação espúria:</a:t>
            </a:r>
            <a:r>
              <a:rPr b="0" i="0" lang="pt-BR" sz="18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Não confunda mera coincidência com causa.</a:t>
            </a:r>
            <a:endParaRPr b="0" i="0" sz="18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0" name="Google Shape;320;g2204fabc35a_1_128"/>
          <p:cNvSpPr txBox="1"/>
          <p:nvPr/>
        </p:nvSpPr>
        <p:spPr>
          <a:xfrm>
            <a:off x="1080675" y="7003200"/>
            <a:ext cx="84624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sng" cap="none" strike="noStrike">
                <a:solidFill>
                  <a:srgbClr val="0E71BA"/>
                </a:solidFill>
                <a:latin typeface="Helvetica Neue"/>
                <a:ea typeface="Helvetica Neue"/>
                <a:cs typeface="Helvetica Neue"/>
                <a:sym typeface="Helvetica Neue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https://www.tylervigen.com/spurious-correlations</a:t>
            </a:r>
            <a:endParaRPr b="0" i="0" sz="2200" u="none" cap="none" strike="noStrike">
              <a:solidFill>
                <a:srgbClr val="0E71B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21" name="Google Shape;321;g2204fabc35a_1_1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03652" y="2302713"/>
            <a:ext cx="6016500" cy="4538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204fabc35a_0_1929"/>
          <p:cNvSpPr txBox="1"/>
          <p:nvPr>
            <p:ph type="title"/>
          </p:nvPr>
        </p:nvSpPr>
        <p:spPr>
          <a:xfrm>
            <a:off x="790004" y="508944"/>
            <a:ext cx="91107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200">
                <a:latin typeface="Helvetica Neue"/>
                <a:ea typeface="Helvetica Neue"/>
                <a:cs typeface="Helvetica Neue"/>
                <a:sym typeface="Helvetica Neue"/>
              </a:rPr>
              <a:t>Sistemas que agem racionalmente</a:t>
            </a:r>
            <a:endParaRPr sz="4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7" name="Google Shape;327;g2204fabc35a_0_1929"/>
          <p:cNvSpPr txBox="1"/>
          <p:nvPr/>
        </p:nvSpPr>
        <p:spPr>
          <a:xfrm>
            <a:off x="8327039" y="5460551"/>
            <a:ext cx="12750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5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Nils Nilsson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8" name="Google Shape;328;g2204fabc35a_0_1929"/>
          <p:cNvGrpSpPr/>
          <p:nvPr/>
        </p:nvGrpSpPr>
        <p:grpSpPr>
          <a:xfrm>
            <a:off x="2941463" y="1764099"/>
            <a:ext cx="4633631" cy="1248275"/>
            <a:chOff x="2515361" y="1600961"/>
            <a:chExt cx="3962400" cy="1132839"/>
          </a:xfrm>
        </p:grpSpPr>
        <p:sp>
          <p:nvSpPr>
            <p:cNvPr id="329" name="Google Shape;329;g2204fabc35a_0_1929"/>
            <p:cNvSpPr/>
            <p:nvPr/>
          </p:nvSpPr>
          <p:spPr>
            <a:xfrm>
              <a:off x="2515361" y="1600961"/>
              <a:ext cx="3962400" cy="1132839"/>
            </a:xfrm>
            <a:custGeom>
              <a:rect b="b" l="l" r="r" t="t"/>
              <a:pathLst>
                <a:path extrusionOk="0" h="1132839" w="3962400">
                  <a:moveTo>
                    <a:pt x="1651000" y="914400"/>
                  </a:moveTo>
                  <a:lnTo>
                    <a:pt x="660400" y="914400"/>
                  </a:lnTo>
                  <a:lnTo>
                    <a:pt x="147065" y="1132586"/>
                  </a:lnTo>
                  <a:lnTo>
                    <a:pt x="1651000" y="914400"/>
                  </a:lnTo>
                  <a:close/>
                </a:path>
                <a:path extrusionOk="0" h="1132839" w="3962400">
                  <a:moveTo>
                    <a:pt x="3810000" y="0"/>
                  </a:moveTo>
                  <a:lnTo>
                    <a:pt x="152400" y="0"/>
                  </a:lnTo>
                  <a:lnTo>
                    <a:pt x="104217" y="7766"/>
                  </a:lnTo>
                  <a:lnTo>
                    <a:pt x="62380" y="29394"/>
                  </a:lnTo>
                  <a:lnTo>
                    <a:pt x="29394" y="62380"/>
                  </a:lnTo>
                  <a:lnTo>
                    <a:pt x="7766" y="104217"/>
                  </a:lnTo>
                  <a:lnTo>
                    <a:pt x="0" y="152400"/>
                  </a:lnTo>
                  <a:lnTo>
                    <a:pt x="0" y="762000"/>
                  </a:lnTo>
                  <a:lnTo>
                    <a:pt x="7766" y="810182"/>
                  </a:lnTo>
                  <a:lnTo>
                    <a:pt x="29394" y="852019"/>
                  </a:lnTo>
                  <a:lnTo>
                    <a:pt x="62380" y="885005"/>
                  </a:lnTo>
                  <a:lnTo>
                    <a:pt x="104217" y="906633"/>
                  </a:lnTo>
                  <a:lnTo>
                    <a:pt x="152400" y="914400"/>
                  </a:lnTo>
                  <a:lnTo>
                    <a:pt x="3810000" y="914400"/>
                  </a:lnTo>
                  <a:lnTo>
                    <a:pt x="3858182" y="906633"/>
                  </a:lnTo>
                  <a:lnTo>
                    <a:pt x="3900019" y="885005"/>
                  </a:lnTo>
                  <a:lnTo>
                    <a:pt x="3933005" y="852019"/>
                  </a:lnTo>
                  <a:lnTo>
                    <a:pt x="3954633" y="810182"/>
                  </a:lnTo>
                  <a:lnTo>
                    <a:pt x="3962400" y="762000"/>
                  </a:lnTo>
                  <a:lnTo>
                    <a:pt x="3962400" y="152400"/>
                  </a:lnTo>
                  <a:lnTo>
                    <a:pt x="3954633" y="104217"/>
                  </a:lnTo>
                  <a:lnTo>
                    <a:pt x="3933005" y="62380"/>
                  </a:lnTo>
                  <a:lnTo>
                    <a:pt x="3900019" y="29394"/>
                  </a:lnTo>
                  <a:lnTo>
                    <a:pt x="3858182" y="7766"/>
                  </a:lnTo>
                  <a:lnTo>
                    <a:pt x="3810000" y="0"/>
                  </a:lnTo>
                  <a:close/>
                </a:path>
              </a:pathLst>
            </a:custGeom>
            <a:solidFill>
              <a:srgbClr val="4F81B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t/>
              </a:r>
              <a:endPara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g2204fabc35a_0_1929"/>
            <p:cNvSpPr/>
            <p:nvPr/>
          </p:nvSpPr>
          <p:spPr>
            <a:xfrm>
              <a:off x="2515361" y="1600961"/>
              <a:ext cx="3962400" cy="1132839"/>
            </a:xfrm>
            <a:custGeom>
              <a:rect b="b" l="l" r="r" t="t"/>
              <a:pathLst>
                <a:path extrusionOk="0" h="1132839" w="3962400">
                  <a:moveTo>
                    <a:pt x="0" y="152400"/>
                  </a:moveTo>
                  <a:lnTo>
                    <a:pt x="7766" y="104217"/>
                  </a:lnTo>
                  <a:lnTo>
                    <a:pt x="29394" y="62380"/>
                  </a:lnTo>
                  <a:lnTo>
                    <a:pt x="62380" y="29394"/>
                  </a:lnTo>
                  <a:lnTo>
                    <a:pt x="104217" y="7766"/>
                  </a:lnTo>
                  <a:lnTo>
                    <a:pt x="152400" y="0"/>
                  </a:lnTo>
                  <a:lnTo>
                    <a:pt x="660400" y="0"/>
                  </a:lnTo>
                  <a:lnTo>
                    <a:pt x="1651000" y="0"/>
                  </a:lnTo>
                  <a:lnTo>
                    <a:pt x="3810000" y="0"/>
                  </a:lnTo>
                  <a:lnTo>
                    <a:pt x="3858182" y="7766"/>
                  </a:lnTo>
                  <a:lnTo>
                    <a:pt x="3900019" y="29394"/>
                  </a:lnTo>
                  <a:lnTo>
                    <a:pt x="3933005" y="62380"/>
                  </a:lnTo>
                  <a:lnTo>
                    <a:pt x="3954633" y="104217"/>
                  </a:lnTo>
                  <a:lnTo>
                    <a:pt x="3962400" y="152400"/>
                  </a:lnTo>
                  <a:lnTo>
                    <a:pt x="3962400" y="533400"/>
                  </a:lnTo>
                  <a:lnTo>
                    <a:pt x="3962400" y="762000"/>
                  </a:lnTo>
                  <a:lnTo>
                    <a:pt x="3954633" y="810182"/>
                  </a:lnTo>
                  <a:lnTo>
                    <a:pt x="3933005" y="852019"/>
                  </a:lnTo>
                  <a:lnTo>
                    <a:pt x="3900019" y="885005"/>
                  </a:lnTo>
                  <a:lnTo>
                    <a:pt x="3858182" y="906633"/>
                  </a:lnTo>
                  <a:lnTo>
                    <a:pt x="3810000" y="914400"/>
                  </a:lnTo>
                  <a:lnTo>
                    <a:pt x="1651000" y="914400"/>
                  </a:lnTo>
                  <a:lnTo>
                    <a:pt x="147065" y="1132586"/>
                  </a:lnTo>
                  <a:lnTo>
                    <a:pt x="660400" y="914400"/>
                  </a:lnTo>
                  <a:lnTo>
                    <a:pt x="152400" y="914400"/>
                  </a:lnTo>
                  <a:lnTo>
                    <a:pt x="104217" y="906633"/>
                  </a:lnTo>
                  <a:lnTo>
                    <a:pt x="62380" y="885005"/>
                  </a:lnTo>
                  <a:lnTo>
                    <a:pt x="29394" y="852019"/>
                  </a:lnTo>
                  <a:lnTo>
                    <a:pt x="7766" y="810182"/>
                  </a:lnTo>
                  <a:lnTo>
                    <a:pt x="0" y="762000"/>
                  </a:lnTo>
                  <a:lnTo>
                    <a:pt x="0" y="533400"/>
                  </a:lnTo>
                  <a:lnTo>
                    <a:pt x="0" y="152400"/>
                  </a:lnTo>
                  <a:close/>
                </a:path>
              </a:pathLst>
            </a:custGeom>
            <a:noFill/>
            <a:ln cap="flat" cmpd="sng" w="25375">
              <a:solidFill>
                <a:srgbClr val="385D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t/>
              </a:r>
              <a:endPara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1" name="Google Shape;331;g2204fabc35a_0_1929"/>
          <p:cNvSpPr txBox="1"/>
          <p:nvPr/>
        </p:nvSpPr>
        <p:spPr>
          <a:xfrm>
            <a:off x="3180394" y="1934604"/>
            <a:ext cx="4152600" cy="6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575">
            <a:spAutoFit/>
          </a:bodyPr>
          <a:lstStyle/>
          <a:p>
            <a:pPr indent="-20320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Inteligência computacional é o estudo  do projeto de agentes inteligentes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2" name="Google Shape;332;g2204fabc35a_0_1929"/>
          <p:cNvGrpSpPr/>
          <p:nvPr/>
        </p:nvGrpSpPr>
        <p:grpSpPr>
          <a:xfrm>
            <a:off x="2941463" y="3443395"/>
            <a:ext cx="4633631" cy="1310549"/>
            <a:chOff x="2515361" y="3124961"/>
            <a:chExt cx="3962400" cy="1189354"/>
          </a:xfrm>
        </p:grpSpPr>
        <p:sp>
          <p:nvSpPr>
            <p:cNvPr id="333" name="Google Shape;333;g2204fabc35a_0_1929"/>
            <p:cNvSpPr/>
            <p:nvPr/>
          </p:nvSpPr>
          <p:spPr>
            <a:xfrm>
              <a:off x="2515361" y="3124961"/>
              <a:ext cx="3962400" cy="1189354"/>
            </a:xfrm>
            <a:custGeom>
              <a:rect b="b" l="l" r="r" t="t"/>
              <a:pathLst>
                <a:path extrusionOk="0" h="1189354" w="3962400">
                  <a:moveTo>
                    <a:pt x="3302000" y="838200"/>
                  </a:moveTo>
                  <a:lnTo>
                    <a:pt x="2311400" y="838200"/>
                  </a:lnTo>
                  <a:lnTo>
                    <a:pt x="3958716" y="1189101"/>
                  </a:lnTo>
                  <a:lnTo>
                    <a:pt x="3302000" y="838200"/>
                  </a:lnTo>
                  <a:close/>
                </a:path>
                <a:path extrusionOk="0" h="1189354" w="3962400">
                  <a:moveTo>
                    <a:pt x="3822700" y="0"/>
                  </a:moveTo>
                  <a:lnTo>
                    <a:pt x="139700" y="0"/>
                  </a:lnTo>
                  <a:lnTo>
                    <a:pt x="95520" y="7116"/>
                  </a:lnTo>
                  <a:lnTo>
                    <a:pt x="57168" y="26936"/>
                  </a:lnTo>
                  <a:lnTo>
                    <a:pt x="26936" y="57168"/>
                  </a:lnTo>
                  <a:lnTo>
                    <a:pt x="7116" y="95520"/>
                  </a:lnTo>
                  <a:lnTo>
                    <a:pt x="0" y="139700"/>
                  </a:lnTo>
                  <a:lnTo>
                    <a:pt x="0" y="698500"/>
                  </a:lnTo>
                  <a:lnTo>
                    <a:pt x="7116" y="742679"/>
                  </a:lnTo>
                  <a:lnTo>
                    <a:pt x="26936" y="781031"/>
                  </a:lnTo>
                  <a:lnTo>
                    <a:pt x="57168" y="811263"/>
                  </a:lnTo>
                  <a:lnTo>
                    <a:pt x="95520" y="831083"/>
                  </a:lnTo>
                  <a:lnTo>
                    <a:pt x="139700" y="838200"/>
                  </a:lnTo>
                  <a:lnTo>
                    <a:pt x="3822700" y="838200"/>
                  </a:lnTo>
                  <a:lnTo>
                    <a:pt x="3866879" y="831083"/>
                  </a:lnTo>
                  <a:lnTo>
                    <a:pt x="3905231" y="811263"/>
                  </a:lnTo>
                  <a:lnTo>
                    <a:pt x="3935463" y="781031"/>
                  </a:lnTo>
                  <a:lnTo>
                    <a:pt x="3955283" y="742679"/>
                  </a:lnTo>
                  <a:lnTo>
                    <a:pt x="3962400" y="698500"/>
                  </a:lnTo>
                  <a:lnTo>
                    <a:pt x="3962400" y="139700"/>
                  </a:lnTo>
                  <a:lnTo>
                    <a:pt x="3955283" y="95520"/>
                  </a:lnTo>
                  <a:lnTo>
                    <a:pt x="3935463" y="57168"/>
                  </a:lnTo>
                  <a:lnTo>
                    <a:pt x="3905231" y="26936"/>
                  </a:lnTo>
                  <a:lnTo>
                    <a:pt x="3866879" y="7116"/>
                  </a:lnTo>
                  <a:lnTo>
                    <a:pt x="3822700" y="0"/>
                  </a:lnTo>
                  <a:close/>
                </a:path>
              </a:pathLst>
            </a:custGeom>
            <a:solidFill>
              <a:srgbClr val="4F81B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t/>
              </a:r>
              <a:endPara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g2204fabc35a_0_1929"/>
            <p:cNvSpPr/>
            <p:nvPr/>
          </p:nvSpPr>
          <p:spPr>
            <a:xfrm>
              <a:off x="2515361" y="3124961"/>
              <a:ext cx="3962400" cy="1189354"/>
            </a:xfrm>
            <a:custGeom>
              <a:rect b="b" l="l" r="r" t="t"/>
              <a:pathLst>
                <a:path extrusionOk="0" h="1189354" w="3962400">
                  <a:moveTo>
                    <a:pt x="0" y="139700"/>
                  </a:moveTo>
                  <a:lnTo>
                    <a:pt x="7116" y="95520"/>
                  </a:lnTo>
                  <a:lnTo>
                    <a:pt x="26936" y="57168"/>
                  </a:lnTo>
                  <a:lnTo>
                    <a:pt x="57168" y="26936"/>
                  </a:lnTo>
                  <a:lnTo>
                    <a:pt x="95520" y="7116"/>
                  </a:lnTo>
                  <a:lnTo>
                    <a:pt x="139700" y="0"/>
                  </a:lnTo>
                  <a:lnTo>
                    <a:pt x="2311400" y="0"/>
                  </a:lnTo>
                  <a:lnTo>
                    <a:pt x="3302000" y="0"/>
                  </a:lnTo>
                  <a:lnTo>
                    <a:pt x="3822700" y="0"/>
                  </a:lnTo>
                  <a:lnTo>
                    <a:pt x="3866879" y="7116"/>
                  </a:lnTo>
                  <a:lnTo>
                    <a:pt x="3905231" y="26936"/>
                  </a:lnTo>
                  <a:lnTo>
                    <a:pt x="3935463" y="57168"/>
                  </a:lnTo>
                  <a:lnTo>
                    <a:pt x="3955283" y="95520"/>
                  </a:lnTo>
                  <a:lnTo>
                    <a:pt x="3962400" y="139700"/>
                  </a:lnTo>
                  <a:lnTo>
                    <a:pt x="3962400" y="488950"/>
                  </a:lnTo>
                  <a:lnTo>
                    <a:pt x="3962400" y="698500"/>
                  </a:lnTo>
                  <a:lnTo>
                    <a:pt x="3955283" y="742679"/>
                  </a:lnTo>
                  <a:lnTo>
                    <a:pt x="3935463" y="781031"/>
                  </a:lnTo>
                  <a:lnTo>
                    <a:pt x="3905231" y="811263"/>
                  </a:lnTo>
                  <a:lnTo>
                    <a:pt x="3866879" y="831083"/>
                  </a:lnTo>
                  <a:lnTo>
                    <a:pt x="3822700" y="838200"/>
                  </a:lnTo>
                  <a:lnTo>
                    <a:pt x="3302000" y="838200"/>
                  </a:lnTo>
                  <a:lnTo>
                    <a:pt x="3958716" y="1189101"/>
                  </a:lnTo>
                  <a:lnTo>
                    <a:pt x="2311400" y="838200"/>
                  </a:lnTo>
                  <a:lnTo>
                    <a:pt x="139700" y="838200"/>
                  </a:lnTo>
                  <a:lnTo>
                    <a:pt x="95520" y="831083"/>
                  </a:lnTo>
                  <a:lnTo>
                    <a:pt x="57168" y="811263"/>
                  </a:lnTo>
                  <a:lnTo>
                    <a:pt x="26936" y="781031"/>
                  </a:lnTo>
                  <a:lnTo>
                    <a:pt x="7116" y="742679"/>
                  </a:lnTo>
                  <a:lnTo>
                    <a:pt x="0" y="698500"/>
                  </a:lnTo>
                  <a:lnTo>
                    <a:pt x="0" y="488950"/>
                  </a:lnTo>
                  <a:lnTo>
                    <a:pt x="0" y="139700"/>
                  </a:lnTo>
                  <a:close/>
                </a:path>
              </a:pathLst>
            </a:custGeom>
            <a:noFill/>
            <a:ln cap="flat" cmpd="sng" w="25400">
              <a:solidFill>
                <a:srgbClr val="385D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t/>
              </a:r>
              <a:endPara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5" name="Google Shape;335;g2204fabc35a_0_1929"/>
          <p:cNvSpPr txBox="1"/>
          <p:nvPr/>
        </p:nvSpPr>
        <p:spPr>
          <a:xfrm>
            <a:off x="879829" y="3420995"/>
            <a:ext cx="6090900" cy="13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575">
            <a:spAutoFit/>
          </a:bodyPr>
          <a:lstStyle/>
          <a:p>
            <a:pPr indent="368300" lvl="0" marL="2628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I.A. é preocupada com o  comportamento inteligente em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81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artefatos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David Poole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g2204fabc35a_0_1929"/>
          <p:cNvSpPr txBox="1"/>
          <p:nvPr/>
        </p:nvSpPr>
        <p:spPr>
          <a:xfrm>
            <a:off x="894087" y="6921529"/>
            <a:ext cx="7686000" cy="5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8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Poole at al. </a:t>
            </a:r>
            <a:r>
              <a:rPr b="0" i="1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Computational Intelligence: A Logical Approach</a:t>
            </a: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Oxford Press, 1998.  Nilsson, N. </a:t>
            </a:r>
            <a:r>
              <a:rPr b="0" i="1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Artificial Intelligence: A New Synthesis</a:t>
            </a: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Morgan Kaufmann, 1998.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7" name="Google Shape;337;g2204fabc35a_0_19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4074" y="1556638"/>
            <a:ext cx="2015100" cy="276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338" name="Google Shape;338;g2204fabc35a_0_19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50543" y="2854678"/>
            <a:ext cx="1920900" cy="2629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339" name="Google Shape;339;g2204fabc35a_0_1929"/>
          <p:cNvPicPr preferRelativeResize="0"/>
          <p:nvPr/>
        </p:nvPicPr>
        <p:blipFill rotWithShape="1">
          <a:blip r:embed="rId5">
            <a:alphaModFix/>
          </a:blip>
          <a:srcRect b="25066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2204fabc35a_0_1945"/>
          <p:cNvSpPr txBox="1"/>
          <p:nvPr>
            <p:ph type="title"/>
          </p:nvPr>
        </p:nvSpPr>
        <p:spPr>
          <a:xfrm>
            <a:off x="790004" y="508944"/>
            <a:ext cx="91107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200">
                <a:latin typeface="Helvetica Neue"/>
                <a:ea typeface="Helvetica Neue"/>
                <a:cs typeface="Helvetica Neue"/>
                <a:sym typeface="Helvetica Neue"/>
              </a:rPr>
              <a:t>Sistemas que agem racionalmente</a:t>
            </a:r>
            <a:endParaRPr sz="4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45" name="Google Shape;345;g2204fabc35a_0_1945"/>
          <p:cNvSpPr txBox="1"/>
          <p:nvPr/>
        </p:nvSpPr>
        <p:spPr>
          <a:xfrm>
            <a:off x="626752" y="1778435"/>
            <a:ext cx="8768700" cy="3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575">
            <a:spAutoFit/>
          </a:bodyPr>
          <a:lstStyle/>
          <a:p>
            <a:pPr indent="-361950" lvl="0" marL="406400" marR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</a:pPr>
            <a:r>
              <a:rPr b="0" i="0" lang="pt-BR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</a:t>
            </a:r>
            <a:r>
              <a:rPr b="0" i="1" lang="pt-BR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 agente racional é aquele que age para obter o melhor  resultado ou, se existe incerteza, o melhor resultado  esperado</a:t>
            </a:r>
            <a:r>
              <a:rPr b="0" i="0" lang="pt-BR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” (Russell &amp; Norvig, 2010)</a:t>
            </a:r>
            <a:endParaRPr b="0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1950" lvl="0" marL="406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</a:pPr>
            <a:r>
              <a:rPr b="0" i="0" lang="pt-BR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I.A. pragmática:</a:t>
            </a:r>
            <a:endParaRPr b="0" i="0" sz="2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2100" lvl="1" marL="863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–"/>
            </a:pPr>
            <a:r>
              <a:rPr b="0" i="0" lang="pt-BR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Visa encontrar a melhor solução dada uma medida de sucesso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2100" lvl="1" marL="863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–"/>
            </a:pPr>
            <a:r>
              <a:rPr b="0" i="0" lang="pt-BR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Recentemente tem utilizado muitos métodos fundamentados em  matemática e estatística</a:t>
            </a:r>
            <a:endParaRPr b="0" i="0" sz="1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46" name="Google Shape;346;g2204fabc35a_0_1945"/>
          <p:cNvPicPr preferRelativeResize="0"/>
          <p:nvPr/>
        </p:nvPicPr>
        <p:blipFill rotWithShape="1">
          <a:blip r:embed="rId3">
            <a:alphaModFix/>
          </a:blip>
          <a:srcRect b="25066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2204fabc35a_0_1950"/>
          <p:cNvSpPr txBox="1"/>
          <p:nvPr>
            <p:ph type="title"/>
          </p:nvPr>
        </p:nvSpPr>
        <p:spPr>
          <a:xfrm>
            <a:off x="2089222" y="508944"/>
            <a:ext cx="65178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400">
                <a:latin typeface="Helvetica Neue"/>
                <a:ea typeface="Helvetica Neue"/>
                <a:cs typeface="Helvetica Neue"/>
                <a:sym typeface="Helvetica Neue"/>
              </a:rPr>
              <a:t>Áreas relacionadas à I.A.</a:t>
            </a:r>
            <a:endParaRPr sz="4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2" name="Google Shape;352;g2204fabc35a_0_1950"/>
          <p:cNvSpPr txBox="1"/>
          <p:nvPr/>
        </p:nvSpPr>
        <p:spPr>
          <a:xfrm>
            <a:off x="626752" y="1694474"/>
            <a:ext cx="6583800" cy="38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575">
            <a:spAutoFit/>
          </a:bodyPr>
          <a:lstStyle/>
          <a:p>
            <a:pPr indent="-349250" lvl="0" marL="406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Helvetica Neue"/>
              <a:buChar char="•"/>
            </a:pPr>
            <a:r>
              <a:rPr b="0" i="0" lang="pt-BR" sz="2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Aprendizado de Máquina</a:t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9250" lvl="0" marL="406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Helvetica Neue"/>
              <a:buChar char="•"/>
            </a:pPr>
            <a:r>
              <a:rPr b="0" i="0" lang="pt-BR" sz="2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Mineração de Dados, KDD</a:t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9250" lvl="0" marL="406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Helvetica Neue"/>
              <a:buChar char="•"/>
            </a:pPr>
            <a:r>
              <a:rPr b="0" i="0" lang="pt-BR" sz="2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Robótica</a:t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9250" lvl="0" marL="406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Helvetica Neue"/>
              <a:buChar char="•"/>
            </a:pPr>
            <a:r>
              <a:rPr b="0" i="0" lang="pt-BR" sz="2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Reconhecimento de Voz</a:t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9250" lvl="0" marL="406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Helvetica Neue"/>
              <a:buChar char="•"/>
            </a:pPr>
            <a:r>
              <a:rPr b="0" i="0" lang="pt-BR" sz="2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Processamento de Linguagem Natural</a:t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9250" lvl="0" marL="406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Helvetica Neue"/>
              <a:buChar char="•"/>
            </a:pPr>
            <a:r>
              <a:rPr b="0" i="0" lang="pt-BR" sz="2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Planejamento</a:t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9250" lvl="0" marL="406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Helvetica Neue"/>
              <a:buChar char="•"/>
            </a:pPr>
            <a:r>
              <a:rPr b="0" i="0" lang="pt-BR" sz="2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Sintetização de Voz</a:t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9250" lvl="0" marL="406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Helvetica Neue"/>
              <a:buChar char="•"/>
            </a:pPr>
            <a:r>
              <a:rPr b="0" i="0" lang="pt-BR" sz="2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Visão Computacional</a:t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9250" lvl="0" marL="406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Helvetica Neue"/>
              <a:buChar char="•"/>
            </a:pPr>
            <a:r>
              <a:rPr b="0" i="0" lang="pt-BR" sz="2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Raciocínio e Tomada de Decisões</a:t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9250" lvl="0" marL="406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Helvetica Neue"/>
              <a:buChar char="•"/>
            </a:pPr>
            <a:r>
              <a:rPr b="0" i="0" lang="pt-BR" sz="2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...</a:t>
            </a:r>
            <a:endParaRPr b="0" i="0" sz="25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53" name="Google Shape;353;g2204fabc35a_0_1950"/>
          <p:cNvPicPr preferRelativeResize="0"/>
          <p:nvPr/>
        </p:nvPicPr>
        <p:blipFill rotWithShape="1">
          <a:blip r:embed="rId3">
            <a:alphaModFix/>
          </a:blip>
          <a:srcRect b="25066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2204fabc35a_0_2411"/>
          <p:cNvSpPr txBox="1"/>
          <p:nvPr>
            <p:ph idx="4294967295" type="ctrTitle"/>
          </p:nvPr>
        </p:nvSpPr>
        <p:spPr>
          <a:xfrm>
            <a:off x="128925" y="277700"/>
            <a:ext cx="7452000" cy="188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6050" lIns="116050" spcFirstLastPara="1" rIns="116050" wrap="square" tIns="1160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b="0" i="0" lang="pt-BR" sz="3200" u="none" cap="none" strike="noStrik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Principais Paradigmas de IA</a:t>
            </a:r>
            <a:endParaRPr b="0" i="0" sz="3200" u="none" cap="none" strike="noStrike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359" name="Google Shape;359;g2204fabc35a_0_2411"/>
          <p:cNvSpPr txBox="1"/>
          <p:nvPr/>
        </p:nvSpPr>
        <p:spPr>
          <a:xfrm>
            <a:off x="224042" y="1664638"/>
            <a:ext cx="10388100" cy="5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0" name="Google Shape;360;g2204fabc35a_0_2411"/>
          <p:cNvSpPr txBox="1"/>
          <p:nvPr/>
        </p:nvSpPr>
        <p:spPr>
          <a:xfrm>
            <a:off x="81253" y="1844019"/>
            <a:ext cx="10388100" cy="51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spAutoFit/>
          </a:bodyPr>
          <a:lstStyle/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Simbolismo:</a:t>
            </a:r>
            <a:r>
              <a:rPr b="0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Baseado em regras </a:t>
            </a:r>
            <a:r>
              <a:rPr b="1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lógicas</a:t>
            </a:r>
            <a:r>
              <a:rPr b="0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e sistemas especialistas.</a:t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1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Conexcionismo:</a:t>
            </a:r>
            <a:r>
              <a:rPr b="0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Baseado em </a:t>
            </a:r>
            <a:r>
              <a:rPr b="1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Redes Neurais</a:t>
            </a:r>
            <a:r>
              <a:rPr b="0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e Machine Learning.</a:t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1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Evolucionismo:</a:t>
            </a:r>
            <a:r>
              <a:rPr b="0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Algoritmos genéticos e </a:t>
            </a:r>
            <a:r>
              <a:rPr b="1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programação evolutiva</a:t>
            </a:r>
            <a:r>
              <a:rPr b="0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1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Bayesianismo:</a:t>
            </a:r>
            <a:r>
              <a:rPr b="0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Modelos </a:t>
            </a:r>
            <a:r>
              <a:rPr b="1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probabilísticos</a:t>
            </a:r>
            <a:r>
              <a:rPr b="0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inferência Bayesiana.</a:t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2204fabc35a_0_2420"/>
          <p:cNvSpPr txBox="1"/>
          <p:nvPr>
            <p:ph idx="4294967295" type="ctrTitle"/>
          </p:nvPr>
        </p:nvSpPr>
        <p:spPr>
          <a:xfrm>
            <a:off x="128925" y="277700"/>
            <a:ext cx="7452000" cy="188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6050" lIns="116050" spcFirstLastPara="1" rIns="116050" wrap="square" tIns="1160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b="0" i="0" lang="pt-BR" sz="3200" u="none" cap="none" strike="noStrik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IA Simbólica</a:t>
            </a:r>
            <a:endParaRPr b="0" i="0" sz="3200" u="none" cap="none" strike="noStrike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366" name="Google Shape;366;g2204fabc35a_0_2420"/>
          <p:cNvSpPr txBox="1"/>
          <p:nvPr/>
        </p:nvSpPr>
        <p:spPr>
          <a:xfrm>
            <a:off x="224042" y="1664638"/>
            <a:ext cx="10388100" cy="5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7" name="Google Shape;367;g2204fabc35a_0_2420"/>
          <p:cNvSpPr txBox="1"/>
          <p:nvPr/>
        </p:nvSpPr>
        <p:spPr>
          <a:xfrm>
            <a:off x="81253" y="1844019"/>
            <a:ext cx="10388100" cy="70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spAutoFit/>
          </a:bodyPr>
          <a:lstStyle/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Baseada em lógica e regras explícitas.</a:t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pt-BR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Utilizam bases de conhecimento repletas de regras ("se-então") para inferir conclusões a partir de dados fornecidos.</a:t>
            </a:r>
            <a:endParaRPr b="0"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Usada em domínios específicos, como diagnóstico médico, onde o conhecimento de especialistas humanos era codificado como um conjunto de regras.</a:t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pt-BR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Uma das grandes vantagens da IA Simbólica é sua transparência, pois as decisões são baseadas em regras claras que podem ser interpretadas e revisadas por humanos.</a:t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Usada em </a:t>
            </a:r>
            <a:r>
              <a:rPr b="1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sistemas especialistas.</a:t>
            </a:r>
            <a:endParaRPr b="1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2204fabc35a_0_2482"/>
          <p:cNvSpPr txBox="1"/>
          <p:nvPr>
            <p:ph idx="4294967295" type="ctrTitle"/>
          </p:nvPr>
        </p:nvSpPr>
        <p:spPr>
          <a:xfrm>
            <a:off x="128925" y="277700"/>
            <a:ext cx="7452000" cy="188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6050" lIns="116050" spcFirstLastPara="1" rIns="116050" wrap="square" tIns="1160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b="0" i="0" lang="pt-BR" sz="3200" u="none" cap="none" strike="noStrik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(sistemas especialistas)</a:t>
            </a:r>
            <a:endParaRPr b="0" i="0" sz="3200" u="none" cap="none" strike="noStrike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373" name="Google Shape;373;g2204fabc35a_0_2482"/>
          <p:cNvSpPr txBox="1"/>
          <p:nvPr/>
        </p:nvSpPr>
        <p:spPr>
          <a:xfrm>
            <a:off x="224042" y="1664638"/>
            <a:ext cx="10388100" cy="5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4" name="Google Shape;374;g2204fabc35a_0_2482"/>
          <p:cNvSpPr txBox="1"/>
          <p:nvPr/>
        </p:nvSpPr>
        <p:spPr>
          <a:xfrm>
            <a:off x="81253" y="1844019"/>
            <a:ext cx="10388100" cy="51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spAutoFit/>
          </a:bodyPr>
          <a:lstStyle/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Sistemas de Inteligência Artificial projetados para emular a tomada de decisão de especialistas humanos em um domínio específico.</a:t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Base de Conhecimento:</a:t>
            </a:r>
            <a:endParaRPr b="1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925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ontserrat"/>
              <a:buChar char="●"/>
            </a:pPr>
            <a:r>
              <a:rPr b="0" i="0" lang="pt-BR" sz="1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Contém fatos, regras, heurísticas e outros dados relevantes para o domínio.</a:t>
            </a:r>
            <a:endParaRPr b="0" i="0" sz="1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925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ontserrat"/>
              <a:buChar char="●"/>
            </a:pPr>
            <a:r>
              <a:rPr b="0" i="0" lang="pt-BR" sz="1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Construída a partir do conhecimento de especialistas humanos.</a:t>
            </a:r>
            <a:endParaRPr b="0" i="0" sz="1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1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Usa mecanismos como encadeamento para frente (</a:t>
            </a:r>
            <a:r>
              <a:rPr b="1" i="0" lang="pt-BR" sz="1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forward chaining</a:t>
            </a:r>
            <a:r>
              <a:rPr b="0" i="0" lang="pt-BR" sz="1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) e encadeamento para trás (</a:t>
            </a:r>
            <a:r>
              <a:rPr b="1" i="0" lang="pt-BR" sz="1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backward chaining</a:t>
            </a:r>
            <a:r>
              <a:rPr b="0" i="0" lang="pt-BR" sz="1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).</a:t>
            </a:r>
            <a:endParaRPr b="0" i="0" sz="1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2204fabc35a_0_2492"/>
          <p:cNvSpPr txBox="1"/>
          <p:nvPr>
            <p:ph idx="4294967295" type="ctrTitle"/>
          </p:nvPr>
        </p:nvSpPr>
        <p:spPr>
          <a:xfrm>
            <a:off x="128925" y="277700"/>
            <a:ext cx="7452000" cy="188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6050" lIns="116050" spcFirstLastPara="1" rIns="116050" wrap="square" tIns="1160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b="0" i="0" lang="pt-BR" sz="3200" u="none" cap="none" strike="noStrik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(forward chaining)</a:t>
            </a:r>
            <a:endParaRPr b="0" i="0" sz="3200" u="none" cap="none" strike="noStrike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380" name="Google Shape;380;g2204fabc35a_0_2492"/>
          <p:cNvSpPr txBox="1"/>
          <p:nvPr/>
        </p:nvSpPr>
        <p:spPr>
          <a:xfrm>
            <a:off x="224042" y="1664638"/>
            <a:ext cx="10388100" cy="5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1" name="Google Shape;381;g2204fabc35a_0_2492"/>
          <p:cNvSpPr txBox="1"/>
          <p:nvPr/>
        </p:nvSpPr>
        <p:spPr>
          <a:xfrm>
            <a:off x="314800" y="1844025"/>
            <a:ext cx="10063800" cy="56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Processo de raciocínio que começa com os fatos disponíveis e aplica regras para inferir novos fatos até que uma meta ou conclusão seja alcançada.</a:t>
            </a:r>
            <a:endParaRPr b="0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●"/>
            </a:pPr>
            <a:r>
              <a:rPr b="1" i="0" lang="pt-BR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Exemplo:</a:t>
            </a:r>
            <a:endParaRPr b="0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○"/>
            </a:pPr>
            <a:r>
              <a:rPr b="0" i="0" lang="pt-BR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Suponha que temos a regra: "Se 'temperatura &gt; 37°C', então 'febre'".</a:t>
            </a:r>
            <a:endParaRPr b="0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○"/>
            </a:pPr>
            <a:r>
              <a:rPr b="0" i="0" lang="pt-BR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Fatos iniciais: "temperatura = 38°C".</a:t>
            </a:r>
            <a:endParaRPr b="0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○"/>
            </a:pPr>
            <a:r>
              <a:rPr b="0" i="0" lang="pt-BR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 sistema aplica a regra e infere o novo fato: "febre".</a:t>
            </a:r>
            <a:endParaRPr b="0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○"/>
            </a:pPr>
            <a:r>
              <a:rPr b="0" i="0" lang="pt-BR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 sistema continua esse processo até que todas as regras possíveis sejam aplicadas.</a:t>
            </a:r>
            <a:endParaRPr b="0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2204fabc35a_0_2502"/>
          <p:cNvSpPr txBox="1"/>
          <p:nvPr>
            <p:ph idx="4294967295" type="ctrTitle"/>
          </p:nvPr>
        </p:nvSpPr>
        <p:spPr>
          <a:xfrm>
            <a:off x="128925" y="277700"/>
            <a:ext cx="7452000" cy="188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6050" lIns="116050" spcFirstLastPara="1" rIns="116050" wrap="square" tIns="1160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b="0" i="0" lang="pt-BR" sz="3200" u="none" cap="none" strike="noStrik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(backward chaining)</a:t>
            </a:r>
            <a:endParaRPr b="0" i="0" sz="3200" u="none" cap="none" strike="noStrike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387" name="Google Shape;387;g2204fabc35a_0_2502"/>
          <p:cNvSpPr txBox="1"/>
          <p:nvPr/>
        </p:nvSpPr>
        <p:spPr>
          <a:xfrm>
            <a:off x="224042" y="1664638"/>
            <a:ext cx="10388100" cy="5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8" name="Google Shape;388;g2204fabc35a_0_2502"/>
          <p:cNvSpPr txBox="1"/>
          <p:nvPr/>
        </p:nvSpPr>
        <p:spPr>
          <a:xfrm>
            <a:off x="314800" y="1609025"/>
            <a:ext cx="10063800" cy="62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Processo de raciocínio que começa com uma meta ou hipótese e trabalha para trás, tentando encontrar os fatos ou condições que suportam essa meta.</a:t>
            </a:r>
            <a:endParaRPr b="0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●"/>
            </a:pPr>
            <a:r>
              <a:rPr b="1" i="0" lang="pt-BR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Exemplo:</a:t>
            </a:r>
            <a:endParaRPr b="0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○"/>
            </a:pPr>
            <a:r>
              <a:rPr b="0" i="0" lang="pt-BR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Meta: "O paciente tem pneumonia".</a:t>
            </a:r>
            <a:endParaRPr b="0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○"/>
            </a:pPr>
            <a:r>
              <a:rPr b="0" i="0" lang="pt-BR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 sistema encontra uma regra: "Se 'tosse' e 'febre' e 'manchas no pulmão', então 'pneumonia'".</a:t>
            </a:r>
            <a:endParaRPr b="0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○"/>
            </a:pPr>
            <a:r>
              <a:rPr b="0" i="0" lang="pt-BR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 sistema verifica se esses sintomas estão presentes.</a:t>
            </a:r>
            <a:endParaRPr b="0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Char char="○"/>
            </a:pPr>
            <a:r>
              <a:rPr b="0" i="0" lang="pt-BR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 um dos sintomas não estiver confirmado, o sistema trabalha para verificar a presença desse sintoma antes de confirmar a pneumonia.</a:t>
            </a:r>
            <a:endParaRPr b="0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2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■"/>
            </a:pPr>
            <a:r>
              <a:rPr b="0" i="0" lang="pt-BR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Buscar informações adicionais (ex: solicitar um exame de raio-X para verificar as manchas no pulmão).</a:t>
            </a:r>
            <a:endParaRPr b="0"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2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■"/>
            </a:pPr>
            <a:r>
              <a:rPr b="0" i="0" lang="pt-BR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Aplicar outras regras ou sub-regras que possam levar à verificação dessa condição.</a:t>
            </a:r>
            <a:endParaRPr b="0"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2204fabc35a_0_2428"/>
          <p:cNvSpPr txBox="1"/>
          <p:nvPr>
            <p:ph idx="4294967295" type="ctrTitle"/>
          </p:nvPr>
        </p:nvSpPr>
        <p:spPr>
          <a:xfrm>
            <a:off x="128925" y="277700"/>
            <a:ext cx="7452000" cy="188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6050" lIns="116050" spcFirstLastPara="1" rIns="116050" wrap="square" tIns="1160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b="0" i="0" lang="pt-BR" sz="3200" u="none" cap="none" strike="noStrik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IA Conexcionista</a:t>
            </a:r>
            <a:endParaRPr b="0" i="0" sz="3200" u="none" cap="none" strike="noStrike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394" name="Google Shape;394;g2204fabc35a_0_2428"/>
          <p:cNvSpPr txBox="1"/>
          <p:nvPr/>
        </p:nvSpPr>
        <p:spPr>
          <a:xfrm>
            <a:off x="224042" y="1664638"/>
            <a:ext cx="10388100" cy="5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95" name="Google Shape;395;g2204fabc35a_0_2428"/>
          <p:cNvPicPr preferRelativeResize="0"/>
          <p:nvPr/>
        </p:nvPicPr>
        <p:blipFill rotWithShape="1">
          <a:blip r:embed="rId3">
            <a:alphaModFix/>
          </a:blip>
          <a:srcRect b="0" l="0" r="1535" t="0"/>
          <a:stretch/>
        </p:blipFill>
        <p:spPr>
          <a:xfrm>
            <a:off x="8139337" y="556225"/>
            <a:ext cx="2566500" cy="210130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g2204fabc35a_0_2428"/>
          <p:cNvSpPr txBox="1"/>
          <p:nvPr/>
        </p:nvSpPr>
        <p:spPr>
          <a:xfrm>
            <a:off x="-212725" y="1772650"/>
            <a:ext cx="10621200" cy="46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spAutoFit/>
          </a:bodyPr>
          <a:lstStyle/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Popularizada com o Deep Learning.</a:t>
            </a:r>
            <a:endParaRPr b="0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Baseada em Redes Neurais Artificiais (RNAS) e aprendizado de padrões.</a:t>
            </a:r>
            <a:endParaRPr b="0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Redes de unidades interconectadas (neurônios artificiais) para</a:t>
            </a:r>
            <a:endParaRPr b="0" i="0" sz="17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processar informações, inspirado no funcionamento do cérebro humano.</a:t>
            </a:r>
            <a:endParaRPr b="0" i="0" sz="17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Exemplo: Reconhecimento de voz e imagem. Classificadores </a:t>
            </a:r>
            <a:r>
              <a:rPr b="0" i="0" lang="pt-BR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</a:t>
            </a:r>
            <a:r>
              <a:rPr b="0" i="0" lang="pt-BR" sz="1200" u="sng" cap="none" strike="noStrike">
                <a:solidFill>
                  <a:srgbClr val="0E71BA"/>
                </a:solid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“hotdog”, “not a hotdog”</a:t>
            </a:r>
            <a:r>
              <a:rPr b="0" i="0" lang="pt-BR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) 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pt-BR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ChatGPT é um exemplo de IA Conexcionista. Ele é baseado em uma arquitetura de rede neural profunda chamada Transformer, que é usada para processamento de linguagem natural.</a:t>
            </a:r>
            <a:endParaRPr b="0"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220570bd03a_0_6"/>
          <p:cNvSpPr txBox="1"/>
          <p:nvPr>
            <p:ph idx="4294967295" type="ctrTitle"/>
          </p:nvPr>
        </p:nvSpPr>
        <p:spPr>
          <a:xfrm>
            <a:off x="80053" y="74129"/>
            <a:ext cx="6657000" cy="188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6050" lIns="116050" spcFirstLastPara="1" rIns="116050" wrap="square" tIns="1160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b="0" i="0" lang="pt-BR" sz="3200" u="none" cap="none" strike="noStrik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(treinamento)</a:t>
            </a:r>
            <a:endParaRPr b="0" i="0" sz="3200" u="none" cap="none" strike="noStrike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402" name="Google Shape;402;g220570bd03a_0_6"/>
          <p:cNvSpPr txBox="1"/>
          <p:nvPr/>
        </p:nvSpPr>
        <p:spPr>
          <a:xfrm>
            <a:off x="80053" y="1653230"/>
            <a:ext cx="10388100" cy="3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spAutoFit/>
          </a:bodyPr>
          <a:lstStyle/>
          <a:p>
            <a:pPr indent="-431800" lvl="0" marL="584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ontserrat"/>
              <a:buChar char="●"/>
            </a:pPr>
            <a:r>
              <a:rPr b="0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Processo de ensinar a IA usando dados;</a:t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31800" lvl="0" marL="584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ontserrat"/>
              <a:buChar char="●"/>
            </a:pPr>
            <a:r>
              <a:rPr b="0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Analogia: </a:t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1155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ontserrat"/>
              <a:buChar char="○"/>
            </a:pPr>
            <a:r>
              <a:rPr b="0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Aprendizado humano vs. Aprendizado de máquina;</a:t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31800" lvl="0" marL="584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ontserrat"/>
              <a:buChar char="●"/>
            </a:pPr>
            <a:r>
              <a:rPr b="0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Qualidade e quantidade de dados (e.g., etiquetados e não etiquetados):</a:t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1155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ontserrat"/>
              <a:buChar char="○"/>
            </a:pPr>
            <a:r>
              <a:rPr b="0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Importância da variedade e representatividade.</a:t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155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03" name="Google Shape;403;g220570bd03a_0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98367" y="4851975"/>
            <a:ext cx="4512900" cy="2083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404" name="Google Shape;404;g220570bd03a_0_6"/>
          <p:cNvSpPr txBox="1"/>
          <p:nvPr/>
        </p:nvSpPr>
        <p:spPr>
          <a:xfrm>
            <a:off x="6636543" y="5086894"/>
            <a:ext cx="3976800" cy="17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Treinamento: </a:t>
            </a:r>
            <a:r>
              <a:rPr b="0" i="0" lang="pt-BR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ajusta o modelo</a:t>
            </a:r>
            <a:endParaRPr b="0" i="0" sz="1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Validação:</a:t>
            </a:r>
            <a:r>
              <a:rPr b="0" i="0" lang="pt-BR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otimiza hiperparâmetros</a:t>
            </a:r>
            <a:endParaRPr b="0" i="0" sz="1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Teste:</a:t>
            </a:r>
            <a:r>
              <a:rPr b="0" i="0" lang="pt-BR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avalia a performance final</a:t>
            </a:r>
            <a:endParaRPr b="0" i="0" sz="1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05" name="Google Shape;405;g220570bd03a_0_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46561" y="653054"/>
            <a:ext cx="2681033" cy="14998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220570bd03a_0_0"/>
          <p:cNvSpPr txBox="1"/>
          <p:nvPr>
            <p:ph idx="4294967295" type="ctrTitle"/>
          </p:nvPr>
        </p:nvSpPr>
        <p:spPr>
          <a:xfrm>
            <a:off x="152641" y="292729"/>
            <a:ext cx="6657000" cy="188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6050" lIns="116050" spcFirstLastPara="1" rIns="116050" wrap="square" tIns="1160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b="0" i="0" lang="pt-BR" sz="3200" u="none" cap="none" strike="noStrik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(modelos)</a:t>
            </a:r>
            <a:endParaRPr b="0" i="0" sz="3200" u="none" cap="none" strike="noStrike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411" name="Google Shape;411;g220570bd03a_0_0"/>
          <p:cNvSpPr txBox="1"/>
          <p:nvPr/>
        </p:nvSpPr>
        <p:spPr>
          <a:xfrm>
            <a:off x="89066" y="1988231"/>
            <a:ext cx="10388100" cy="45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spAutoFit/>
          </a:bodyPr>
          <a:lstStyle/>
          <a:p>
            <a:pPr indent="-431800" lvl="0" marL="584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ontserrat"/>
              <a:buChar char="●"/>
            </a:pPr>
            <a:r>
              <a:rPr b="0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Funcionam como o "cérebro" das aplicações de IA;</a:t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31800" lvl="0" marL="584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ontserrat"/>
              <a:buChar char="●"/>
            </a:pPr>
            <a:r>
              <a:rPr b="0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Algoritmos que fazem previsões ou decisões baseadas em dados;</a:t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31800" lvl="0" marL="584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ontserrat"/>
              <a:buChar char="●"/>
            </a:pPr>
            <a:r>
              <a:rPr b="1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Supervisionados:</a:t>
            </a:r>
            <a:r>
              <a:rPr b="0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aprendem com dados etiquetados;</a:t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31800" lvl="0" marL="584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ontserrat"/>
              <a:buChar char="●"/>
            </a:pPr>
            <a:r>
              <a:rPr b="1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Não supervisionados:</a:t>
            </a:r>
            <a:r>
              <a:rPr b="0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encontram padrões em dados não etiquetados;</a:t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31800" lvl="0" marL="584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ontserrat"/>
              <a:buChar char="●"/>
            </a:pPr>
            <a:r>
              <a:rPr b="1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Por reforço:</a:t>
            </a:r>
            <a:r>
              <a:rPr b="0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aprendem por tentativa e erro.</a:t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31800" lvl="0" marL="584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ontserrat"/>
              <a:buChar char="●"/>
            </a:pPr>
            <a:r>
              <a:rPr b="0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Desafios:</a:t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0050" lvl="1" marL="1155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ontserrat"/>
              <a:buChar char="○"/>
            </a:pPr>
            <a:r>
              <a:rPr b="0" i="0" lang="pt-BR" sz="1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Dados desbalanceados (entre classes);</a:t>
            </a:r>
            <a:endParaRPr b="0" i="0" sz="1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0050" lvl="1" marL="1155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ontserrat"/>
              <a:buChar char="○"/>
            </a:pPr>
            <a:r>
              <a:rPr b="0" i="0" lang="pt-BR" sz="1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Viés nos dados (quando os dados não são representativos da realidade).</a:t>
            </a:r>
            <a:endParaRPr b="0" i="0" sz="1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12" name="Google Shape;412;g220570bd03a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20475" y="574175"/>
            <a:ext cx="2572925" cy="175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2204fabc35a_0_2436"/>
          <p:cNvSpPr txBox="1"/>
          <p:nvPr>
            <p:ph idx="4294967295" type="ctrTitle"/>
          </p:nvPr>
        </p:nvSpPr>
        <p:spPr>
          <a:xfrm>
            <a:off x="144825" y="150425"/>
            <a:ext cx="7452000" cy="188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6050" lIns="116050" spcFirstLastPara="1" rIns="116050" wrap="square" tIns="1160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b="0" i="0" lang="pt-BR" sz="3200" u="none" cap="none" strike="noStrik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IA Evolutiva</a:t>
            </a:r>
            <a:endParaRPr b="0" i="0" sz="3200" u="none" cap="none" strike="noStrike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418" name="Google Shape;418;g2204fabc35a_0_2436"/>
          <p:cNvSpPr txBox="1"/>
          <p:nvPr/>
        </p:nvSpPr>
        <p:spPr>
          <a:xfrm>
            <a:off x="224042" y="1664638"/>
            <a:ext cx="10388100" cy="5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9" name="Google Shape;419;g2204fabc35a_0_2436"/>
          <p:cNvSpPr txBox="1"/>
          <p:nvPr/>
        </p:nvSpPr>
        <p:spPr>
          <a:xfrm>
            <a:off x="41528" y="1597694"/>
            <a:ext cx="10388100" cy="36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spAutoFit/>
          </a:bodyPr>
          <a:lstStyle/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Uso de algoritmos inspirados pela evolução biológica.</a:t>
            </a:r>
            <a:endParaRPr b="0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Genetic algorithms/programming</a:t>
            </a:r>
            <a:endParaRPr b="0"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Otimização de soluções através de seleção natural.</a:t>
            </a:r>
            <a:endParaRPr b="0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Exemplo: Algoritmos Genéticos para otimização de problemas complexos.</a:t>
            </a:r>
            <a:endParaRPr b="0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20" name="Google Shape;420;g2204fabc35a_0_24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44750" y="4502425"/>
            <a:ext cx="3735400" cy="2831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g2204fabc35a_0_24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2250" y="4767750"/>
            <a:ext cx="3521025" cy="230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2204fabc35a_0_2444"/>
          <p:cNvSpPr txBox="1"/>
          <p:nvPr>
            <p:ph idx="4294967295" type="ctrTitle"/>
          </p:nvPr>
        </p:nvSpPr>
        <p:spPr>
          <a:xfrm>
            <a:off x="128925" y="277700"/>
            <a:ext cx="7452000" cy="188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6050" lIns="116050" spcFirstLastPara="1" rIns="116050" wrap="square" tIns="1160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b="0" i="0" lang="pt-BR" sz="3200" u="none" cap="none" strike="noStrik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IA Bayesiana</a:t>
            </a:r>
            <a:endParaRPr b="0" i="0" sz="3200" u="none" cap="none" strike="noStrike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427" name="Google Shape;427;g2204fabc35a_0_2444"/>
          <p:cNvSpPr txBox="1"/>
          <p:nvPr/>
        </p:nvSpPr>
        <p:spPr>
          <a:xfrm>
            <a:off x="224042" y="1664638"/>
            <a:ext cx="10388100" cy="5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8" name="Google Shape;428;g2204fabc35a_0_2444"/>
          <p:cNvSpPr txBox="1"/>
          <p:nvPr/>
        </p:nvSpPr>
        <p:spPr>
          <a:xfrm>
            <a:off x="152653" y="1611369"/>
            <a:ext cx="10388100" cy="58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spAutoFit/>
          </a:bodyPr>
          <a:lstStyle/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Uso de probabilidade e estatística para tomada de decisões.</a:t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 Teoria Bayesiana é um método de inferência estatística que atualiza as probabilidades de uma hipótese à medida que novas evidências ou dados se tornam disponíveis.</a:t>
            </a:r>
            <a:endParaRPr b="0"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Modelagem de incerteza e atualização de crenças.</a:t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Exemplo: Sistemas de recomendação (Netflix, Amazon).</a:t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Suponha que você deseja modelar a propagação de um incêndio em uma floresta, levando em conta variáveis como umidade, vento, tipo de vegetação, e outros fatores ambientais. Este é um problema altamente estocástico (dependente do acaso) e envolve muitas incertezas.</a:t>
            </a:r>
            <a:endParaRPr b="0"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pt-BR" sz="13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 Método de </a:t>
            </a:r>
            <a:r>
              <a:rPr b="1" i="0" lang="pt-BR" sz="13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Monte Carlo </a:t>
            </a:r>
            <a:r>
              <a:rPr b="0" i="0" lang="pt-BR" sz="13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pode ser usado para simular várias realizações do incêndio.</a:t>
            </a:r>
            <a:endParaRPr b="0" i="0" sz="13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pt-BR" sz="1300" u="sng" cap="none" strike="noStrik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http://www.shodor.org/interactivate/activities/Fire/</a:t>
            </a:r>
            <a:endParaRPr b="0" i="0" sz="13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2204fabc35a_0_2533"/>
          <p:cNvSpPr txBox="1"/>
          <p:nvPr>
            <p:ph idx="4294967295" type="ctrTitle"/>
          </p:nvPr>
        </p:nvSpPr>
        <p:spPr>
          <a:xfrm>
            <a:off x="152650" y="144350"/>
            <a:ext cx="7452000" cy="188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6050" lIns="116050" spcFirstLastPara="1" rIns="116050" wrap="square" tIns="1160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b="0" i="0" lang="pt-BR" sz="3200" u="none" cap="none" strike="noStrik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(IA Híbrida)</a:t>
            </a:r>
            <a:endParaRPr b="0" i="0" sz="3200" u="none" cap="none" strike="noStrike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434" name="Google Shape;434;g2204fabc35a_0_2533"/>
          <p:cNvSpPr txBox="1"/>
          <p:nvPr/>
        </p:nvSpPr>
        <p:spPr>
          <a:xfrm>
            <a:off x="224042" y="1664638"/>
            <a:ext cx="10388100" cy="5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5" name="Google Shape;435;g2204fabc35a_0_2533"/>
          <p:cNvSpPr txBox="1"/>
          <p:nvPr/>
        </p:nvSpPr>
        <p:spPr>
          <a:xfrm>
            <a:off x="0" y="1497075"/>
            <a:ext cx="10526100" cy="6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spAutoFit/>
          </a:bodyPr>
          <a:lstStyle/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Combinação de diferentes paradigmas de Inteligência Artificial para criar sistemas mais robustos, flexíveis e eficazes.</a:t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Montserrat"/>
              <a:buChar char="●"/>
            </a:pPr>
            <a:r>
              <a:rPr b="1" i="0" lang="pt-BR" sz="1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Neuroevolução:</a:t>
            </a:r>
            <a:r>
              <a:rPr b="0" i="0" lang="pt-BR" sz="1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Combina Redes Neurais (IA Conexcionista) com Algoritmos Genéticos (IA Evolutiva) para otimizar a estrutura e os pesos das redes neurais através de processos evolutivos.</a:t>
            </a:r>
            <a:endParaRPr b="0" i="0" sz="17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Montserrat"/>
              <a:buChar char="●"/>
            </a:pPr>
            <a:r>
              <a:rPr b="1" i="0" lang="pt-BR" sz="1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Sistemas Especialistas Híbridos: </a:t>
            </a:r>
            <a:r>
              <a:rPr b="0" i="0" lang="pt-BR" sz="1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Integram IA Simbólica (regras e lógica) com aprendizado de máquina para criar sistemas que podem aprender com dados, mas também aplicar regras explícitas e fornecer justificativas transparentes.</a:t>
            </a:r>
            <a:endParaRPr b="0" i="0" sz="17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b="1" i="0" lang="pt-BR" sz="1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Modelos Bayesianos em Redes Neurais:</a:t>
            </a:r>
            <a:r>
              <a:rPr b="0" i="0" lang="pt-BR" sz="1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Usam inferências probabilísticas para ajustar e interpretar as saídas de redes neurais, combinando IA Bayesiana com IA Conexcionista</a:t>
            </a:r>
            <a:r>
              <a:rPr b="0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2204fabc35a_0_2543"/>
          <p:cNvSpPr txBox="1"/>
          <p:nvPr>
            <p:ph idx="4294967295" type="ctrTitle"/>
          </p:nvPr>
        </p:nvSpPr>
        <p:spPr>
          <a:xfrm>
            <a:off x="152650" y="144350"/>
            <a:ext cx="7452000" cy="188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6050" lIns="116050" spcFirstLastPara="1" rIns="116050" wrap="square" tIns="1160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b="0" i="0" lang="pt-BR" sz="3200" u="none" cap="none" strike="noStrik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(IA Híbrida)</a:t>
            </a:r>
            <a:endParaRPr b="0" i="0" sz="3200" u="none" cap="none" strike="noStrike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441" name="Google Shape;441;g2204fabc35a_0_2543"/>
          <p:cNvSpPr txBox="1"/>
          <p:nvPr/>
        </p:nvSpPr>
        <p:spPr>
          <a:xfrm>
            <a:off x="224042" y="1664638"/>
            <a:ext cx="10388100" cy="5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42" name="Google Shape;442;g2204fabc35a_0_25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0225" y="2279575"/>
            <a:ext cx="3906675" cy="2518376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g2204fabc35a_0_2543"/>
          <p:cNvSpPr txBox="1"/>
          <p:nvPr/>
        </p:nvSpPr>
        <p:spPr>
          <a:xfrm>
            <a:off x="648175" y="4797950"/>
            <a:ext cx="602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sng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https://www.youtube.com/watch?v=NZlIYr1slAk</a:t>
            </a:r>
            <a:endParaRPr b="0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g2204fabc35a_0_2543"/>
          <p:cNvSpPr txBox="1"/>
          <p:nvPr/>
        </p:nvSpPr>
        <p:spPr>
          <a:xfrm>
            <a:off x="5290225" y="3183725"/>
            <a:ext cx="45816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pt-BR" sz="17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Usa rede neural (Multilayer Perceptron) otimizada com Random Mutations (técnica de programação genética).</a:t>
            </a:r>
            <a:endParaRPr b="0" i="0" sz="17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220570bd03a_0_46"/>
          <p:cNvSpPr txBox="1"/>
          <p:nvPr>
            <p:ph idx="4294967295" type="ctrTitle"/>
          </p:nvPr>
        </p:nvSpPr>
        <p:spPr>
          <a:xfrm>
            <a:off x="128925" y="277700"/>
            <a:ext cx="9041400" cy="188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6050" lIns="116050" spcFirstLastPara="1" rIns="116050" wrap="square" tIns="1160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b="0" i="0" lang="pt-BR" sz="3200" u="none" cap="none" strike="noStrik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Extra: IA Distribuída e Multiagente</a:t>
            </a:r>
            <a:endParaRPr b="0" i="0" sz="3200" u="none" cap="none" strike="noStrike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450" name="Google Shape;450;g220570bd03a_0_46"/>
          <p:cNvSpPr txBox="1"/>
          <p:nvPr/>
        </p:nvSpPr>
        <p:spPr>
          <a:xfrm>
            <a:off x="224042" y="1664638"/>
            <a:ext cx="10388100" cy="5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1" name="Google Shape;451;g220570bd03a_0_46"/>
          <p:cNvSpPr txBox="1"/>
          <p:nvPr/>
        </p:nvSpPr>
        <p:spPr>
          <a:xfrm>
            <a:off x="224053" y="1439919"/>
            <a:ext cx="10388100" cy="69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spAutoFit/>
          </a:bodyPr>
          <a:lstStyle/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pt-BR" sz="2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Envolve a distribuição de processos de IA em várias máquinas ou agentes que podem operar de forma independente, mas colaboram para resolver problemas complexos.</a:t>
            </a:r>
            <a:endParaRPr b="0" i="0" sz="2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pt-BR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Cenários de big data (redes de sensores, sistemas de negociação automatizada, smart grids, …)</a:t>
            </a:r>
            <a:endParaRPr b="0"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1" i="0" sz="2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Sistemas Multiagentes:</a:t>
            </a:r>
            <a:r>
              <a:rPr b="0" i="0" lang="pt-BR" sz="2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Conjuntos de agentes que interagem uns com os outros e com o ambiente para realizar tarefas ou resolver problemas.</a:t>
            </a:r>
            <a:endParaRPr b="0" i="0" sz="2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 comportamento emergente pode, em alguns casos, exibir características caóticas, onde as interações complexas entre agentes levam a padrões de comportamento que são difíceis de prever ou controlar.</a:t>
            </a:r>
            <a:endParaRPr b="0"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t-BR" sz="2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Sistemas Baseados em Enxame:</a:t>
            </a:r>
            <a:r>
              <a:rPr b="0" i="0" lang="pt-BR" sz="2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Algoritmos inspirados em comportamentos coletivos, como os de formigas e abelhas, para resolver problemas complexos.</a:t>
            </a:r>
            <a:endParaRPr b="0" i="0" sz="2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2204fabc35a_0_2452"/>
          <p:cNvSpPr txBox="1"/>
          <p:nvPr>
            <p:ph idx="4294967295" type="ctrTitle"/>
          </p:nvPr>
        </p:nvSpPr>
        <p:spPr>
          <a:xfrm>
            <a:off x="128925" y="277700"/>
            <a:ext cx="7452000" cy="188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6050" lIns="116050" spcFirstLastPara="1" rIns="116050" wrap="square" tIns="1160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3200" u="none" cap="none" strike="noStrik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Áreas de Aplicação da IA</a:t>
            </a:r>
            <a:endParaRPr b="0" i="0" sz="3200" u="none" cap="none" strike="noStrike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457" name="Google Shape;457;g2204fabc35a_0_2452"/>
          <p:cNvSpPr txBox="1"/>
          <p:nvPr/>
        </p:nvSpPr>
        <p:spPr>
          <a:xfrm>
            <a:off x="224042" y="1664638"/>
            <a:ext cx="10388100" cy="5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8" name="Google Shape;458;g2204fabc35a_0_2452"/>
          <p:cNvSpPr txBox="1"/>
          <p:nvPr/>
        </p:nvSpPr>
        <p:spPr>
          <a:xfrm>
            <a:off x="81253" y="1844019"/>
            <a:ext cx="10388100" cy="51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spAutoFit/>
          </a:bodyPr>
          <a:lstStyle/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Saúde (diagnóstico médico)</a:t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Finanças (algotrading)</a:t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Automação industrial (robótica)</a:t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Transporte (veículos autônomos)</a:t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1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	… outros exemplos?</a:t>
            </a:r>
            <a:endParaRPr b="1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59" name="Google Shape;459;g2204fabc35a_0_2452"/>
          <p:cNvPicPr preferRelativeResize="0"/>
          <p:nvPr/>
        </p:nvPicPr>
        <p:blipFill rotWithShape="1">
          <a:blip r:embed="rId3">
            <a:alphaModFix/>
          </a:blip>
          <a:srcRect b="-1864" l="3072" r="0" t="0"/>
          <a:stretch/>
        </p:blipFill>
        <p:spPr>
          <a:xfrm>
            <a:off x="6144550" y="1393200"/>
            <a:ext cx="4115626" cy="444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2204fabc35a_0_2470"/>
          <p:cNvSpPr txBox="1"/>
          <p:nvPr>
            <p:ph idx="4294967295" type="ctrTitle"/>
          </p:nvPr>
        </p:nvSpPr>
        <p:spPr>
          <a:xfrm>
            <a:off x="128925" y="277700"/>
            <a:ext cx="7452000" cy="188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6050" lIns="116050" spcFirstLastPara="1" rIns="116050" wrap="square" tIns="1160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3200" u="none" cap="none" strike="noStrik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Algumas tendências</a:t>
            </a:r>
            <a:endParaRPr b="0" i="0" sz="3200" u="none" cap="none" strike="noStrike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465" name="Google Shape;465;g2204fabc35a_0_2470"/>
          <p:cNvSpPr txBox="1"/>
          <p:nvPr/>
        </p:nvSpPr>
        <p:spPr>
          <a:xfrm>
            <a:off x="224042" y="1696413"/>
            <a:ext cx="10388100" cy="5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6" name="Google Shape;466;g2204fabc35a_0_2470"/>
          <p:cNvSpPr txBox="1"/>
          <p:nvPr/>
        </p:nvSpPr>
        <p:spPr>
          <a:xfrm>
            <a:off x="81253" y="1844019"/>
            <a:ext cx="10388100" cy="47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spAutoFit/>
          </a:bodyPr>
          <a:lstStyle/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IA explicável (XAI)</a:t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decisões podem ser rastreadas até suas origens lógicas ou probabilísticas, permitindo aos usuários entenderem "por que" uma decisão foi tomada.</a:t>
            </a:r>
            <a:endParaRPr b="0"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IA sustentável</a:t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Integração com outras tecnologias (IoT, Blockchain)</a:t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Avanços em IA Generativa</a:t>
            </a:r>
            <a:endParaRPr b="1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2f174543b14_2_244"/>
          <p:cNvSpPr txBox="1"/>
          <p:nvPr>
            <p:ph idx="4294967295" type="ctrTitle"/>
          </p:nvPr>
        </p:nvSpPr>
        <p:spPr>
          <a:xfrm>
            <a:off x="81250" y="539900"/>
            <a:ext cx="7452000" cy="188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6050" lIns="116050" spcFirstLastPara="1" rIns="116050" wrap="square" tIns="1160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pt-BR" sz="3200" u="none" cap="none" strike="noStrik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Inteligência Artificial </a:t>
            </a:r>
            <a:r>
              <a:rPr b="0" i="0" lang="pt-BR" sz="3200" u="none" cap="none" strike="noStrike">
                <a:solidFill>
                  <a:srgbClr val="4285F4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Generativa</a:t>
            </a:r>
            <a:endParaRPr b="0" i="0" sz="3200" u="none" cap="none" strike="noStrike">
              <a:solidFill>
                <a:srgbClr val="4285F4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472" name="Google Shape;472;g2f174543b14_2_244"/>
          <p:cNvSpPr txBox="1"/>
          <p:nvPr/>
        </p:nvSpPr>
        <p:spPr>
          <a:xfrm>
            <a:off x="224042" y="1664638"/>
            <a:ext cx="10388100" cy="5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3" name="Google Shape;473;g2f174543b14_2_244"/>
          <p:cNvSpPr txBox="1"/>
          <p:nvPr/>
        </p:nvSpPr>
        <p:spPr>
          <a:xfrm>
            <a:off x="81253" y="1844019"/>
            <a:ext cx="10388100" cy="26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spAutoFit/>
          </a:bodyPr>
          <a:lstStyle/>
          <a:p>
            <a:pPr indent="-431800" lvl="0" marL="584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ontserrat"/>
              <a:buChar char="●"/>
            </a:pPr>
            <a:r>
              <a:rPr b="1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 que é:</a:t>
            </a:r>
            <a:endParaRPr b="1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1155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ontserrat"/>
              <a:buChar char="○"/>
            </a:pPr>
            <a:r>
              <a:rPr b="0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IA que cria novo conteúdo;</a:t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1155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ontserrat"/>
              <a:buChar char="○"/>
            </a:pPr>
            <a:r>
              <a:rPr b="0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Diferença principal: não apenas analisa dados, mas também os gera;</a:t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1155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ontserrat"/>
              <a:buChar char="○"/>
            </a:pPr>
            <a:r>
              <a:rPr b="0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Exemplos: Geração de texto, imagens, música, …</a:t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74" name="Google Shape;474;g2f174543b14_2_2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9374" y="4593030"/>
            <a:ext cx="7452000" cy="1637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2f174543b14_2_211"/>
          <p:cNvSpPr txBox="1"/>
          <p:nvPr>
            <p:ph idx="4294967295" type="ctrTitle"/>
          </p:nvPr>
        </p:nvSpPr>
        <p:spPr>
          <a:xfrm>
            <a:off x="190623" y="105650"/>
            <a:ext cx="9448500" cy="188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6050" lIns="116050" spcFirstLastPara="1" rIns="116050" wrap="square" tIns="1160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pt-BR" sz="3200" u="none" cap="none" strike="noStrik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Inteligência Artificial </a:t>
            </a:r>
            <a:r>
              <a:rPr b="0" i="0" lang="pt-BR" sz="3200" u="none" cap="none" strike="noStrike">
                <a:solidFill>
                  <a:srgbClr val="4285F4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Generativa</a:t>
            </a:r>
            <a:endParaRPr b="0" i="0" sz="3200" u="none" cap="none" strike="noStrike">
              <a:solidFill>
                <a:srgbClr val="4285F4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accent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480" name="Google Shape;480;g2f174543b14_2_211"/>
          <p:cNvSpPr txBox="1"/>
          <p:nvPr/>
        </p:nvSpPr>
        <p:spPr>
          <a:xfrm>
            <a:off x="573547" y="2156267"/>
            <a:ext cx="3204600" cy="7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g2f174543b14_2_211"/>
          <p:cNvSpPr txBox="1"/>
          <p:nvPr/>
        </p:nvSpPr>
        <p:spPr>
          <a:xfrm>
            <a:off x="115203" y="1371125"/>
            <a:ext cx="9375900" cy="15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spAutoFit/>
          </a:bodyPr>
          <a:lstStyle/>
          <a:p>
            <a:pPr indent="-431800" lvl="0" marL="584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ontserrat"/>
              <a:buChar char="●"/>
            </a:pPr>
            <a:r>
              <a:rPr b="0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Ramo da inteligência artificial que se concentra na criação de </a:t>
            </a:r>
            <a:r>
              <a:rPr b="1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conteúdo novo e original</a:t>
            </a:r>
            <a:r>
              <a:rPr b="0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empregando algoritmos e modelos sofisticados.</a:t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82" name="Google Shape;482;g2f174543b14_2_2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7437" y="3043200"/>
            <a:ext cx="7904400" cy="4446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2f174543b14_2_253"/>
          <p:cNvSpPr txBox="1"/>
          <p:nvPr>
            <p:ph idx="4294967295" type="ctrTitle"/>
          </p:nvPr>
        </p:nvSpPr>
        <p:spPr>
          <a:xfrm>
            <a:off x="112854" y="246425"/>
            <a:ext cx="9637500" cy="188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6050" lIns="116050" spcFirstLastPara="1" rIns="116050" wrap="square" tIns="1160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pt-BR" sz="3200" u="none" cap="none" strike="noStrik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Inteligência Artificial </a:t>
            </a:r>
            <a:r>
              <a:rPr b="0" i="0" lang="pt-BR" sz="3200" u="none" cap="none" strike="noStrike">
                <a:solidFill>
                  <a:srgbClr val="4285F4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Generativa</a:t>
            </a:r>
            <a:endParaRPr b="0" i="0" sz="3200" u="none" cap="none" strike="noStrike">
              <a:solidFill>
                <a:srgbClr val="4285F4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488" name="Google Shape;488;g2f174543b14_2_253"/>
          <p:cNvSpPr txBox="1"/>
          <p:nvPr/>
        </p:nvSpPr>
        <p:spPr>
          <a:xfrm>
            <a:off x="237105" y="935913"/>
            <a:ext cx="10388100" cy="5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9" name="Google Shape;489;g2f174543b14_2_253"/>
          <p:cNvSpPr txBox="1"/>
          <p:nvPr/>
        </p:nvSpPr>
        <p:spPr>
          <a:xfrm>
            <a:off x="112841" y="1550544"/>
            <a:ext cx="10388100" cy="3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spAutoFit/>
          </a:bodyPr>
          <a:lstStyle/>
          <a:p>
            <a:pPr indent="-431800" lvl="0" marL="584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ontserrat"/>
              <a:buChar char="●"/>
            </a:pPr>
            <a:r>
              <a:rPr b="1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Lado bom:</a:t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1155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ontserrat"/>
              <a:buChar char="○"/>
            </a:pPr>
            <a:r>
              <a:rPr b="1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Criatividade aprimorada:</a:t>
            </a:r>
            <a:r>
              <a:rPr b="0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Auxilia na geração de ideias e conceitos inovadores;</a:t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1155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ontserrat"/>
              <a:buChar char="○"/>
            </a:pPr>
            <a:r>
              <a:rPr b="1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Eficiência:</a:t>
            </a:r>
            <a:r>
              <a:rPr b="0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Automatiza e acelera o processo criativo;</a:t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1155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ontserrat"/>
              <a:buChar char="○"/>
            </a:pPr>
            <a:r>
              <a:rPr b="1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Personalização:</a:t>
            </a:r>
            <a:r>
              <a:rPr b="0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Capaz de criar conteúdo sob medida para necessidades específicas.</a:t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155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90" name="Google Shape;490;g2f174543b14_2_253" title="Screenshot 2026-02-17 at 11.52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8325" y="5114473"/>
            <a:ext cx="5966100" cy="1487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2f174543b14_2_262"/>
          <p:cNvSpPr txBox="1"/>
          <p:nvPr>
            <p:ph idx="4294967295" type="ctrTitle"/>
          </p:nvPr>
        </p:nvSpPr>
        <p:spPr>
          <a:xfrm>
            <a:off x="208203" y="296300"/>
            <a:ext cx="8961300" cy="188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6050" lIns="116050" spcFirstLastPara="1" rIns="116050" wrap="square" tIns="1160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pt-BR" sz="3200" u="none" cap="none" strike="noStrik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Inteligência Artificial </a:t>
            </a:r>
            <a:r>
              <a:rPr b="0" i="0" lang="pt-BR" sz="3200" u="none" cap="none" strike="noStrike">
                <a:solidFill>
                  <a:srgbClr val="4285F4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Generativa</a:t>
            </a:r>
            <a:endParaRPr b="0" i="0" sz="3200" u="none" cap="none" strike="noStrike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496" name="Google Shape;496;g2f174543b14_2_262"/>
          <p:cNvSpPr txBox="1"/>
          <p:nvPr/>
        </p:nvSpPr>
        <p:spPr>
          <a:xfrm>
            <a:off x="305305" y="1195213"/>
            <a:ext cx="10388100" cy="5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7" name="Google Shape;497;g2f174543b14_2_262"/>
          <p:cNvSpPr txBox="1"/>
          <p:nvPr/>
        </p:nvSpPr>
        <p:spPr>
          <a:xfrm>
            <a:off x="152641" y="1364965"/>
            <a:ext cx="10388100" cy="41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spAutoFit/>
          </a:bodyPr>
          <a:lstStyle/>
          <a:p>
            <a:pPr indent="-431800" lvl="0" marL="584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ontserrat"/>
              <a:buChar char="●"/>
            </a:pPr>
            <a:r>
              <a:rPr b="1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Lado ruim (ou não tão bom):</a:t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1155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ontserrat"/>
              <a:buChar char="○"/>
            </a:pPr>
            <a:r>
              <a:rPr b="1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Questões éticas: </a:t>
            </a:r>
            <a:r>
              <a:rPr b="0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Desafios relacionados a direitos autorais e autenticidade;</a:t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1155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ontserrat"/>
              <a:buChar char="○"/>
            </a:pPr>
            <a:r>
              <a:rPr b="1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Qualidade variável: </a:t>
            </a:r>
            <a:r>
              <a:rPr b="0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Nem sempre atinge o nível de detalhe e precisão desejados (“alucinações”);</a:t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1155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ontserrat"/>
              <a:buChar char="○"/>
            </a:pPr>
            <a:r>
              <a:rPr b="1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Dependência de dados: </a:t>
            </a:r>
            <a:r>
              <a:rPr b="0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 qualidade do conteúdo gerado depende da qualidade dos dados de treinamento.</a:t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155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98" name="Google Shape;498;g2f174543b14_2_262" title="Screenshot 2026-02-17 at 11.50.5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725" y="4958246"/>
            <a:ext cx="5997300" cy="1233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499" name="Google Shape;499;g2f174543b14_2_262" title="Screenshot 2026-02-17 at 11.53.0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303" y="6270900"/>
            <a:ext cx="4947600" cy="1233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500" name="Google Shape;500;g2f174543b14_2_262" title="Screenshot 2026-02-17 at 11.48.0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06945" y="5903875"/>
            <a:ext cx="5140200" cy="1233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2f174543b14_2_271"/>
          <p:cNvSpPr txBox="1"/>
          <p:nvPr>
            <p:ph idx="4294967295" type="ctrTitle"/>
          </p:nvPr>
        </p:nvSpPr>
        <p:spPr>
          <a:xfrm>
            <a:off x="117702" y="142550"/>
            <a:ext cx="8396700" cy="188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6050" lIns="116050" spcFirstLastPara="1" rIns="116050" wrap="square" tIns="1160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pt-BR" sz="3200" u="none" cap="none" strike="noStrik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Inteligência Artificial </a:t>
            </a:r>
            <a:r>
              <a:rPr b="0" i="0" lang="pt-BR" sz="3200" u="none" cap="none" strike="noStrike">
                <a:solidFill>
                  <a:srgbClr val="4285F4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Generativa</a:t>
            </a:r>
            <a:endParaRPr b="0" i="0" sz="3200" u="none" cap="none" strike="noStrike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506" name="Google Shape;506;g2f174543b14_2_271"/>
          <p:cNvSpPr txBox="1"/>
          <p:nvPr/>
        </p:nvSpPr>
        <p:spPr>
          <a:xfrm>
            <a:off x="255630" y="1064163"/>
            <a:ext cx="10388100" cy="5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7" name="Google Shape;507;g2f174543b14_2_271"/>
          <p:cNvSpPr txBox="1"/>
          <p:nvPr/>
        </p:nvSpPr>
        <p:spPr>
          <a:xfrm>
            <a:off x="152641" y="1234112"/>
            <a:ext cx="10388100" cy="31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spAutoFit/>
          </a:bodyPr>
          <a:lstStyle/>
          <a:p>
            <a:pPr indent="-431800" lvl="0" marL="584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ontserrat"/>
              <a:buChar char="●"/>
            </a:pPr>
            <a:r>
              <a:rPr b="1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Considerações Legais:</a:t>
            </a:r>
            <a:endParaRPr b="1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1155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ontserrat"/>
              <a:buChar char="○"/>
            </a:pPr>
            <a:r>
              <a:rPr b="1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Direitos autorais: </a:t>
            </a:r>
            <a:r>
              <a:rPr b="0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Quem é o autor do conteúdo gerado por IA?</a:t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1155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ontserrat"/>
              <a:buChar char="○"/>
            </a:pPr>
            <a:r>
              <a:rPr b="1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Uso responsável: </a:t>
            </a:r>
            <a:r>
              <a:rPr b="0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Necessidade de diretrizes claras para uso ético e responsável.</a:t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155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08" name="Google Shape;508;g2f174543b14_2_2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708" y="3437043"/>
            <a:ext cx="5004900" cy="1162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509" name="Google Shape;509;g2f174543b14_2_2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705" y="5176059"/>
            <a:ext cx="5605500" cy="926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510" name="Google Shape;510;g2f174543b14_2_27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04531" y="4707333"/>
            <a:ext cx="4677900" cy="1162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511" name="Google Shape;511;g2f174543b14_2_27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23867" y="2911625"/>
            <a:ext cx="5004900" cy="1379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512" name="Google Shape;512;g2f174543b14_2_271"/>
          <p:cNvSpPr txBox="1"/>
          <p:nvPr/>
        </p:nvSpPr>
        <p:spPr>
          <a:xfrm>
            <a:off x="1235850" y="6458750"/>
            <a:ext cx="6579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584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Ainda há muitas incertezas!</a:t>
            </a:r>
            <a:endParaRPr b="1" i="0" sz="2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2f174543b14_2_219"/>
          <p:cNvSpPr txBox="1"/>
          <p:nvPr/>
        </p:nvSpPr>
        <p:spPr>
          <a:xfrm>
            <a:off x="421672" y="1165392"/>
            <a:ext cx="3204600" cy="7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8" name="Google Shape;518;g2f174543b14_2_219"/>
          <p:cNvPicPr preferRelativeResize="0"/>
          <p:nvPr/>
        </p:nvPicPr>
        <p:blipFill rotWithShape="1">
          <a:blip r:embed="rId3">
            <a:alphaModFix/>
          </a:blip>
          <a:srcRect b="40" l="-1940" r="1940" t="50"/>
          <a:stretch/>
        </p:blipFill>
        <p:spPr>
          <a:xfrm>
            <a:off x="5270150" y="957550"/>
            <a:ext cx="4706400" cy="5871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519" name="Google Shape;519;g2f174543b14_2_219"/>
          <p:cNvPicPr preferRelativeResize="0"/>
          <p:nvPr/>
        </p:nvPicPr>
        <p:blipFill rotWithShape="1">
          <a:blip r:embed="rId4">
            <a:alphaModFix/>
          </a:blip>
          <a:srcRect b="0" l="-1110" r="1110" t="0"/>
          <a:stretch/>
        </p:blipFill>
        <p:spPr>
          <a:xfrm>
            <a:off x="261475" y="954786"/>
            <a:ext cx="4706400" cy="5877600"/>
          </a:xfrm>
          <a:prstGeom prst="flowChartAlternateProcess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2f174543b14_2_283"/>
          <p:cNvSpPr txBox="1"/>
          <p:nvPr>
            <p:ph type="title"/>
          </p:nvPr>
        </p:nvSpPr>
        <p:spPr>
          <a:xfrm>
            <a:off x="364516" y="848277"/>
            <a:ext cx="9964500" cy="8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32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Como o </a:t>
            </a:r>
            <a:r>
              <a:rPr lang="pt-BR" sz="3200">
                <a:solidFill>
                  <a:schemeClr val="accen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ChatGPT</a:t>
            </a:r>
            <a:r>
              <a:rPr lang="pt-BR" sz="32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Funciona?</a:t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5" name="Google Shape;525;g2f174543b14_2_283"/>
          <p:cNvSpPr txBox="1"/>
          <p:nvPr>
            <p:ph idx="1" type="body"/>
          </p:nvPr>
        </p:nvSpPr>
        <p:spPr>
          <a:xfrm>
            <a:off x="364516" y="1433842"/>
            <a:ext cx="9964500" cy="50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</a:pPr>
            <a:r>
              <a:rPr b="1" lang="pt-BR"/>
              <a:t>(alto nível)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</a:pPr>
            <a:r>
              <a:rPr lang="pt-BR"/>
              <a:t>O ChatGPT é baseado em um modelo de linguagem treinado em uma grande quantidade de textos. Esse treinamento permite que ele preveja e gere texto com base nos prompts que recebe.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</a:pPr>
            <a:r>
              <a:rPr lang="pt-BR"/>
              <a:t>o ChatGPT usa padrões aprendidos durante o treinamento para criar respostas coerentes e contextualmente apropriadas.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2f174543b14_2_290"/>
          <p:cNvSpPr txBox="1"/>
          <p:nvPr>
            <p:ph idx="1" type="body"/>
          </p:nvPr>
        </p:nvSpPr>
        <p:spPr>
          <a:xfrm>
            <a:off x="364516" y="1495176"/>
            <a:ext cx="9964500" cy="50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</a:pPr>
            <a:r>
              <a:rPr lang="pt-BR"/>
              <a:t>O ChatGPT utiliza uma rede neural, uma estrutura inspirada no funcionamento do cérebro humano, que processa informações em múltiplas camadas para reconhecer padrões e gerar texto.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</a:pPr>
            <a:r>
              <a:rPr lang="pt-BR"/>
              <a:t>Quando você fornece um prompt, o ChatGPT usa o conhecimento adquirido durante o treinamento para criar uma resposta que seja coerente e relevante.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</a:pPr>
            <a:r>
              <a:t/>
            </a:r>
            <a:endParaRPr/>
          </a:p>
        </p:txBody>
      </p:sp>
      <p:sp>
        <p:nvSpPr>
          <p:cNvPr id="531" name="Google Shape;531;g2f174543b14_2_290"/>
          <p:cNvSpPr txBox="1"/>
          <p:nvPr>
            <p:ph type="title"/>
          </p:nvPr>
        </p:nvSpPr>
        <p:spPr>
          <a:xfrm>
            <a:off x="364516" y="848277"/>
            <a:ext cx="9964500" cy="8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32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Como o </a:t>
            </a:r>
            <a:r>
              <a:rPr lang="pt-BR" sz="3200">
                <a:solidFill>
                  <a:schemeClr val="accen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ChatGPT</a:t>
            </a:r>
            <a:r>
              <a:rPr lang="pt-BR" sz="32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Funciona?</a:t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2f174543b14_2_1021"/>
          <p:cNvSpPr txBox="1"/>
          <p:nvPr>
            <p:ph idx="1" type="body"/>
          </p:nvPr>
        </p:nvSpPr>
        <p:spPr>
          <a:xfrm>
            <a:off x="364516" y="1495176"/>
            <a:ext cx="9964500" cy="50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Para interagir com o ChatGPT de forma eficaz, é importante formular perguntas e comandos claros e específicos.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Por exemplo, ao invés de perguntar 'Fale sobre carros,' você pode perguntar 'Como funciona o motor de um carro?' Isso ajuda o modelo a entender exatamente o que você quer saber e a fornecer uma resposta mais útil.</a:t>
            </a:r>
            <a:endParaRPr/>
          </a:p>
        </p:txBody>
      </p:sp>
      <p:sp>
        <p:nvSpPr>
          <p:cNvPr id="537" name="Google Shape;537;g2f174543b14_2_1021"/>
          <p:cNvSpPr txBox="1"/>
          <p:nvPr>
            <p:ph type="title"/>
          </p:nvPr>
        </p:nvSpPr>
        <p:spPr>
          <a:xfrm>
            <a:off x="364516" y="848277"/>
            <a:ext cx="9964500" cy="8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32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Como o </a:t>
            </a:r>
            <a:r>
              <a:rPr lang="pt-BR" sz="3200">
                <a:solidFill>
                  <a:schemeClr val="accen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ChatGPT</a:t>
            </a:r>
            <a:r>
              <a:rPr lang="pt-BR" sz="32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Funciona?</a:t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2204fabc35a_0_2354"/>
          <p:cNvSpPr txBox="1"/>
          <p:nvPr>
            <p:ph type="title"/>
          </p:nvPr>
        </p:nvSpPr>
        <p:spPr>
          <a:xfrm>
            <a:off x="364441" y="848277"/>
            <a:ext cx="9964500" cy="8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32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Extra-classe</a:t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3" name="Google Shape;543;g2204fabc35a_0_2354"/>
          <p:cNvSpPr txBox="1"/>
          <p:nvPr/>
        </p:nvSpPr>
        <p:spPr>
          <a:xfrm>
            <a:off x="446400" y="3286600"/>
            <a:ext cx="4803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sng" cap="none" strike="noStrike">
                <a:solidFill>
                  <a:srgbClr val="0E71BA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https://www.youtube.com/watch?v=O68y0yRZL1Y</a:t>
            </a:r>
            <a:endParaRPr b="0" i="0" sz="1400" u="none" cap="none" strike="noStrike">
              <a:solidFill>
                <a:srgbClr val="0E71B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4" name="Google Shape;544;g2204fabc35a_0_23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6400" y="1730952"/>
            <a:ext cx="8077200" cy="1514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545" name="Google Shape;545;g2204fabc35a_0_2354"/>
          <p:cNvSpPr txBox="1"/>
          <p:nvPr/>
        </p:nvSpPr>
        <p:spPr>
          <a:xfrm>
            <a:off x="570175" y="6397150"/>
            <a:ext cx="7195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u="sng">
                <a:solidFill>
                  <a:srgbClr val="0E71B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https://openai.com/index/our-approach-to-advertising-and-expanding-access/</a:t>
            </a:r>
            <a:endParaRPr b="0" i="0" sz="1400" u="sng" cap="none" strike="noStrike">
              <a:solidFill>
                <a:srgbClr val="0E71B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u="sng">
                <a:solidFill>
                  <a:srgbClr val="0E71BA"/>
                </a:solidFill>
                <a:latin typeface="Helvetica Neue"/>
                <a:ea typeface="Helvetica Neue"/>
                <a:cs typeface="Helvetica Neue"/>
                <a:sym typeface="Helvetica Neue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https://openai.com/index/testing-ads-in-chatgpt/</a:t>
            </a:r>
            <a:endParaRPr b="0" i="0" sz="1400" u="none" cap="none" strike="noStrike">
              <a:solidFill>
                <a:srgbClr val="0E71B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46" name="Google Shape;546;g2204fabc35a_0_2354" title="Screenshot 2026-02-17 at 11.41.12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5625" y="4242263"/>
            <a:ext cx="4645500" cy="1808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547" name="Google Shape;547;g2204fabc35a_0_2354" title="Screenshot 2026-02-17 at 11.41.25.png"/>
          <p:cNvPicPr preferRelativeResize="0"/>
          <p:nvPr/>
        </p:nvPicPr>
        <p:blipFill rotWithShape="1">
          <a:blip r:embed="rId7">
            <a:alphaModFix/>
          </a:blip>
          <a:srcRect b="6751" l="4154" r="9115" t="0"/>
          <a:stretch/>
        </p:blipFill>
        <p:spPr>
          <a:xfrm>
            <a:off x="5341800" y="4572000"/>
            <a:ext cx="4346700" cy="1278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25f3584e39e_3_150"/>
          <p:cNvSpPr txBox="1"/>
          <p:nvPr>
            <p:ph type="title"/>
          </p:nvPr>
        </p:nvSpPr>
        <p:spPr>
          <a:xfrm>
            <a:off x="626476" y="755100"/>
            <a:ext cx="54960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4600">
                <a:solidFill>
                  <a:srgbClr val="0E71BA"/>
                </a:solidFill>
              </a:rPr>
              <a:t>Próxima aula…</a:t>
            </a:r>
            <a:endParaRPr sz="4600">
              <a:solidFill>
                <a:srgbClr val="0E71BA"/>
              </a:solidFill>
            </a:endParaRPr>
          </a:p>
        </p:txBody>
      </p:sp>
      <p:pic>
        <p:nvPicPr>
          <p:cNvPr id="553" name="Google Shape;553;g25f3584e39e_3_150"/>
          <p:cNvPicPr preferRelativeResize="0"/>
          <p:nvPr/>
        </p:nvPicPr>
        <p:blipFill rotWithShape="1">
          <a:blip r:embed="rId3">
            <a:alphaModFix/>
          </a:blip>
          <a:srcRect b="25065" l="0" r="0" t="0"/>
          <a:stretch/>
        </p:blipFill>
        <p:spPr>
          <a:xfrm>
            <a:off x="9607875" y="6732700"/>
            <a:ext cx="1085525" cy="8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g25f3584e39e_3_150"/>
          <p:cNvSpPr txBox="1"/>
          <p:nvPr/>
        </p:nvSpPr>
        <p:spPr>
          <a:xfrm>
            <a:off x="581050" y="2056100"/>
            <a:ext cx="9531300" cy="15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1950" lvl="0" marL="45720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92934"/>
              </a:buClr>
              <a:buSzPts val="2100"/>
              <a:buFont typeface="Helvetica Neue"/>
              <a:buChar char="●"/>
            </a:pPr>
            <a:r>
              <a:rPr b="0" i="0" lang="pt-BR" sz="21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Introdução à Machine Learning</a:t>
            </a:r>
            <a:endParaRPr b="0" i="0" sz="21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1950" lvl="0" marL="45720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92934"/>
              </a:buClr>
              <a:buSzPts val="2100"/>
              <a:buFont typeface="Helvetica Neue"/>
              <a:buChar char="●"/>
            </a:pPr>
            <a:r>
              <a:rPr b="0" i="0" lang="pt-BR" sz="21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Vamos treinar, de forma visual, nosso primeiro </a:t>
            </a:r>
            <a:r>
              <a:rPr b="0" i="1" lang="pt-BR" sz="21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supervised learning classifier </a:t>
            </a:r>
            <a:r>
              <a:rPr b="0" i="0" lang="pt-BR" sz="2100" u="none" cap="none" strike="noStrike">
                <a:solidFill>
                  <a:srgbClr val="29293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(classificador de aprendizado supervisionado)</a:t>
            </a:r>
            <a:endParaRPr b="0" i="0" sz="21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5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292934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5" name="Google Shape;555;g25f3584e39e_3_150"/>
          <p:cNvSpPr txBox="1"/>
          <p:nvPr>
            <p:ph idx="12" type="sldNum"/>
          </p:nvPr>
        </p:nvSpPr>
        <p:spPr>
          <a:xfrm>
            <a:off x="8029195" y="100770"/>
            <a:ext cx="24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2023-07-02T21:27:13Z</dcterms:created>
  <dc:creator>Online2PDF.com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2015-09-23T00:00:00Z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2023-07-02T00:00:00Z</vt:filetime>
  </property>
</Properties>
</file>